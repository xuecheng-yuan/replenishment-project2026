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6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7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0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12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slides/charts/chart15.xml" ContentType="application/vnd.openxmlformats-officedocument.drawingml.chart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slides/charts/chart16.xml" ContentType="application/vnd.openxmlformats-officedocument.drawingml.chart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slides/charts/chart17.xml" ContentType="application/vnd.openxmlformats-officedocument.drawingml.chart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4c650c4c1e4999" /><Relationship Type="http://schemas.openxmlformats.org/officeDocument/2006/relationships/extended-properties" Target="/docProps/app.xml" Id="R65c95c06db854206" /><Relationship Type="http://schemas.openxmlformats.org/officeDocument/2006/relationships/officeDocument" Target="/ppt/presentation.xml" Id="R02704696481244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e721ce78fb4103"/>
  </p:sldMasterIdLst>
  <p:notesMasterIdLst>
    <p:notesMasterId xmlns:r="http://schemas.openxmlformats.org/officeDocument/2006/relationships" r:id="R5a342fa4699842ca"/>
  </p:notesMasterIdLst>
  <p:sldIdLst>
    <p:sldId xmlns:r="http://schemas.openxmlformats.org/officeDocument/2006/relationships" id="256" r:id="R57acb2e29ea64276"/>
    <p:sldId xmlns:r="http://schemas.openxmlformats.org/officeDocument/2006/relationships" id="257" r:id="R571cb6ce75aa4fa4"/>
    <p:sldId xmlns:r="http://schemas.openxmlformats.org/officeDocument/2006/relationships" id="258" r:id="R7ee01160cfbf4216"/>
    <p:sldId xmlns:r="http://schemas.openxmlformats.org/officeDocument/2006/relationships" id="259" r:id="R3149c458554c4d69"/>
    <p:sldId xmlns:r="http://schemas.openxmlformats.org/officeDocument/2006/relationships" id="260" r:id="R9cc2eb605cc94897"/>
    <p:sldId xmlns:r="http://schemas.openxmlformats.org/officeDocument/2006/relationships" id="261" r:id="R563c1f0ddff44453"/>
    <p:sldId xmlns:r="http://schemas.openxmlformats.org/officeDocument/2006/relationships" id="262" r:id="R6a0a3879e5ad4baa"/>
    <p:sldId xmlns:r="http://schemas.openxmlformats.org/officeDocument/2006/relationships" id="263" r:id="Rfcfa9fd1dc354a6a"/>
    <p:sldId xmlns:r="http://schemas.openxmlformats.org/officeDocument/2006/relationships" id="264" r:id="Rc35fd1cebd8c4f3e"/>
    <p:sldId xmlns:r="http://schemas.openxmlformats.org/officeDocument/2006/relationships" id="265" r:id="R3c451eb313b64250"/>
    <p:sldId xmlns:r="http://schemas.openxmlformats.org/officeDocument/2006/relationships" id="266" r:id="Rea0468bf573b4e42"/>
    <p:sldId xmlns:r="http://schemas.openxmlformats.org/officeDocument/2006/relationships" id="267" r:id="Rb6b8b24258e54e1e"/>
    <p:sldId xmlns:r="http://schemas.openxmlformats.org/officeDocument/2006/relationships" id="268" r:id="Rf6768c03287c459c"/>
    <p:sldId xmlns:r="http://schemas.openxmlformats.org/officeDocument/2006/relationships" id="269" r:id="Re98fa5d38e9841c2"/>
    <p:sldId xmlns:r="http://schemas.openxmlformats.org/officeDocument/2006/relationships" id="270" r:id="Rd517f16760904a93"/>
    <p:sldId xmlns:r="http://schemas.openxmlformats.org/officeDocument/2006/relationships" id="271" r:id="Rd6cadd60faf64d2c"/>
    <p:sldId xmlns:r="http://schemas.openxmlformats.org/officeDocument/2006/relationships" id="272" r:id="R6aed1e913fe64514"/>
    <p:sldId xmlns:r="http://schemas.openxmlformats.org/officeDocument/2006/relationships" id="273" r:id="Rdb98ad0d7fc64276"/>
    <p:sldId xmlns:r="http://schemas.openxmlformats.org/officeDocument/2006/relationships" id="274" r:id="R6724e823660843f9"/>
    <p:sldId xmlns:r="http://schemas.openxmlformats.org/officeDocument/2006/relationships" id="275" r:id="R8f39376387514d2d"/>
    <p:sldId xmlns:r="http://schemas.openxmlformats.org/officeDocument/2006/relationships" id="276" r:id="Racda3528db6e49bb"/>
    <p:sldId xmlns:r="http://schemas.openxmlformats.org/officeDocument/2006/relationships" id="277" r:id="R465ed99d50a94612"/>
    <p:sldId xmlns:r="http://schemas.openxmlformats.org/officeDocument/2006/relationships" id="278" r:id="Rc6794999e008477d"/>
    <p:sldId xmlns:r="http://schemas.openxmlformats.org/officeDocument/2006/relationships" id="279" r:id="Rafde4c2500094450"/>
    <p:sldId xmlns:r="http://schemas.openxmlformats.org/officeDocument/2006/relationships" id="280" r:id="Rccaf1f76c46d466b"/>
    <p:sldId xmlns:r="http://schemas.openxmlformats.org/officeDocument/2006/relationships" id="281" r:id="Rd384e4da7c694242"/>
    <p:sldId xmlns:r="http://schemas.openxmlformats.org/officeDocument/2006/relationships" id="282" r:id="R69f79e822e074914"/>
    <p:sldId xmlns:r="http://schemas.openxmlformats.org/officeDocument/2006/relationships" id="283" r:id="R9167d1d06ea24db7"/>
    <p:sldId xmlns:r="http://schemas.openxmlformats.org/officeDocument/2006/relationships" id="284" r:id="R3312773cd46949d8"/>
    <p:sldId xmlns:r="http://schemas.openxmlformats.org/officeDocument/2006/relationships" id="285" r:id="R808ff1e2b81e4748"/>
    <p:sldId xmlns:r="http://schemas.openxmlformats.org/officeDocument/2006/relationships" id="286" r:id="Rf947f1512cc045f9"/>
    <p:sldId xmlns:r="http://schemas.openxmlformats.org/officeDocument/2006/relationships" id="287" r:id="R3e9f7a1b6c52413e"/>
    <p:sldId xmlns:r="http://schemas.openxmlformats.org/officeDocument/2006/relationships" id="288" r:id="R9931861850514523"/>
    <p:sldId xmlns:r="http://schemas.openxmlformats.org/officeDocument/2006/relationships" id="289" r:id="Rd43ce0b32f61409c"/>
    <p:sldId xmlns:r="http://schemas.openxmlformats.org/officeDocument/2006/relationships" id="290" r:id="Rfdbace6e35fd4fb7"/>
    <p:sldId xmlns:r="http://schemas.openxmlformats.org/officeDocument/2006/relationships" id="291" r:id="Re368013371cc441d"/>
    <p:sldId xmlns:r="http://schemas.openxmlformats.org/officeDocument/2006/relationships" id="292" r:id="R67e1c277a56644da"/>
    <p:sldId xmlns:r="http://schemas.openxmlformats.org/officeDocument/2006/relationships" id="293" r:id="Rcc260f3bf2124a40"/>
    <p:sldId xmlns:r="http://schemas.openxmlformats.org/officeDocument/2006/relationships" id="294" r:id="Rb3f925c396f842fd"/>
    <p:sldId xmlns:r="http://schemas.openxmlformats.org/officeDocument/2006/relationships" id="295" r:id="R0f06b9e52a324e67"/>
    <p:sldId xmlns:r="http://schemas.openxmlformats.org/officeDocument/2006/relationships" id="296" r:id="Rf3d324da78f8419b"/>
    <p:sldId xmlns:r="http://schemas.openxmlformats.org/officeDocument/2006/relationships" id="297" r:id="R81e2f97644274578"/>
    <p:sldId xmlns:r="http://schemas.openxmlformats.org/officeDocument/2006/relationships" id="298" r:id="R8727d0ab18c14f13"/>
    <p:sldId xmlns:r="http://schemas.openxmlformats.org/officeDocument/2006/relationships" id="299" r:id="R40d79a3c462b43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44725a0e9f492d" /><Relationship Type="http://schemas.openxmlformats.org/officeDocument/2006/relationships/slideMaster" Target="/ppt/slideMasters/slideMaster1.xml" Id="R5ae721ce78fb4103" /><Relationship Type="http://schemas.openxmlformats.org/officeDocument/2006/relationships/notesMaster" Target="/ppt/notesMasters/notesMaster1.xml" Id="R5a342fa4699842ca" /><Relationship Type="http://schemas.openxmlformats.org/officeDocument/2006/relationships/presProps" Target="/ppt/presProps.xml" Id="R4a71cc87f95d4b8b" /><Relationship Type="http://schemas.openxmlformats.org/officeDocument/2006/relationships/tableStyles" Target="/ppt/tableStyles.xml" Id="R1e78083954194b01" /><Relationship Type="http://schemas.openxmlformats.org/officeDocument/2006/relationships/slide" Target="/ppt/slides/slide1.xml" Id="R57acb2e29ea64276" /><Relationship Type="http://schemas.openxmlformats.org/officeDocument/2006/relationships/slide" Target="/ppt/slides/slide2.xml" Id="R571cb6ce75aa4fa4" /><Relationship Type="http://schemas.openxmlformats.org/officeDocument/2006/relationships/slide" Target="/ppt/slides/slide3.xml" Id="R7ee01160cfbf4216" /><Relationship Type="http://schemas.openxmlformats.org/officeDocument/2006/relationships/slide" Target="/ppt/slides/slide4.xml" Id="R3149c458554c4d69" /><Relationship Type="http://schemas.openxmlformats.org/officeDocument/2006/relationships/slide" Target="/ppt/slides/slide5.xml" Id="R9cc2eb605cc94897" /><Relationship Type="http://schemas.openxmlformats.org/officeDocument/2006/relationships/slide" Target="/ppt/slides/slide6.xml" Id="R563c1f0ddff44453" /><Relationship Type="http://schemas.openxmlformats.org/officeDocument/2006/relationships/slide" Target="/ppt/slides/slide7.xml" Id="R6a0a3879e5ad4baa" /><Relationship Type="http://schemas.openxmlformats.org/officeDocument/2006/relationships/slide" Target="/ppt/slides/slide8.xml" Id="Rfcfa9fd1dc354a6a" /><Relationship Type="http://schemas.openxmlformats.org/officeDocument/2006/relationships/slide" Target="/ppt/slides/slide9.xml" Id="Rc35fd1cebd8c4f3e" /><Relationship Type="http://schemas.openxmlformats.org/officeDocument/2006/relationships/slide" Target="/ppt/slides/slide10.xml" Id="R3c451eb313b64250" /><Relationship Type="http://schemas.openxmlformats.org/officeDocument/2006/relationships/slide" Target="/ppt/slides/slide11.xml" Id="Rea0468bf573b4e42" /><Relationship Type="http://schemas.openxmlformats.org/officeDocument/2006/relationships/slide" Target="/ppt/slides/slide12.xml" Id="Rb6b8b24258e54e1e" /><Relationship Type="http://schemas.openxmlformats.org/officeDocument/2006/relationships/slide" Target="/ppt/slides/slide13.xml" Id="Rf6768c03287c459c" /><Relationship Type="http://schemas.openxmlformats.org/officeDocument/2006/relationships/slide" Target="/ppt/slides/slide14.xml" Id="Re98fa5d38e9841c2" /><Relationship Type="http://schemas.openxmlformats.org/officeDocument/2006/relationships/slide" Target="/ppt/slides/slide15.xml" Id="Rd517f16760904a93" /><Relationship Type="http://schemas.openxmlformats.org/officeDocument/2006/relationships/slide" Target="/ppt/slides/slide16.xml" Id="Rd6cadd60faf64d2c" /><Relationship Type="http://schemas.openxmlformats.org/officeDocument/2006/relationships/slide" Target="/ppt/slides/slide17.xml" Id="R6aed1e913fe64514" /><Relationship Type="http://schemas.openxmlformats.org/officeDocument/2006/relationships/slide" Target="/ppt/slides/slide18.xml" Id="Rdb98ad0d7fc64276" /><Relationship Type="http://schemas.openxmlformats.org/officeDocument/2006/relationships/slide" Target="/ppt/slides/slide19.xml" Id="R6724e823660843f9" /><Relationship Type="http://schemas.openxmlformats.org/officeDocument/2006/relationships/slide" Target="/ppt/slides/slide20.xml" Id="R8f39376387514d2d" /><Relationship Type="http://schemas.openxmlformats.org/officeDocument/2006/relationships/slide" Target="/ppt/slides/slide21.xml" Id="Racda3528db6e49bb" /><Relationship Type="http://schemas.openxmlformats.org/officeDocument/2006/relationships/slide" Target="/ppt/slides/slide22.xml" Id="R465ed99d50a94612" /><Relationship Type="http://schemas.openxmlformats.org/officeDocument/2006/relationships/slide" Target="/ppt/slides/slide23.xml" Id="Rc6794999e008477d" /><Relationship Type="http://schemas.openxmlformats.org/officeDocument/2006/relationships/slide" Target="/ppt/slides/slide24.xml" Id="Rafde4c2500094450" /><Relationship Type="http://schemas.openxmlformats.org/officeDocument/2006/relationships/slide" Target="/ppt/slides/slide25.xml" Id="Rccaf1f76c46d466b" /><Relationship Type="http://schemas.openxmlformats.org/officeDocument/2006/relationships/slide" Target="/ppt/slides/slide26.xml" Id="Rd384e4da7c694242" /><Relationship Type="http://schemas.openxmlformats.org/officeDocument/2006/relationships/slide" Target="/ppt/slides/slide27.xml" Id="R69f79e822e074914" /><Relationship Type="http://schemas.openxmlformats.org/officeDocument/2006/relationships/slide" Target="/ppt/slides/slide28.xml" Id="R9167d1d06ea24db7" /><Relationship Type="http://schemas.openxmlformats.org/officeDocument/2006/relationships/slide" Target="/ppt/slides/slide29.xml" Id="R3312773cd46949d8" /><Relationship Type="http://schemas.openxmlformats.org/officeDocument/2006/relationships/slide" Target="/ppt/slides/slide30.xml" Id="R808ff1e2b81e4748" /><Relationship Type="http://schemas.openxmlformats.org/officeDocument/2006/relationships/slide" Target="/ppt/slides/slide31.xml" Id="Rf947f1512cc045f9" /><Relationship Type="http://schemas.openxmlformats.org/officeDocument/2006/relationships/slide" Target="/ppt/slides/slide32.xml" Id="R3e9f7a1b6c52413e" /><Relationship Type="http://schemas.openxmlformats.org/officeDocument/2006/relationships/slide" Target="/ppt/slides/slide33.xml" Id="R9931861850514523" /><Relationship Type="http://schemas.openxmlformats.org/officeDocument/2006/relationships/slide" Target="/ppt/slides/slide34.xml" Id="Rd43ce0b32f61409c" /><Relationship Type="http://schemas.openxmlformats.org/officeDocument/2006/relationships/slide" Target="/ppt/slides/slide35.xml" Id="Rfdbace6e35fd4fb7" /><Relationship Type="http://schemas.openxmlformats.org/officeDocument/2006/relationships/slide" Target="/ppt/slides/slide36.xml" Id="Re368013371cc441d" /><Relationship Type="http://schemas.openxmlformats.org/officeDocument/2006/relationships/slide" Target="/ppt/slides/slide37.xml" Id="R67e1c277a56644da" /><Relationship Type="http://schemas.openxmlformats.org/officeDocument/2006/relationships/slide" Target="/ppt/slides/slide38.xml" Id="Rcc260f3bf2124a40" /><Relationship Type="http://schemas.openxmlformats.org/officeDocument/2006/relationships/slide" Target="/ppt/slides/slide39.xml" Id="Rb3f925c396f842fd" /><Relationship Type="http://schemas.openxmlformats.org/officeDocument/2006/relationships/slide" Target="/ppt/slides/slide40.xml" Id="R0f06b9e52a324e67" /><Relationship Type="http://schemas.openxmlformats.org/officeDocument/2006/relationships/slide" Target="/ppt/slides/slide41.xml" Id="Rf3d324da78f8419b" /><Relationship Type="http://schemas.openxmlformats.org/officeDocument/2006/relationships/slide" Target="/ppt/slides/slide42.xml" Id="R81e2f97644274578" /><Relationship Type="http://schemas.openxmlformats.org/officeDocument/2006/relationships/slide" Target="/ppt/slides/slide43.xml" Id="R8727d0ab18c14f13" /><Relationship Type="http://schemas.openxmlformats.org/officeDocument/2006/relationships/slide" Target="/ppt/slides/slide44.xml" Id="R40d79a3c462b43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3a72fd293c4c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Warm editorial research">
      <a:dk1>
        <a:srgbClr val="29283E"/>
      </a:dk1>
      <a:lt1>
        <a:srgbClr val="FFFDF9"/>
      </a:lt1>
      <a:dk2>
        <a:srgbClr val="27243E"/>
      </a:dk2>
      <a:lt2>
        <a:srgbClr val="DEDAE8"/>
      </a:lt2>
      <a:accent1>
        <a:srgbClr val="5546D9"/>
      </a:accent1>
      <a:accent2>
        <a:srgbClr val="147B70"/>
      </a:accent2>
      <a:accent3>
        <a:srgbClr val="946315"/>
      </a:accent3>
      <a:accent4>
        <a:srgbClr val="9487E8"/>
      </a:accent4>
      <a:accent5>
        <a:srgbClr val="8B859C"/>
      </a:accent5>
      <a:accent6>
        <a:srgbClr val="A9BCB5"/>
      </a:accent6>
      <a:hlink>
        <a:srgbClr val="5546D9"/>
      </a:hlink>
      <a:folHlink>
        <a:srgbClr val="147B70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Warm editorial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853eab6f974c78" /><Relationship Type="http://schemas.openxmlformats.org/officeDocument/2006/relationships/notesMaster" Target="/ppt/notesMasters/notesMaster1.xml" Id="R5a8e5db889d648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e747b8f1554565" /><Relationship Type="http://schemas.openxmlformats.org/officeDocument/2006/relationships/notesMaster" Target="/ppt/notesMasters/notesMaster1.xml" Id="R91170fc017fb4e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5cd753522a421f" /><Relationship Type="http://schemas.openxmlformats.org/officeDocument/2006/relationships/notesMaster" Target="/ppt/notesMasters/notesMaster1.xml" Id="R88acf5247ded4f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79c5ad49f844b2" /><Relationship Type="http://schemas.openxmlformats.org/officeDocument/2006/relationships/notesMaster" Target="/ppt/notesMasters/notesMaster1.xml" Id="Ra25621a391c44a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e8773d70724400" /><Relationship Type="http://schemas.openxmlformats.org/officeDocument/2006/relationships/notesMaster" Target="/ppt/notesMasters/notesMaster1.xml" Id="R60b95735340c4d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ebd41a81204b56" /><Relationship Type="http://schemas.openxmlformats.org/officeDocument/2006/relationships/notesMaster" Target="/ppt/notesMasters/notesMaster1.xml" Id="R044c514f62f149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00b7f82ef14764" /><Relationship Type="http://schemas.openxmlformats.org/officeDocument/2006/relationships/notesMaster" Target="/ppt/notesMasters/notesMaster1.xml" Id="R4d544f387c8a47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d08cdfeff24a0f" /><Relationship Type="http://schemas.openxmlformats.org/officeDocument/2006/relationships/notesMaster" Target="/ppt/notesMasters/notesMaster1.xml" Id="R58b3b453ba7f4b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381998c97c43c0" /><Relationship Type="http://schemas.openxmlformats.org/officeDocument/2006/relationships/notesMaster" Target="/ppt/notesMasters/notesMaster1.xml" Id="R7b848c20eefb4d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7b8617fb3e4e50" /><Relationship Type="http://schemas.openxmlformats.org/officeDocument/2006/relationships/notesMaster" Target="/ppt/notesMasters/notesMaster1.xml" Id="Rde412fa848ed45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8fafc49d604f50" /><Relationship Type="http://schemas.openxmlformats.org/officeDocument/2006/relationships/notesMaster" Target="/ppt/notesMasters/notesMaster1.xml" Id="R6371da34bebb4a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b40dd0b21244bb" /><Relationship Type="http://schemas.openxmlformats.org/officeDocument/2006/relationships/notesMaster" Target="/ppt/notesMasters/notesMaster1.xml" Id="Rdc42d8c35c814d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c14081d7014428" /><Relationship Type="http://schemas.openxmlformats.org/officeDocument/2006/relationships/notesMaster" Target="/ppt/notesMasters/notesMaster1.xml" Id="Raf847bdd50474c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2daa6f2aaa45b7" /><Relationship Type="http://schemas.openxmlformats.org/officeDocument/2006/relationships/notesMaster" Target="/ppt/notesMasters/notesMaster1.xml" Id="R65dba5ba509342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d53c8dd5db4c07" /><Relationship Type="http://schemas.openxmlformats.org/officeDocument/2006/relationships/notesMaster" Target="/ppt/notesMasters/notesMaster1.xml" Id="R05b713dca3b146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ed038143dd4e97" /><Relationship Type="http://schemas.openxmlformats.org/officeDocument/2006/relationships/notesMaster" Target="/ppt/notesMasters/notesMaster1.xml" Id="R1862a68c22ee4c9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ba6c0409014abe" /><Relationship Type="http://schemas.openxmlformats.org/officeDocument/2006/relationships/notesMaster" Target="/ppt/notesMasters/notesMaster1.xml" Id="R672cfa286a5a49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a4edf6799fb40b6" /><Relationship Type="http://schemas.openxmlformats.org/officeDocument/2006/relationships/notesMaster" Target="/ppt/notesMasters/notesMaster1.xml" Id="R96aa2d94c0234a9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0ad5e4dc1374c77" /><Relationship Type="http://schemas.openxmlformats.org/officeDocument/2006/relationships/notesMaster" Target="/ppt/notesMasters/notesMaster1.xml" Id="Rf38dbf5627ee40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b82d6c7a77844b5" /><Relationship Type="http://schemas.openxmlformats.org/officeDocument/2006/relationships/notesMaster" Target="/ppt/notesMasters/notesMaster1.xml" Id="R461bac22d31d424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81887e7518d4a9b" /><Relationship Type="http://schemas.openxmlformats.org/officeDocument/2006/relationships/notesMaster" Target="/ppt/notesMasters/notesMaster1.xml" Id="R00837226ff874d1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38908c2914241c7" /><Relationship Type="http://schemas.openxmlformats.org/officeDocument/2006/relationships/notesMaster" Target="/ppt/notesMasters/notesMaster1.xml" Id="Reb27108ac6d945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68fe51725dc4bb8" /><Relationship Type="http://schemas.openxmlformats.org/officeDocument/2006/relationships/notesMaster" Target="/ppt/notesMasters/notesMaster1.xml" Id="R2613a64d15e2496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110ab01943848bd" /><Relationship Type="http://schemas.openxmlformats.org/officeDocument/2006/relationships/notesMaster" Target="/ppt/notesMasters/notesMaster1.xml" Id="Rfbd043c18cbb44a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d88cae842624514" /><Relationship Type="http://schemas.openxmlformats.org/officeDocument/2006/relationships/notesMaster" Target="/ppt/notesMasters/notesMaster1.xml" Id="Rfde35b90fc3e476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f5114da7ce741e5" /><Relationship Type="http://schemas.openxmlformats.org/officeDocument/2006/relationships/notesMaster" Target="/ppt/notesMasters/notesMaster1.xml" Id="R04bf724369e548b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70f0eab9da94184" /><Relationship Type="http://schemas.openxmlformats.org/officeDocument/2006/relationships/notesMaster" Target="/ppt/notesMasters/notesMaster1.xml" Id="R315a2f1a2033493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947a0d9faa849c0" /><Relationship Type="http://schemas.openxmlformats.org/officeDocument/2006/relationships/notesMaster" Target="/ppt/notesMasters/notesMaster1.xml" Id="R9d06fd4e3e2f4ad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dd41903fc254af6" /><Relationship Type="http://schemas.openxmlformats.org/officeDocument/2006/relationships/notesMaster" Target="/ppt/notesMasters/notesMaster1.xml" Id="Rdaf30ff3835f46f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e6e7fd47c2d48e8" /><Relationship Type="http://schemas.openxmlformats.org/officeDocument/2006/relationships/notesMaster" Target="/ppt/notesMasters/notesMaster1.xml" Id="R94ccb0bb275f4a5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fc0a544b61b4543" /><Relationship Type="http://schemas.openxmlformats.org/officeDocument/2006/relationships/notesMaster" Target="/ppt/notesMasters/notesMaster1.xml" Id="R9c864ab0e395410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3aa515f54b14faf" /><Relationship Type="http://schemas.openxmlformats.org/officeDocument/2006/relationships/notesMaster" Target="/ppt/notesMasters/notesMaster1.xml" Id="R71b611bc3c76441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58800f6a1534c54" /><Relationship Type="http://schemas.openxmlformats.org/officeDocument/2006/relationships/notesMaster" Target="/ppt/notesMasters/notesMaster1.xml" Id="R9e8c15150da7442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c504af6dbaa4f49" /><Relationship Type="http://schemas.openxmlformats.org/officeDocument/2006/relationships/notesMaster" Target="/ppt/notesMasters/notesMaster1.xml" Id="Rcff486e5c3c54df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2aebc5cf2ea4a01" /><Relationship Type="http://schemas.openxmlformats.org/officeDocument/2006/relationships/notesMaster" Target="/ppt/notesMasters/notesMaster1.xml" Id="R7d4a84aea5154b9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c42b4f7ed1b47ef" /><Relationship Type="http://schemas.openxmlformats.org/officeDocument/2006/relationships/notesMaster" Target="/ppt/notesMasters/notesMaster1.xml" Id="R881bee3189de48d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b46b07d258b433e" /><Relationship Type="http://schemas.openxmlformats.org/officeDocument/2006/relationships/notesMaster" Target="/ppt/notesMasters/notesMaster1.xml" Id="R822294002f34420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b74150163cc47ed" /><Relationship Type="http://schemas.openxmlformats.org/officeDocument/2006/relationships/notesMaster" Target="/ppt/notesMasters/notesMaster1.xml" Id="R095c40a6f1114c7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2a1059aba414397" /><Relationship Type="http://schemas.openxmlformats.org/officeDocument/2006/relationships/notesMaster" Target="/ppt/notesMasters/notesMaster1.xml" Id="Rd83fb6b3128c445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841555b4523421f" /><Relationship Type="http://schemas.openxmlformats.org/officeDocument/2006/relationships/notesMaster" Target="/ppt/notesMasters/notesMaster1.xml" Id="Rb028e4e108dc449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5c7d44cb4044271" /><Relationship Type="http://schemas.openxmlformats.org/officeDocument/2006/relationships/notesMaster" Target="/ppt/notesMasters/notesMaster1.xml" Id="R8a3cb714c34e476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ac11a8e7d9d445b" /><Relationship Type="http://schemas.openxmlformats.org/officeDocument/2006/relationships/notesMaster" Target="/ppt/notesMasters/notesMaster1.xml" Id="Rd6ea7fcb794848f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476818620384d10" /><Relationship Type="http://schemas.openxmlformats.org/officeDocument/2006/relationships/notesMaster" Target="/ppt/notesMasters/notesMaster1.xml" Id="Rc849ed5a73384d2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0e7b3dd22974d89" /><Relationship Type="http://schemas.openxmlformats.org/officeDocument/2006/relationships/notesMaster" Target="/ppt/notesMasters/notesMaster1.xml" Id="Ra14124f054fb44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建议用时：15秒。方向归属：yuan xuecheng / kristina。</a:t>
            </a:r>
          </a:p>
          <a:p xmlns:a="http://schemas.openxmlformats.org/drawingml/2006/main">
            <a:r>
              <a:t>开场先给问题和分工。预测与决策学习为yuan xuecheng，鲁棒优化方向为kristina。主讲30页，鲁棒优化章节9页，隐藏14页备份。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建议用时：55秒。方向归属：yuan xuecheng。</a:t>
            </a:r>
          </a:p>
          <a:p xmlns:a="http://schemas.openxmlformats.org/drawingml/2006/main">
            <a:r>
              <a:t>用一组核心数字回答低库存路线是否值得继续。89.81万是全部6000SKU的平均期末总库存。当前7个参考区间方案中该候选J最低，但FR比传统(s,S)低。不同训练协议和测试开发历史限制了算法优劣结论。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建议用时：45秒。方向归属：共同研究。</a:t>
            </a:r>
          </a:p>
          <a:p xmlns:a="http://schemas.openxmlformats.org/drawingml/2006/main">
            <a:r>
              <a:t>服务水平定义在全部SKU周期上聚合，既非Fill Rate，也非每SKU都达到95的约束。无固定仓容约束，订单非负并取整，末期订单在期29到货，不计测试期末在手库存。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建议用时：40秒。方向归属：yuan xuecheng / kristina。</a:t>
            </a:r>
          </a:p>
          <a:p xmlns:a="http://schemas.openxmlformats.org/drawingml/2006/main">
            <a:r>
              <a:t>先明确贡献归属，避免把共同项目的所有模型归为个人创新。主要模型历史对照在附录留存，当前口头分工遵照双方确认。kristina节使用已有代码和结果做完整介绍，其模型推导与扩展可以由她修改。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建议用时：55秒。方向归属：共同研究。</a:t>
            </a:r>
          </a:p>
          <a:p xmlns:a="http://schemas.openxmlformats.org/drawingml/2006/main">
            <a:r>
              <a:t>R=Σ1{B&gt;0}/(N T)，N6000 T28。商品库存为0即不计有货，即使需求全部满足后刚好卖空也不计。FR按数量加权，不同销量商品权重不同。J期末库存时间累计量除需求累计量无量纲，平均库存=ΣB/28。FR在公式中使用0至1小数。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建议用时：50秒。方向归属：共同研究。</a:t>
            </a:r>
          </a:p>
          <a:p xmlns:a="http://schemas.openxmlformats.org/drawingml/2006/main">
            <a:r>
              <a:t>训练60期测试28期，测试总需求90,465,437件。事件顺序：上期订货到货，与上期剩余合并形成A，发生需求d，销量min(A,d)，剩余B=max(A-d,0)，再作未来订货q。首期各模型共同FR25.6263%、R89.2833%，首期不可由当期下单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建议用时：60秒。方向归属：yuan xuecheng。</a:t>
            </a:r>
          </a:p>
          <a:p xmlns:a="http://schemas.openxmlformats.org/drawingml/2006/main">
            <a:r>
              <a:t>树模型59维，包含历史、x滞后/差分、类别等已知周期信息。DFL38维=17需求历史统计+类别+20x滞后，另有8维SKUembedding。SPO成本模型加库存/预测/误差尺度决策状态到62维。全局共享网络不意味着所有SKU分布相同。聚类/PCA不是所有模型统一前置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建议用时：50秒。方向归属：yuan xuecheng。</a:t>
            </a:r>
          </a:p>
          <a:p xmlns:a="http://schemas.openxmlformats.org/drawingml/2006/main">
            <a:r>
              <a:t>主要模型训练前向42/18验证。预测误差尺度使用独立前缀预测，不用拟合残差冒充泛化误差。最终全60重拟合保留验证策略参数。s=S时每期期末对差额下单。基线μσ来自每SKU历史。ML log目标y=log(1+d)-log(1+a)，a=max(trainmean,.5)，反变换截非负。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建议用时：50秒。方向归属：yuan xuecheng。</a:t>
            </a:r>
          </a:p>
          <a:p xmlns:a="http://schemas.openxmlformats.org/drawingml/2006/main">
            <a:r>
              <a:t>历史Baseline不使用20特征，固定SKU均值加风险尺度，当前R99.46 FR99.09，库存极高。四TS序列回放校准仍多高于95。指数平滑R96.44 FR98.82，平均库存121.78万，并未进入当前95至96参考区间。大基线值单列避免其他图柱被压缩，非隐藏。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建议用时：55秒。方向归属：yuan xuecheng。</a:t>
            </a:r>
          </a:p>
          <a:p xmlns:a="http://schemas.openxmlformats.org/drawingml/2006/main">
            <a:r>
              <a:t>9类：线性回归、Ridge、Lasso、弹性网络、SVR、随机森林、XGBoost、LightGBM、CatBoost。主图6类代表，全部查附录。LGB L1、lr.05，候选250/31或350/63树/叶，minleaf30，验证选参数。全局共享单模型按SKU尺度和历史差异化。库存条形从0起，服务/Fill用不连线点图聚焦80至102，顶部留数据标签空间，95参考线只用于服务解释。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建议用时：60秒。方向归属：yuan xuecheng。</a:t>
            </a:r>
          </a:p>
          <a:p xmlns:a="http://schemas.openxmlformats.org/drawingml/2006/main">
            <a:r>
              <a:t>62维成本状态，9动作0,.5,...4。标签用历史行为库存回放生成，避免预测器拟合期残差标签。成本MSE与有限动作平滑SPO+混合。LGB80rounds31leaves α.8 τ.5，前缀30k最终45k采样seed42，风险罚10/50验证。c和ĉ是按正成本中位数归一化的每动作成本向量，A9，a*=argminc；τlogsumexp替代max。数学梯度对应src/models/spo/xgb_spo_hybrid.py hybrid_grad_hess，LGB使用动作展开共享回归。这是成本学习机制，不能标成对原始分式MILP精确oracle训练。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建议用时：50秒。方向归属：yuan xuecheng。</a:t>
            </a:r>
          </a:p>
          <a:p xmlns:a="http://schemas.openxmlformats.org/drawingml/2006/main">
            <a:r>
              <a:t>使用同测试事件口径。LightGBM–SPO不是LightGBM预测器简单追加同一个损失的同容量消融。directLightGBM动作展开约69输入。service_policy为44输入64宽Tanh网络，包含库存和MA3参考，4epoch lr4e−4，并非该树模型同一版本。结果只能比较当前配置。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建议用时：65秒。方向归属：yuan xuecheng。</a:t>
            </a:r>
          </a:p>
          <a:p xmlns:a="http://schemas.openxmlformats.org/drawingml/2006/main">
            <a:r>
              <a:t>μσ是log(1+d)空间。分布共享网络96/96两隐藏ReLU，SKUembedding8。σsoftplus+.05。8场景包含残差SVD8因子强度.2。当前库存进入内层，未来真实需求只用于训练监督。无固定仓容时，NN内层动态总量softmax与DFL缺口投影不同，不是严格只改微调的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建议用时：65秒。方向归属：yuan xuecheng。</a:t>
            </a:r>
          </a:p>
          <a:p xmlns:a="http://schemas.openxmlformats.org/drawingml/2006/main">
            <a:r>
              <a:t>P(R)两侧正部平方，.95/.96是训练设计，不把96当业务规定。R̃=mean sigmoid((A-D-1)/(.05a))训练代理，真实测试严格B&gt;0。ℒNLL拟合log1pd，防止网络只为决策而破坏预测。ρ有限且平滑代理不同，硬服务仍需回放核验。内层F同样场景库存比加罚，外层用真实训练需求评估。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建议用时：65秒。方向归属：yuan xuecheng。</a:t>
            </a:r>
          </a:p>
          <a:p xmlns:a="http://schemas.openxmlformats.org/drawingml/2006/main">
            <a:r>
              <a:t>概率预训练10epoch；DFL2epoch。内层每步v=q/a，.03clip(N∇F,-4,4)投影，梯度方向detach，是一阶展开近似而非精确隐式求导。改进H4ρ240γ.1z1.75，TurnoverH7ρ80γ.2z2.15625。不能将名称周转目标解释为当前仍用旧logstock/sales损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建议用时：65秒。方向归属：yuan xuecheng。</a:t>
            </a:r>
          </a:p>
          <a:p xmlns:a="http://schemas.openxmlformats.org/drawingml/2006/main">
            <a:r>
              <a:t>NN内层平均108.03万R96.09FR93.51；改进90.39万R95.26FR91.39；Turnover89.81万R95.67FR92.97。5824.857件相对改进0.644%，单次测试差异小。NN与DFL参数化、窗口和正则有差异，不能把全部差距归因微调。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建议用时：50秒。方向归属：yuan xuecheng。</a:t>
            </a:r>
          </a:p>
          <a:p xmlns:a="http://schemas.openxmlformats.org/drawingml/2006/main">
            <a:r>
              <a:t>在线无offlineDFLfinetune，EMAα.1、NLLAdam5e−5一步，因果时序无未来需求泄露。MPC3组×4期LGB预测器8场景12次投影。在线R92.65、MPC92.18未达接近95目标。低J不可单独称更优，未来应单独重新校准验证服务。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建议用时：50秒。方向归属：yuan xuecheng。</a:t>
            </a:r>
          </a:p>
          <a:p xmlns:a="http://schemas.openxmlformats.org/drawingml/2006/main">
            <a:r>
              <a:t>等权均值、全局stacking、SKUstacking、硬router分别202.86/145.25/145.30/453.82万。全局与SKU两软融合接近，硬选过拟合局部短验证。训练验证最优不保证未来最佳，不能使用testoracle作为部署效果。没有当前证据证明逐SKU选必定比整体最佳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建议用时：50秒。方向归属：yuan xuecheng。</a:t>
            </a:r>
          </a:p>
          <a:p xmlns:a="http://schemas.openxmlformats.org/drawingml/2006/main">
            <a:r>
              <a:t>来自原始逐周期回放，非最终指标插值。各28个真实累计点。首期lost763368件，销量263027、需求1026395，初始总量小且SKU分配失衡，不能由当期订单改变。服务/Fill图轴各88–100/20–100，不能比较跨图视觉斜率。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来源：reports/teacher_standard_33_models_20261012/src/data.json，queries.test_period_replay。6000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建议用时：50秒。方向归属：kristina。</a:t>
            </a:r>
          </a:p>
          <a:p xmlns:a="http://schemas.openxmlformats.org/drawingml/2006/main">
            <a:r>
              <a:t>原始滚动分布鲁棒架构恢复。预测模型的blend1、window3、prior0。预测未来4期，但无跨期共享容量/预算时按各期水位分解，滚动只执行首笔，没有证据说明存在额外MPC耦合优化增益。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PPT来源：/Users/xuecheng/Desktop/补货项目汇报_20分钟_定稿(1).pptx，第12、20页。新版机制来源：outputs/collaborator_update_comparison_20261013/github_snapshot/model_v2.py、frozen_parameters.json；结果来源：reports/teacher_standard_33_models_20261012/src/data.json。原始PPT的Fill约束结果只作为历史实验，与当前服务水平约束分开。数学公式的M为组内残差样本数，不是SKU数。</a:t>
            </a:r>
          </a:p>
          <a:p xmlns:a="http://schemas.openxmlformats.org/drawingml/2006/main">
            <a:r>
              <a:t>本次未重新训练或执行全部参数搜索。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建议用时：45秒。方向归属：kristina。</a:t>
            </a:r>
          </a:p>
          <a:p xmlns:a="http://schemas.openxmlformats.org/drawingml/2006/main">
            <a:r>
              <a:t>m_i为训练趋势，blend1时m=max(a+b u,1)。k=min(已观测长度,3)，prior0使偏差权重为1。无观测时偏差项设0。公式是当前选定参数下预测代码。图表完整复用原始PPT4个跨度精确缓存值，样本量依次162000/156000/150000/144000，只作历史预测诊断，不冒充新版重测WAP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PPT来源：/Users/xuecheng/Desktop/补货项目汇报_20分钟_定稿(1).pptx，第12、13页。新版机制来源：outputs/collaborator_update_comparison_20261013/github_snapshot/model_v2.py、frozen_parameters.json；结果来源：reports/teacher_standard_33_models_20261012/src/data.json。原始PPT的Fill约束结果只作为历史实验，与当前服务水平约束分开。数学公式的M为组内残差样本数，不是SKU数。</a:t>
            </a:r>
          </a:p>
          <a:p xmlns:a="http://schemas.openxmlformats.org/drawingml/2006/main">
            <a:r>
              <a:t>本次未重新训练或执行全部参数搜索。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建议用时：50秒。方向归属：kristina。</a:t>
            </a:r>
          </a:p>
          <a:p xmlns:a="http://schemas.openxmlformats.org/drawingml/2006/main">
            <a:r>
              <a:t>恢复原始商品结构和风险聚类。需求描述量为均值、CV、零需求比例、上尾、趋势。x20训练均值标准化PCA3，Kmeans6，8次初始化选最小组内距离。最终blend1使用SKU趋势，分组主要影响倍率残差池化及风险水位，不自动改变点预测。8%与约80%是原始数据描述，不能理解成用测试需求重新划分商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PPT来源：/Users/xuecheng/Desktop/补货项目汇报_20分钟_定稿(1).pptx，第14、18、25页。新版机制来源：outputs/collaborator_update_comparison_20261013/github_snapshot/model_v2.py、frozen_parameters.json；结果来源：reports/teacher_standard_33_models_20261012/src/data.json。原始PPT的Fill约束结果只作为历史实验，与当前服务水平约束分开。数学公式的M为组内残差样本数，不是SKU数。</a:t>
            </a:r>
          </a:p>
          <a:p xmlns:a="http://schemas.openxmlformats.org/drawingml/2006/main">
            <a:r>
              <a:t>本次未重新训练或执行全部参数搜索。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建议用时：65秒。方向归属：kristina。</a:t>
            </a:r>
          </a:p>
          <a:p xmlns:a="http://schemas.openxmlformats.org/drawingml/2006/main">
            <a:r>
              <a:t>r=d/f非负，歧义集为等权经验残差样本的矩形W∞邻域，每个原子可移至[max(0,r−ε),r+ε]。g(r,z)=(r−z)+−(1−β)r凸且分段线性，最坏期望化为两端点最大值均值。sup E shortage &lt;= (1−β)E demand控制最坏期望数量满足率，β不是测试服务水平R。ε0退化为经验模型。新版此内层已替换为正库存概率约束，不能用旧式解释新成绩。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PPT来源：/Users/xuecheng/Desktop/补货项目汇报_20分钟_定稿(1).pptx，第15、24页。新版机制来源：outputs/collaborator_update_comparison_20261013/github_snapshot/model_v2.py、frozen_parameters.json；结果来源：reports/teacher_standard_33_models_20261012/src/data.json。原始PPT的Fill约束结果只作为历史实验，与当前服务水平约束分开。数学公式的M为组内残差样本数，不是SKU数。</a:t>
            </a:r>
          </a:p>
          <a:p xmlns:a="http://schemas.openxmlformats.org/drawingml/2006/main">
            <a:r>
              <a:t>本次未重新训练或执行全部参数搜索。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建议用时：50秒。方向归属：kristina。</a:t>
            </a:r>
          </a:p>
          <a:p xmlns:a="http://schemas.openxmlformats.org/drawingml/2006/main">
            <a:r>
              <a:t>原始代码60次二分tol1e−10，G单调不增，以最大端点作右界。原PPT核对记录：20160真实爆品样本、风险水位1.12682993、200样本LP与二分差4.63e−11。此为已保存历史核对，未在本次重算，不用于新版chance算法的误差证明。端点上图LP保留备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PPT来源：/Users/xuecheng/Desktop/补货项目汇报_20分钟_定稿(1).pptx，第19、24页。新版机制来源：outputs/collaborator_update_comparison_20261013/github_snapshot/model_v2.py、frozen_parameters.json；结果来源：reports/teacher_standard_33_models_20261012/src/data.json。原始PPT的Fill约束结果只作为历史实验，与当前服务水平约束分开。数学公式的M为组内残差样本数，不是SKU数。</a:t>
            </a:r>
          </a:p>
          <a:p xmlns:a="http://schemas.openxmlformats.org/drawingml/2006/main">
            <a:r>
              <a:t>本次未重新训练或执行全部参数搜索。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建议用时：70秒。方向归属：kristina。</a:t>
            </a:r>
          </a:p>
          <a:p xmlns:a="http://schemas.openxmlformats.org/drawingml/2006/main">
            <a:r>
              <a:t>最新版github模型robust_positive_level取k=ceilβM顺序统计量加ε。直接fz对端点可能相等，故用整数S=floor(fz)+1严格大于fz，保证等号样本也留下至少1件。对前k个经验原子任意W∞移动D&lt;=f(r_(k)+ε)&lt;=fz&lt;S，所以残差歧义集下概率至少k/M&gt;=β。实际库存供给不低于S时成立，测试R不由该样本概率直接保证，预测误差/分布变化/初始化都须回放。三DROβ.98 ε.3；这是新版替换，不是原始PPT已经采用该约束。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PPT来源：/Users/xuecheng/Desktop/补货项目汇报_20分钟_定稿(1).pptx，第15、24页。新版机制来源：outputs/collaborator_update_comparison_20261013/github_snapshot/model_v2.py、frozen_parameters.json；结果来源：reports/teacher_standard_33_models_20261012/src/data.json。原始PPT的Fill约束结果只作为历史实验，与当前服务水平约束分开。数学公式的M为组内残差样本数，不是SKU数。新版GitHub冻结d0f0b1353888be803efa7e5f234439b1bfe59d01。</a:t>
            </a:r>
          </a:p>
          <a:p xmlns:a="http://schemas.openxmlformats.org/drawingml/2006/main">
            <a:r>
              <a:t>本次未重新训练或执行全部参数搜索。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建议用时：55秒。方向归属：kristina。</a:t>
            </a:r>
          </a:p>
          <a:p xmlns:a="http://schemas.openxmlformats.org/drawingml/2006/main">
            <a:r>
              <a:t>恢复原PPT前向折与重启折思路，明确现行冻结定义。calibration_scope重启28全期服务95–95.5选参，前向仅diagnostic无服务门槛。主模型fit42val18refit60，鲁棒fit29–60reset1–28无refit。SSp_s.95p_S.999scale1.10，SAAβ.995scale1.125，不同参数不作等参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PPT来源：/Users/xuecheng/Desktop/补货项目汇报_20分钟_定稿(1).pptx，第26、21页。新版机制来源：outputs/collaborator_update_comparison_20261013/github_snapshot/model_v2.py、frozen_parameters.json；结果来源：reports/teacher_standard_33_models_20261012/src/data.json。原始PPT的Fill约束结果只作为历史实验，与当前服务水平约束分开。数学公式的M为组内残差样本数，不是SKU数。</a:t>
            </a:r>
          </a:p>
          <a:p xmlns:a="http://schemas.openxmlformats.org/drawingml/2006/main">
            <a:r>
              <a:t>本次未重新训练或执行全部参数搜索。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建议用时：60秒。方向归属：kristina。</a:t>
            </a:r>
          </a:p>
          <a:p xmlns:a="http://schemas.openxmlformats.org/drawingml/2006/main">
            <a:r>
              <a:t>最新5结果：R95.07–95.34 FR98.90–98.98 平均166.68–191.96万。fit29–60，restartcal1–28，后不refit。对照主33fit1–42val43–60全量refit不同。严格forwarddiagnosticfit1–36→37–60R约99.97–99.99未近95。DRO参数β.98ε.3，SSp_s.95p_S.999mult1.10，SAAβ.995mult1.125，非等参半径消融。图数据和每个标签可编辑，供kristina替换或增补自己的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 / collaborator_updated_comparison。6000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建议用时：50秒。方向归属：kristina。</a:t>
            </a:r>
          </a:p>
          <a:p xmlns:a="http://schemas.openxmlformats.org/drawingml/2006/main">
            <a:r>
              <a:t>最新28期真实累计数据，不沿用原始Fill约束曲线作为最新版结果。爆品/长尾与SS两线较接近，不夸大微小差异。首期FR25.6263%、R89.2833%，共同首期丢失需求763368。不同y范围用于各自观察，不能比较跨图斜率。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PPT来源：/Users/xuecheng/Desktop/补货项目汇报_20分钟_定稿(1).pptx，第17、20页。新版机制来源：outputs/collaborator_update_comparison_20261013/github_snapshot/model_v2.py、frozen_parameters.json；结果来源：reports/teacher_standard_33_models_20261012/src/data.json。原始PPT的Fill约束结果只作为历史实验，与当前服务水平约束分开。数学公式的M为组内残差样本数，不是SKU数。</a:t>
            </a:r>
          </a:p>
          <a:p xmlns:a="http://schemas.openxmlformats.org/drawingml/2006/main">
            <a:r>
              <a:t>本次未重新训练或执行全部参数搜索。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建议用时：60秒。方向归属：yuan xuecheng / kristina。</a:t>
            </a:r>
          </a:p>
          <a:p xmlns:a="http://schemas.openxmlformats.org/drawingml/2006/main">
            <a:r>
              <a:t>聚焦目标附近已运行点，未拟合理论最优前沿。散点不代表所有可行参数的下界。主要7点之外NNR96.085作近邻参照，当前研究参考区间95–96不是额外业务硬上限。小J并不同时保证更高FR。测试集曾参与开发，当前无新externalholdout、多seed/配对检验，DFL0.64差异不能宣称显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建议用时：0秒。方向归属：项目历史对照。</a:t>
            </a:r>
          </a:p>
          <a:p xmlns:a="http://schemas.openxmlformats.org/drawingml/2006/main">
            <a:r>
              <a:t>保留37个当前代表方案，去除5个已被替代的旧版，数据未修改。表中早期dro_moment、dro_wasserstein、dro_chi_square是项目历史对照，不作为本次个人贡献归属证据。最新5鲁棒方案已单独介绍。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建议用时：0秒。方向归属：项目历史对照。</a:t>
            </a:r>
          </a:p>
          <a:p xmlns:a="http://schemas.openxmlformats.org/drawingml/2006/main">
            <a:r>
              <a:t>保留37个当前代表方案，去除5个已被替代的旧版，数据未修改。表中早期dro_moment、dro_wasserstein、dro_chi_square是项目历史对照，不作为本次个人贡献归属证据。最新5鲁棒方案已单独介绍。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建议用时：0秒。方向归属：项目历史对照。</a:t>
            </a:r>
          </a:p>
          <a:p xmlns:a="http://schemas.openxmlformats.org/drawingml/2006/main">
            <a:r>
              <a:t>保留37个当前代表方案，去除5个已被替代的旧版，数据未修改。表中早期dro_moment、dro_wasserstein、dro_chi_square是项目历史对照，不作为本次个人贡献归属证据。最新5鲁棒方案已单独介绍。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建议用时：0秒。方向归属：项目历史对照。</a:t>
            </a:r>
          </a:p>
          <a:p xmlns:a="http://schemas.openxmlformats.org/drawingml/2006/main">
            <a:r>
              <a:t>保留37个当前代表方案，去除5个已被替代的旧版，数据未修改。表中早期dro_moment、dro_wasserstein、dro_chi_square是项目历史对照，不作为本次个人贡献归属证据。最新5鲁棒方案已单独介绍。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建议用时：0秒。方向归属：项目历史对照。</a:t>
            </a:r>
          </a:p>
          <a:p xmlns:a="http://schemas.openxmlformats.org/drawingml/2006/main">
            <a:r>
              <a:t>保留37个当前代表方案，去除5个已被替代的旧版，数据未修改。表中早期dro_moment、dro_wasserstein、dro_chi_square是项目历史对照，不作为本次个人贡献归属证据。最新5鲁棒方案已单独介绍。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建议用时：0秒。方向归属：yuan xuecheng。</a:t>
            </a:r>
          </a:p>
          <a:p xmlns:a="http://schemas.openxmlformats.org/drawingml/2006/main">
            <a:r>
              <a:t>NLL省略常数，使用对数正态近似。σsoftplus+.05。场景ε独立标准正态，z共同8维标准正态，V来自训练残差SVD载荷，相关强度.2，exp减1截非负。预计需求均值不等于expμ−1。内层F最小化场景期末库存比和服务偏离罚，依据当前B与预测D，不看真实未来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建议用时：0秒。方向归属：yuan xuecheng。</a:t>
            </a:r>
          </a:p>
          <a:p xmlns:a="http://schemas.openxmlformats.org/drawingml/2006/main">
            <a:r>
              <a:t>a=max训练SKU平均需求,.5)，v=q/a。N为当前SKU批数量的梯度缩放。投影非负，梯度clip±4，方向detach。更新并非精确MILP求解、也无全局最优保证。名称周转目标沿用，当前外层实际J加罚加NLL。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建议用时：0秒。方向归属：共同研究。</a:t>
            </a:r>
          </a:p>
          <a:p xmlns:a="http://schemas.openxmlformats.org/drawingml/2006/main">
            <a:r>
              <a:t>最早截图maxΣ销量/Σ库存，含二元有货z和每SKU服务时间约束，与当前 pooledSKU-periodR与J合同区别必须说明。r=FR/J要求I=B同口径。按平均期末库存定义的测试周转次数=28FR/J。硬求解器未训练完成，不列入正式37模型。当前目标库存比小并不等价任意情况下销量库存比大，因为FR变化。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建议用时：0秒。方向归属：共同研究。</a:t>
            </a:r>
          </a:p>
          <a:p xmlns:a="http://schemas.openxmlformats.org/drawingml/2006/main">
            <a:r>
              <a:t>同数据同指标和事件平衡复现可靠，但不能消除训练协议不等和开发阶段测试可见。现无严格pureDFLablation和统计显著性。研究贡献需要机制、假设、推导、实验四者一致，不把复杂模型名称或单次榜首当创新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建议用时：0秒。方向归属：kristina。</a:t>
            </a:r>
          </a:p>
          <a:p xmlns:a="http://schemas.openxmlformats.org/drawingml/2006/main">
            <a:r>
              <a:t>保留原始PPT全部五个策略精确J缓存值。旧Fillβ/ε各自校准，不是固定参数组数消融。该历史结论不能作为当前服务R95%目标下改善2.18%的证据。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PPT来源：/Users/xuecheng/Desktop/补货项目汇报_20分钟_定稿(1).pptx，第16、18页。新版机制来源：outputs/collaborator_update_comparison_20261013/github_snapshot/model_v2.py、frozen_parameters.json；结果来源：reports/teacher_standard_33_models_20261012/src/data.json。原始PPT的Fill约束结果只作为历史实验，与当前服务水平约束分开。数学公式的M为组内残差样本数，不是SKU数。</a:t>
            </a:r>
          </a:p>
          <a:p xmlns:a="http://schemas.openxmlformats.org/drawingml/2006/main">
            <a:r>
              <a:t>本次未重新训练或执行全部参数搜索。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建议用时：0秒。方向归属：kristina。</a:t>
            </a:r>
          </a:p>
          <a:p xmlns:a="http://schemas.openxmlformats.org/drawingml/2006/main">
            <a:r>
              <a:t>从原始PPT复制原生曲线缓存，共27期（2–28），并显式称单期Fill非R服务，不把网站新累计数据与旧单期混淆。第1期共同Fill25.63丢失763368。旧DRO期末在途5426813在29到货，新版不可直接沿用该订单数。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PPT来源：/Users/xuecheng/Desktop/补货项目汇报_20分钟_定稿(1).pptx，第17、27页。新版机制来源：outputs/collaborator_update_comparison_20261013/github_snapshot/model_v2.py、frozen_parameters.json；结果来源：reports/teacher_standard_33_models_20261012/src/data.json。原始PPT的Fill约束结果只作为历史实验，与当前服务水平约束分开。数学公式的M为组内残差样本数，不是SKU数。</a:t>
            </a:r>
          </a:p>
          <a:p xmlns:a="http://schemas.openxmlformats.org/drawingml/2006/main">
            <a:r>
              <a:t>本次未重新训练或执行全部参数搜索。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建议用时：0秒。方向归属：kristina。</a:t>
            </a:r>
          </a:p>
          <a:p xmlns:a="http://schemas.openxmlformats.org/drawingml/2006/main">
            <a:r>
              <a:t>历史训练参数完整恢复。经验SAA重启验证J.144421，SS.135558。前向1–36val37–60，重启fit29–60val1–28。此前版本曾看test，历史重复测试，不能声称外部泛化检验。三DRO不同β/ε，六组比两组J稍高不能证明细分组无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PPT来源：/Users/xuecheng/Desktop/补货项目汇报_20分钟_定稿(1).pptx，第18、26页。新版机制来源：outputs/collaborator_update_comparison_20261013/github_snapshot/model_v2.py、frozen_parameters.json；结果来源：reports/teacher_standard_33_models_20261012/src/data.json。原始PPT的Fill约束结果只作为历史实验，与当前服务水平约束分开。数学公式的M为组内残差样本数，不是SKU数。</a:t>
            </a:r>
          </a:p>
          <a:p xmlns:a="http://schemas.openxmlformats.org/drawingml/2006/main">
            <a:r>
              <a:t>本次未重新训练或执行全部参数搜索。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建议用时：0秒。方向归属：kristina。</a:t>
            </a:r>
          </a:p>
          <a:p xmlns:a="http://schemas.openxmlformats.org/drawingml/2006/main">
            <a:r>
              <a:t>g(r,z)=max(βr−z,−(1−β)r)，每样本端点最大值的上图由四约束组成，目标minz≥0、meanv≤0。变量v可为负，若误写v≥0会改变可行性。恢复原PPT数学，代码robust_fill_lp_check bounds z≥0 vfree，SciPy linprog highs。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PPT来源：/Users/xuecheng/Desktop/补货项目汇报_20分钟_定稿(1).pptx，第24、19页。新版机制来源：outputs/collaborator_update_comparison_20261013/github_snapshot/model_v2.py、frozen_parameters.json；结果来源：reports/teacher_standard_33_models_20261012/src/data.json。原始PPT的Fill约束结果只作为历史实验，与当前服务水平约束分开。数学公式的M为组内残差样本数，不是SKU数。</a:t>
            </a:r>
          </a:p>
          <a:p xmlns:a="http://schemas.openxmlformats.org/drawingml/2006/main">
            <a:r>
              <a:t>本次未重新训练或执行全部参数搜索。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建议用时：0秒。方向归属：kristina。</a:t>
            </a:r>
          </a:p>
          <a:p xmlns:a="http://schemas.openxmlformats.org/drawingml/2006/main">
            <a:r>
              <a:t>原始动画入口为本地文件，不嵌入浏览器互动。需在该电脑路径可用，换电脑需带原始HTML。保留原PPT20页演示意图，但不将旧动画成绩当新版成绩。旧ΣB15228944、ΣD90465437，平均期末库存每SKU90.6485件，期初期末平均350.6328另一个库存定义，不能代换J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PPT来源：/Users/xuecheng/Desktop/补货项目汇报_20分钟_定稿(1).pptx，第20、23、27页。新版机制来源：outputs/collaborator_update_comparison_20261013/github_snapshot/model_v2.py、frozen_parameters.json；结果来源：reports/teacher_standard_33_models_20261012/src/data.json。原始PPT的Fill约束结果只作为历史实验，与当前服务水平约束分开。数学公式的M为组内残差样本数，不是SKU数。</a:t>
            </a:r>
          </a:p>
          <a:p xmlns:a="http://schemas.openxmlformats.org/drawingml/2006/main">
            <a:r>
              <a:t>本次未重新训练或执行全部参数搜索。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建议用时：35秒。方向归属：yuan xuecheng / kristina。</a:t>
            </a:r>
          </a:p>
          <a:p xmlns:a="http://schemas.openxmlformats.org/drawingml/2006/main">
            <a:r>
              <a:t>这是物理最后一页，也是隐藏附录跳过后的主讲最后一页。使用双方确认署名yuan xuecheng和kristina。鲁棒优化贡献独立归属kristina，她可以修改本节说明和可编辑图表。共同数据和指标仅表示协作界面，不推定每项基础设施个人作者。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来源：reports/teacher_standard_33_models_20261012/src/data.json，queries.current_42_summary。6000 SKU×28期测试，总需求90,465,437件。R为期末库存严格大于0的SKU周期比例，FR为总销量/总需求，J为总期末库存/总需求。平均库存为6000 SKU平均期末总库存。95%至96%是本轮研究参考区间，不是额外业务硬上限。训练机制见src/content/report/training_dossiers.json，最新鲁棒策略见UpdatedCollaboratorSection.jsx、updated_frozen.json。最新代码冻结d0f0b1353888be803efa7e5f234439b1bfe59d01。本次只调整汇报，未重新训练。署名与当前方向分工按双方确认，历史对照不用于推定个人贡献。源PPT：/Users/xuecheng/Research/02_Operations_Research/Replenishment Problem/outputs/teacher_ppt_pyramid_20261014/deliverables/补货项目汇报_金字塔结构_公式渲染定稿_20261014.pptx。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4662249b142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d800ae6034a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04795bc4e48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845db50174b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fe6d88c8648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a77e3c8354a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4AC6C1-D4D4-4488-95DE-0EFDBCCB35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AC16B2-EDDF-4E9A-ACFF-7BEC48AA6E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D7581B-0F91-4A91-8CCA-23BF67207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A82F07-4515-49F6-93A5-6297DAF38F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34AF5A-CA0F-4CCD-A4AA-6C2927306C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622299-61F7-4CF4-99F0-38259ABC0E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A6DFB2-142A-4CA2-9435-45CBC7CAF9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2ED1F5D-6804-40EB-9857-863498EBCB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5C20B6-8CC1-40DF-B7B7-D401EE472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E62099-8CA5-4A93-AD5F-1787602F14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b32f00cdd5427b" /><Relationship Type="http://schemas.openxmlformats.org/officeDocument/2006/relationships/slideLayout" Target="/ppt/slideLayouts/slideLayout1.xml" Id="R52a1384915b24773" /><Relationship Type="http://schemas.openxmlformats.org/officeDocument/2006/relationships/slideLayout" Target="/ppt/slideLayouts/slideLayout2.xml" Id="R3bc263e657064198" /><Relationship Type="http://schemas.openxmlformats.org/officeDocument/2006/relationships/slideLayout" Target="/ppt/slideLayouts/slideLayout3.xml" Id="R9ef5fc804b6a4b9f" /><Relationship Type="http://schemas.openxmlformats.org/officeDocument/2006/relationships/slideLayout" Target="/ppt/slideLayouts/slideLayout4.xml" Id="R21d46539549a48eb" /><Relationship Type="http://schemas.openxmlformats.org/officeDocument/2006/relationships/slideLayout" Target="/ppt/slideLayouts/slideLayout5.xml" Id="R8c24e9eda0e148a5" /><Relationship Type="http://schemas.openxmlformats.org/officeDocument/2006/relationships/slideLayout" Target="/ppt/slideLayouts/slideLayout6.xml" Id="R25ccc5c5add740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a1384915b24773"/>
    <p:sldLayoutId xmlns:r="http://schemas.openxmlformats.org/officeDocument/2006/relationships" id="2147483650" r:id="R3bc263e657064198"/>
    <p:sldLayoutId xmlns:r="http://schemas.openxmlformats.org/officeDocument/2006/relationships" id="2147483651" r:id="R9ef5fc804b6a4b9f"/>
    <p:sldLayoutId xmlns:r="http://schemas.openxmlformats.org/officeDocument/2006/relationships" id="2147483652" r:id="R21d46539549a48eb"/>
    <p:sldLayoutId xmlns:r="http://schemas.openxmlformats.org/officeDocument/2006/relationships" id="2147483653" r:id="R8c24e9eda0e148a5"/>
    <p:sldLayoutId xmlns:r="http://schemas.openxmlformats.org/officeDocument/2006/relationships" id="2147483654" r:id="R25ccc5c5add740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2e0fee4cb4932" /><Relationship Type="http://schemas.openxmlformats.org/officeDocument/2006/relationships/notesSlide" Target="/ppt/notesSlides/notesSlide1.xml" Id="R738bed37129d43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1b074fe1d34e18" /><Relationship Type="http://schemas.openxmlformats.org/officeDocument/2006/relationships/notesSlide" Target="/ppt/notesSlides/notesSlide2.xml" Id="R3b91980b2db243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e6a6ad3354519" /><Relationship Type="http://schemas.openxmlformats.org/officeDocument/2006/relationships/notesSlide" Target="/ppt/notesSlides/notesSlide3.xml" Id="Ra1e92c4f18734d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b8d7786654c69" /><Relationship Type="http://schemas.openxmlformats.org/officeDocument/2006/relationships/notesSlide" Target="/ppt/notesSlides/notesSlide4.xml" Id="R44d8d3a3676342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f6505eca2740fb" /><Relationship Type="http://schemas.openxmlformats.org/officeDocument/2006/relationships/image" Target="../media/preserved-image.png" Id="R1825b20fd5304e18" /><Relationship Type="http://schemas.openxmlformats.org/officeDocument/2006/relationships/image" Target="../media/preserved-image2.png" Id="R5545edbf933a4412" /><Relationship Type="http://schemas.openxmlformats.org/officeDocument/2006/relationships/image" Target="../media/preserved-image3.png" Id="R25a77e0efbe94ece" /><Relationship Type="http://schemas.openxmlformats.org/officeDocument/2006/relationships/notesSlide" Target="/ppt/notesSlides/notesSlide5.xml" Id="R966ca2ff525b47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3de6420ae24985" /><Relationship Type="http://schemas.openxmlformats.org/officeDocument/2006/relationships/image" Target="../media/preserved-image4.png" Id="Rb025d862cf884add" /><Relationship Type="http://schemas.openxmlformats.org/officeDocument/2006/relationships/notesSlide" Target="/ppt/notesSlides/notesSlide6.xml" Id="R4ea373efe21a4a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09ad4e085e47e4" /><Relationship Type="http://schemas.openxmlformats.org/officeDocument/2006/relationships/notesSlide" Target="/ppt/notesSlides/notesSlide7.xml" Id="R54c281bcf6624f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3b5091c004682" /><Relationship Type="http://schemas.openxmlformats.org/officeDocument/2006/relationships/image" Target="../media/preserved-image5.png" Id="R72bc4187fa5a45b1" /><Relationship Type="http://schemas.openxmlformats.org/officeDocument/2006/relationships/image" Target="../media/preserved-image6.png" Id="R06e8b07d7f7a49cf" /><Relationship Type="http://schemas.openxmlformats.org/officeDocument/2006/relationships/notesSlide" Target="/ppt/notesSlides/notesSlide8.xml" Id="R7150433a11354c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78fa9da6a14721" /><Relationship Type="http://schemas.openxmlformats.org/officeDocument/2006/relationships/chart" Target="/ppt/slides/charts/chart1.xml" Id="R52b32b7f04e246ad" /><Relationship Type="http://schemas.openxmlformats.org/officeDocument/2006/relationships/notesSlide" Target="/ppt/notesSlides/notesSlide9.xml" Id="R72e324a17a4d42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ec9256a0524589" /><Relationship Type="http://schemas.openxmlformats.org/officeDocument/2006/relationships/chart" Target="/ppt/slides/charts/chart2.xml" Id="R3c60422f5b3d4fb7" /><Relationship Type="http://schemas.openxmlformats.org/officeDocument/2006/relationships/chart" Target="/ppt/slides/charts/chart3.xml" Id="R58c01ec5a8e84496" /><Relationship Type="http://schemas.openxmlformats.org/officeDocument/2006/relationships/notesSlide" Target="/ppt/notesSlides/notesSlide10.xml" Id="R18cb5fa23c5a48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10dbe05e434f72" /><Relationship Type="http://schemas.openxmlformats.org/officeDocument/2006/relationships/image" Target="../media/preserved-image7.png" Id="Ra839dd5af3f446d1" /><Relationship Type="http://schemas.openxmlformats.org/officeDocument/2006/relationships/image" Target="../media/preserved-image8.png" Id="R72956f2079bd4cf5" /><Relationship Type="http://schemas.openxmlformats.org/officeDocument/2006/relationships/notesSlide" Target="/ppt/notesSlides/notesSlide11.xml" Id="Rf4fd76bf3b6044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7a5a79db44142" /><Relationship Type="http://schemas.openxmlformats.org/officeDocument/2006/relationships/chart" Target="/ppt/slides/charts/chart4.xml" Id="Rcd01684a84f4426c" /><Relationship Type="http://schemas.openxmlformats.org/officeDocument/2006/relationships/notesSlide" Target="/ppt/notesSlides/notesSlide12.xml" Id="R75ef1524ac2b45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7043ae0e9e4b6a" /><Relationship Type="http://schemas.openxmlformats.org/officeDocument/2006/relationships/notesSlide" Target="/ppt/notesSlides/notesSlide13.xml" Id="R7837024e8afe4a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7a353ab2b0475e" /><Relationship Type="http://schemas.openxmlformats.org/officeDocument/2006/relationships/image" Target="../media/preserved-image9.png" Id="Re6cdab410d5f46fb" /><Relationship Type="http://schemas.openxmlformats.org/officeDocument/2006/relationships/image" Target="../media/preserved-image10.png" Id="R65413979749f416e" /><Relationship Type="http://schemas.openxmlformats.org/officeDocument/2006/relationships/notesSlide" Target="/ppt/notesSlides/notesSlide14.xml" Id="Rcdfd757bea1c44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f02aa1f7024172" /><Relationship Type="http://schemas.openxmlformats.org/officeDocument/2006/relationships/notesSlide" Target="/ppt/notesSlides/notesSlide15.xml" Id="Rcaf43c862c5f46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14aaa4d7924998" /><Relationship Type="http://schemas.openxmlformats.org/officeDocument/2006/relationships/chart" Target="/ppt/slides/charts/chart5.xml" Id="Racc08373ec2343b4" /><Relationship Type="http://schemas.openxmlformats.org/officeDocument/2006/relationships/notesSlide" Target="/ppt/notesSlides/notesSlide16.xml" Id="R3a626f8adc3041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6809266f3c4e8b" /><Relationship Type="http://schemas.openxmlformats.org/officeDocument/2006/relationships/chart" Target="/ppt/slides/charts/chart6.xml" Id="R9ed3f0056ffe4d1f" /><Relationship Type="http://schemas.openxmlformats.org/officeDocument/2006/relationships/notesSlide" Target="/ppt/notesSlides/notesSlide17.xml" Id="R5e4754d125734b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49d192d9d34c81" /><Relationship Type="http://schemas.openxmlformats.org/officeDocument/2006/relationships/chart" Target="/ppt/slides/charts/chart7.xml" Id="R853e9f1ca09b4070" /><Relationship Type="http://schemas.openxmlformats.org/officeDocument/2006/relationships/notesSlide" Target="/ppt/notesSlides/notesSlide18.xml" Id="R07d1ddd02400420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a71bbeb6794241" /><Relationship Type="http://schemas.openxmlformats.org/officeDocument/2006/relationships/chart" Target="/ppt/slides/charts/chart8.xml" Id="R3e698be04125499d" /><Relationship Type="http://schemas.openxmlformats.org/officeDocument/2006/relationships/chart" Target="/ppt/slides/charts/chart9.xml" Id="R495d02b0f38f4eb1" /><Relationship Type="http://schemas.openxmlformats.org/officeDocument/2006/relationships/notesSlide" Target="/ppt/notesSlides/notesSlide19.xml" Id="Ra52fc9be57ca48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5e2350d5f34cf0" /><Relationship Type="http://schemas.openxmlformats.org/officeDocument/2006/relationships/notesSlide" Target="/ppt/notesSlides/notesSlide20.xml" Id="R6917dc367c5d45d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6685c2171143ed" /><Relationship Type="http://schemas.openxmlformats.org/officeDocument/2006/relationships/image" Target="/ppt/media/image11.png" Id="R160dbdf034dd4eb8" /><Relationship Type="http://schemas.openxmlformats.org/officeDocument/2006/relationships/image" Target="/ppt/media/image12.png" Id="R3fa4e37fd34a436c" /><Relationship Type="http://schemas.openxmlformats.org/officeDocument/2006/relationships/chart" Target="/ppt/slides/charts/chart10.xml" Id="R862125389cd94c97" /><Relationship Type="http://schemas.openxmlformats.org/officeDocument/2006/relationships/notesSlide" Target="/ppt/notesSlides/notesSlide21.xml" Id="R9513fef81f134a0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d42ecb053842d4" /><Relationship Type="http://schemas.openxmlformats.org/officeDocument/2006/relationships/chart" Target="/ppt/slides/charts/chart11.xml" Id="R8f8b5df09f8841fc" /><Relationship Type="http://schemas.openxmlformats.org/officeDocument/2006/relationships/notesSlide" Target="/ppt/notesSlides/notesSlide22.xml" Id="R700625485fe6453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42b2f653c244ff" /><Relationship Type="http://schemas.openxmlformats.org/officeDocument/2006/relationships/image" Target="/ppt/media/image13.png" Id="Rdbb156b3b929478e" /><Relationship Type="http://schemas.openxmlformats.org/officeDocument/2006/relationships/image" Target="/ppt/media/image14.png" Id="Rac22c9e3572943a9" /><Relationship Type="http://schemas.openxmlformats.org/officeDocument/2006/relationships/image" Target="/ppt/media/image15.png" Id="R26aaf4e5a4be4a6e" /><Relationship Type="http://schemas.openxmlformats.org/officeDocument/2006/relationships/notesSlide" Target="/ppt/notesSlides/notesSlide23.xml" Id="Rcc8a58c71afb4b4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d1958e7204939" /><Relationship Type="http://schemas.openxmlformats.org/officeDocument/2006/relationships/notesSlide" Target="/ppt/notesSlides/notesSlide24.xml" Id="R8453a07e12e0406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d5a449456946a6" /><Relationship Type="http://schemas.openxmlformats.org/officeDocument/2006/relationships/image" Target="/ppt/media/image16.png" Id="Rb1f75ccdec694584" /><Relationship Type="http://schemas.openxmlformats.org/officeDocument/2006/relationships/image" Target="/ppt/media/image17.png" Id="R1c6e9d4923804056" /><Relationship Type="http://schemas.openxmlformats.org/officeDocument/2006/relationships/image" Target="/ppt/media/image18.png" Id="R5a902af1defa4111" /><Relationship Type="http://schemas.openxmlformats.org/officeDocument/2006/relationships/notesSlide" Target="/ppt/notesSlides/notesSlide25.xml" Id="R3f0c04a5bcaa493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4c5b33f77147cf" /><Relationship Type="http://schemas.openxmlformats.org/officeDocument/2006/relationships/notesSlide" Target="/ppt/notesSlides/notesSlide26.xml" Id="Rdb0466aaa38b424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a14bcca9aa4ff6" /><Relationship Type="http://schemas.openxmlformats.org/officeDocument/2006/relationships/chart" Target="/ppt/slides/charts/chart12.xml" Id="R134520b1148a4a15" /><Relationship Type="http://schemas.openxmlformats.org/officeDocument/2006/relationships/notesSlide" Target="/ppt/notesSlides/notesSlide27.xml" Id="Rb50a463676434fb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c05967e7764777" /><Relationship Type="http://schemas.openxmlformats.org/officeDocument/2006/relationships/chart" Target="/ppt/slides/charts/chart13.xml" Id="Rc2ff8f15ace84052" /><Relationship Type="http://schemas.openxmlformats.org/officeDocument/2006/relationships/chart" Target="/ppt/slides/charts/chart14.xml" Id="R4a44a518f25a435c" /><Relationship Type="http://schemas.openxmlformats.org/officeDocument/2006/relationships/notesSlide" Target="/ppt/notesSlides/notesSlide28.xml" Id="R345d92578de7403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28928540864397" /><Relationship Type="http://schemas.openxmlformats.org/officeDocument/2006/relationships/chart" Target="/ppt/slides/charts/chart15.xml" Id="R8c1cedd4f41640c1" /><Relationship Type="http://schemas.openxmlformats.org/officeDocument/2006/relationships/notesSlide" Target="/ppt/notesSlides/notesSlide29.xml" Id="R6601e3440f504b9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f09a2a6c6e41a7" /><Relationship Type="http://schemas.openxmlformats.org/officeDocument/2006/relationships/notesSlide" Target="/ppt/notesSlides/notesSlide30.xml" Id="R0df4736aaf40492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3934f219704689" /><Relationship Type="http://schemas.openxmlformats.org/officeDocument/2006/relationships/notesSlide" Target="/ppt/notesSlides/notesSlide31.xml" Id="Rfa3815cd624e4ae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5e25af93e347dd" /><Relationship Type="http://schemas.openxmlformats.org/officeDocument/2006/relationships/notesSlide" Target="/ppt/notesSlides/notesSlide32.xml" Id="R170113ffbba342e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b526838fb4426e" /><Relationship Type="http://schemas.openxmlformats.org/officeDocument/2006/relationships/notesSlide" Target="/ppt/notesSlides/notesSlide33.xml" Id="R3d2cf35c207b44a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587bf3b041466b" /><Relationship Type="http://schemas.openxmlformats.org/officeDocument/2006/relationships/notesSlide" Target="/ppt/notesSlides/notesSlide34.xml" Id="R3a4b2679d1d448f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a29360857a43f8" /><Relationship Type="http://schemas.openxmlformats.org/officeDocument/2006/relationships/image" Target="../media/preserved-image12.png" Id="R40fbd96e9356499b" /><Relationship Type="http://schemas.openxmlformats.org/officeDocument/2006/relationships/image" Target="../media/preserved-image13.png" Id="R74a11148ceae4382" /><Relationship Type="http://schemas.openxmlformats.org/officeDocument/2006/relationships/image" Target="../media/preserved-image14.png" Id="R46059cd2a7d54beb" /><Relationship Type="http://schemas.openxmlformats.org/officeDocument/2006/relationships/notesSlide" Target="/ppt/notesSlides/notesSlide35.xml" Id="Rfcda125341bf477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303f4140e94e02" /><Relationship Type="http://schemas.openxmlformats.org/officeDocument/2006/relationships/image" Target="../media/preserved-image15.png" Id="R1767fdf8381b4476" /><Relationship Type="http://schemas.openxmlformats.org/officeDocument/2006/relationships/image" Target="../media/preserved-image16.png" Id="R035e722b192347ae" /><Relationship Type="http://schemas.openxmlformats.org/officeDocument/2006/relationships/image" Target="../media/preserved-image17.png" Id="Ra81985648f3b48e8" /><Relationship Type="http://schemas.openxmlformats.org/officeDocument/2006/relationships/notesSlide" Target="/ppt/notesSlides/notesSlide36.xml" Id="R3076596c90aa4c4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0188460f5f4d2e" /><Relationship Type="http://schemas.openxmlformats.org/officeDocument/2006/relationships/image" Target="../media/preserved-image18.png" Id="R75030d1fb7d24b65" /><Relationship Type="http://schemas.openxmlformats.org/officeDocument/2006/relationships/image" Target="../media/preserved-image19.png" Id="R3eb6dbe9393846ee" /><Relationship Type="http://schemas.openxmlformats.org/officeDocument/2006/relationships/image" Target="../media/preserved-image20.png" Id="R406fd8cdac8d4d86" /><Relationship Type="http://schemas.openxmlformats.org/officeDocument/2006/relationships/notesSlide" Target="/ppt/notesSlides/notesSlide37.xml" Id="Rf2f56f32ca8b425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5470dc57214d4b" /><Relationship Type="http://schemas.openxmlformats.org/officeDocument/2006/relationships/notesSlide" Target="/ppt/notesSlides/notesSlide38.xml" Id="Rd99b62853bb3437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20cf21c38448c1" /><Relationship Type="http://schemas.openxmlformats.org/officeDocument/2006/relationships/chart" Target="/ppt/slides/charts/chart16.xml" Id="Rb697ac64b2c54fa9" /><Relationship Type="http://schemas.openxmlformats.org/officeDocument/2006/relationships/notesSlide" Target="/ppt/notesSlides/notesSlide39.xml" Id="R0e4cd3c47e484c8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42c7107adc4c10" /><Relationship Type="http://schemas.openxmlformats.org/officeDocument/2006/relationships/chart" Target="/ppt/slides/charts/chart17.xml" Id="Rce233ea43e83487b" /><Relationship Type="http://schemas.openxmlformats.org/officeDocument/2006/relationships/notesSlide" Target="/ppt/notesSlides/notesSlide40.xml" Id="Rd46fd4abbea0488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7fccf237154e3f" /><Relationship Type="http://schemas.openxmlformats.org/officeDocument/2006/relationships/notesSlide" Target="/ppt/notesSlides/notesSlide41.xml" Id="Ra393957e7c344fa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1792c2c92d4ab7" /><Relationship Type="http://schemas.openxmlformats.org/officeDocument/2006/relationships/image" Target="/ppt/media/image28.png" Id="Rc2a717017e6447bc" /><Relationship Type="http://schemas.openxmlformats.org/officeDocument/2006/relationships/notesSlide" Target="/ppt/notesSlides/notesSlide42.xml" Id="Ra325a3884f61405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8ec01f9ee149fe" /><Relationship Type="http://schemas.openxmlformats.org/officeDocument/2006/relationships/hyperlink" Target="file:///Users/xuecheng/Downloads/%E8%A1%A5%E8%B4%A7%E9%A1%B9%E7%9B%AE_%E6%B1%87%E6%8A%A5%E4%B8%8E%E7%AD%94%E8%BE%A9%E5%8C%85(1)/%E8%A1%A5%E8%B4%A7%E5%8A%A8%E7%94%BBDemo.html" TargetMode="External" Id="Rccdcc5996bab4ec2" /><Relationship Type="http://schemas.openxmlformats.org/officeDocument/2006/relationships/notesSlide" Target="/ppt/notesSlides/notesSlide43.xml" Id="R6a84941e46d749c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a838efe30e48f1" /><Relationship Type="http://schemas.openxmlformats.org/officeDocument/2006/relationships/notesSlide" Target="/ppt/notesSlides/notesSlide44.xml" Id="R357d4fa57a9e474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平均期末总库存 / 万件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9283E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平均期末总库存</c:v>
          </c:tx>
          <c:spPr>
            <a:solidFill xmlns:a="http://schemas.openxmlformats.org/drawingml/2006/main">
              <a:srgbClr val="5546D9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Naive
R 98.26%   FR 99.00%</c:v>
                </c:pt>
                <c:pt idx="1">
                  <c:v>移动平均MA3
R 98.55%   FR 98.97%</c:v>
                </c:pt>
                <c:pt idx="2">
                  <c:v>指数平滑
R 96.44%   FR 98.82%</c:v>
                </c:pt>
                <c:pt idx="3">
                  <c:v>ARIMA
R 98.17%   FR 99.00%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142.6542</c:v>
                </c:pt>
                <c:pt idx="1">
                  <c:v>259.203542857</c:v>
                </c:pt>
                <c:pt idx="2">
                  <c:v>121.781539286</c:v>
                </c:pt>
                <c:pt idx="3">
                  <c:v>143.999921429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9283E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32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DA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80"/>
      </c:valAx>
      <c:spPr>
        <a:solidFill xmlns:a="http://schemas.openxmlformats.org/drawingml/2006/main">
          <a:srgbClr val="FFFDF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平均期末总库存 / 万件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29283E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平均库存</c:v>
          </c:tx>
          <c:spPr>
            <a:solidFill xmlns:a="http://schemas.openxmlformats.org/drawingml/2006/main">
              <a:srgbClr val="5546D9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线性回归</c:v>
                </c:pt>
                <c:pt idx="1">
                  <c:v>Ridge</c:v>
                </c:pt>
                <c:pt idx="2">
                  <c:v>随机森林</c:v>
                </c:pt>
                <c:pt idx="3">
                  <c:v>XGBoost</c:v>
                </c:pt>
                <c:pt idx="4">
                  <c:v>LightGBM</c:v>
                </c:pt>
                <c:pt idx="5">
                  <c:v>CatBoost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171.509617857</c:v>
                </c:pt>
                <c:pt idx="1">
                  <c:v>168.994207143</c:v>
                </c:pt>
                <c:pt idx="2">
                  <c:v>98.276803571</c:v>
                </c:pt>
                <c:pt idx="3">
                  <c:v>106.178303571</c:v>
                </c:pt>
                <c:pt idx="4">
                  <c:v>121.027939286</c:v>
                </c:pt>
                <c:pt idx="5">
                  <c:v>116.528064286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9283E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DA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DF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服务水平与Fill Rate / %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29283E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服务水平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1"/>
            <c:spPr>
              <a:solidFill xmlns:a="http://schemas.openxmlformats.org/drawingml/2006/main">
                <a:srgbClr val="5546D9"/>
              </a:solidFill>
            </c:spPr>
          </c:marker>
          <c:dLbls>
            <c:numFmt formatCode="0.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25">
                    <a:solidFill>
                      <a:srgbClr val="5546D9"/>
                    </a:solidFill>
                    <a:latin typeface="Hiragino Sans GB"/>
                    <a:ea typeface="Hiragino Sans GB"/>
                    <a:cs typeface="Hiragino Sans GB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随机森林</c:v>
                </c:pt>
                <c:pt idx="1">
                  <c:v>XGBoost</c:v>
                </c:pt>
                <c:pt idx="2">
                  <c:v>LightGBM</c:v>
                </c:pt>
                <c:pt idx="3">
                  <c:v>CatBoost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85.435714286</c:v>
                </c:pt>
                <c:pt idx="1">
                  <c:v>90.142261905</c:v>
                </c:pt>
                <c:pt idx="2">
                  <c:v>93.410714286</c:v>
                </c:pt>
                <c:pt idx="3">
                  <c:v>91.091071429</c:v>
                </c:pt>
              </c:numCache>
            </c:numRef>
          </c:val>
          <c:smooth val="0"/>
        </c:ser>
        <c:ser>
          <c:idx val="1"/>
          <c:order val="1"/>
          <c:tx>
            <c:v>Fill Rate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9487E8"/>
              </a:solidFill>
            </c:spPr>
          </c:marker>
          <c:dLbls>
            <c:numFmt formatCode="0.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25">
                    <a:solidFill>
                      <a:srgbClr val="29283E"/>
                    </a:solidFill>
                    <a:latin typeface="Hiragino Sans GB"/>
                    <a:ea typeface="Hiragino Sans GB"/>
                    <a:cs typeface="Hiragino Sans GB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Data'!$C$2:$C$5</c:f>
              <c:strCache>
                <c:ptCount val="4"/>
                <c:pt idx="0">
                  <c:v>随机森林</c:v>
                </c:pt>
                <c:pt idx="1">
                  <c:v>XGBoost</c:v>
                </c:pt>
                <c:pt idx="2">
                  <c:v>LightGBM</c:v>
                </c:pt>
                <c:pt idx="3">
                  <c:v>CatBoost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97.886079962</c:v>
                </c:pt>
                <c:pt idx="1">
                  <c:v>98.377321717</c:v>
                </c:pt>
                <c:pt idx="2">
                  <c:v>98.612749751</c:v>
                </c:pt>
                <c:pt idx="3">
                  <c:v>98.287642163</c:v>
                </c:pt>
              </c:numCache>
            </c:numRef>
          </c:val>
          <c:smooth val="0"/>
        </c:ser>
        <c:ser>
          <c:idx val="2"/>
          <c:order val="2"/>
          <c:tx>
            <c:v>95%参考</c:v>
          </c:tx>
          <c:spPr>
            <a:ln xmlns:a="http://schemas.openxmlformats.org/drawingml/2006/main" w="11430">
              <a:solidFill>
                <a:srgbClr val="946315"/>
              </a:solidFill>
              <a:prstDash val="dash"/>
            </a:ln>
          </c:spPr>
          <c:marker>
            <c:symbol val="none"/>
          </c:marker>
          <c:cat>
            <c:strRef>
              <c:f>'Chart Data'!$E$2:$E$5</c:f>
              <c:strCache>
                <c:ptCount val="4"/>
                <c:pt idx="0">
                  <c:v>随机森林</c:v>
                </c:pt>
                <c:pt idx="1">
                  <c:v>XGBoost</c:v>
                </c:pt>
                <c:pt idx="2">
                  <c:v>LightGBM</c:v>
                </c:pt>
                <c:pt idx="3">
                  <c:v>CatBoost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102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A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DF9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737186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平均期末总库存 / 万件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9283E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平均期末总库存</c:v>
          </c:tx>
          <c:spPr>
            <a:solidFill xmlns:a="http://schemas.openxmlformats.org/drawingml/2006/main">
              <a:srgbClr val="5546D9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LightGBM
R 93.41%   FR 98.61%</c:v>
                </c:pt>
                <c:pt idx="1">
                  <c:v>LightGBM–SPO
R 99.20%   FR 98.93%</c:v>
                </c:pt>
                <c:pt idx="2">
                  <c:v>直接决策LightGBM
R 99.46%   FR 99.04%</c:v>
                </c:pt>
                <c:pt idx="3">
                  <c:v>服务约束直接策略
R 97.53%   FR 97.42%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121.027939286</c:v>
                </c:pt>
                <c:pt idx="1">
                  <c:v>281.920242857</c:v>
                </c:pt>
                <c:pt idx="2">
                  <c:v>1153.184167857</c:v>
                </c:pt>
                <c:pt idx="3">
                  <c:v>157.916632143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9283E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14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DA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350"/>
      </c:valAx>
      <c:spPr>
        <a:solidFill xmlns:a="http://schemas.openxmlformats.org/drawingml/2006/main">
          <a:srgbClr val="FFFDF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平均期末总库存 / 万件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9283E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平均期末总库存</c:v>
          </c:tx>
          <c:spPr>
            <a:solidFill xmlns:a="http://schemas.openxmlformats.org/drawingml/2006/main">
              <a:srgbClr val="5546D9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NN内层（未DFL微调）
R 96.09%   FR 93.51%</c:v>
                </c:pt>
                <c:pt idx="1">
                  <c:v>改进DFL
R 95.26%   FR 91.39%</c:v>
                </c:pt>
                <c:pt idx="2">
                  <c:v>周转目标DFL
R 95.67%   FR 92.97%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108.026003571</c:v>
                </c:pt>
                <c:pt idx="1">
                  <c:v>90.391821429</c:v>
                </c:pt>
                <c:pt idx="2">
                  <c:v>89.809335714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9283E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DA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DF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平均期末总库存 / 万件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9283E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平均期末总库存</c:v>
          </c:tx>
          <c:spPr>
            <a:solidFill xmlns:a="http://schemas.openxmlformats.org/drawingml/2006/main">
              <a:srgbClr val="5546D9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周转目标DFL
R 95.67%   FR 92.97%</c:v>
                </c:pt>
                <c:pt idx="1">
                  <c:v>在线学习
R 92.65%   FR 92.95%</c:v>
                </c:pt>
                <c:pt idx="2">
                  <c:v>自适应场景MPC
R 92.18%   FR 90.45%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89.809335714</c:v>
                </c:pt>
                <c:pt idx="1">
                  <c:v>73.593957143</c:v>
                </c:pt>
                <c:pt idx="2">
                  <c:v>84.942732143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9283E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DA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30"/>
      </c:valAx>
      <c:spPr>
        <a:solidFill xmlns:a="http://schemas.openxmlformats.org/drawingml/2006/main">
          <a:srgbClr val="FFFDF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平均期末总库存 / 万件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9283E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平均期末总库存</c:v>
          </c:tx>
          <c:spPr>
            <a:solidFill xmlns:a="http://schemas.openxmlformats.org/drawingml/2006/main">
              <a:srgbClr val="5546D9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等权平均
R 96.42%   FR 98.55%</c:v>
                </c:pt>
                <c:pt idx="1">
                  <c:v>全局Stacking
R 96.62%   FR 98.73%</c:v>
                </c:pt>
                <c:pt idx="2">
                  <c:v>逐SKU收缩Stacking
R 96.63%   FR 98.73%</c:v>
                </c:pt>
                <c:pt idx="3">
                  <c:v>逐SKU硬选择
R 98.95%   FR 97.61%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202.856085714</c:v>
                </c:pt>
                <c:pt idx="1">
                  <c:v>145.247189286</c:v>
                </c:pt>
                <c:pt idx="2">
                  <c:v>145.295085714</c:v>
                </c:pt>
                <c:pt idx="3">
                  <c:v>453.819839286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9283E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55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DA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137.5"/>
      </c:valAx>
      <c:spPr>
        <a:solidFill xmlns:a="http://schemas.openxmlformats.org/drawingml/2006/main">
          <a:srgbClr val="FFFDF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累计服务水平 / %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9283E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改进DFL</c:v>
          </c:tx>
          <c:spPr>
            <a:ln xmlns:a="http://schemas.openxmlformats.org/drawingml/2006/main" w="28575">
              <a:solidFill>
                <a:srgbClr val="5546D9"/>
              </a:solidFill>
            </a:ln>
          </c:spPr>
          <c:marker>
            <c:symbol val="none"/>
          </c:marker>
          <c:cat>
            <c:numRef>
              <c:f>'Chart Data'!$A$2:$A$29</c:f>
              <c:numCache>
                <c:formatCode>General</c:formatCode>
                <c:ptCount val="2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</c:numCache>
            </c:numRef>
          </c:cat>
          <c:val>
            <c:numRef>
              <c:f>'Chart Data'!$B$2:$B$29</c:f>
              <c:numCache>
                <c:formatCode>0</c:formatCode>
                <c:ptCount val="28"/>
                <c:pt idx="0">
                  <c:v>89.283333333</c:v>
                </c:pt>
                <c:pt idx="1">
                  <c:v>94.625</c:v>
                </c:pt>
                <c:pt idx="2">
                  <c:v>96.222222222</c:v>
                </c:pt>
                <c:pt idx="3">
                  <c:v>97.158333333</c:v>
                </c:pt>
                <c:pt idx="4">
                  <c:v>97.31</c:v>
                </c:pt>
                <c:pt idx="5">
                  <c:v>97.305555556</c:v>
                </c:pt>
                <c:pt idx="6">
                  <c:v>97.457142857</c:v>
                </c:pt>
                <c:pt idx="7">
                  <c:v>97.5375</c:v>
                </c:pt>
                <c:pt idx="8">
                  <c:v>97.494444444</c:v>
                </c:pt>
                <c:pt idx="9">
                  <c:v>97.465</c:v>
                </c:pt>
                <c:pt idx="10">
                  <c:v>97.339393939</c:v>
                </c:pt>
                <c:pt idx="11">
                  <c:v>97.198611111</c:v>
                </c:pt>
                <c:pt idx="12">
                  <c:v>96.911538462</c:v>
                </c:pt>
                <c:pt idx="13">
                  <c:v>96.675</c:v>
                </c:pt>
                <c:pt idx="14">
                  <c:v>96.426666667</c:v>
                </c:pt>
                <c:pt idx="15">
                  <c:v>96.278125</c:v>
                </c:pt>
                <c:pt idx="16">
                  <c:v>96.117647059</c:v>
                </c:pt>
                <c:pt idx="17">
                  <c:v>95.939814815</c:v>
                </c:pt>
                <c:pt idx="18">
                  <c:v>95.807894737</c:v>
                </c:pt>
                <c:pt idx="19">
                  <c:v>95.724166667</c:v>
                </c:pt>
                <c:pt idx="20">
                  <c:v>95.64047619</c:v>
                </c:pt>
                <c:pt idx="21">
                  <c:v>95.578030303</c:v>
                </c:pt>
                <c:pt idx="22">
                  <c:v>95.5</c:v>
                </c:pt>
                <c:pt idx="23">
                  <c:v>95.435416667</c:v>
                </c:pt>
                <c:pt idx="24">
                  <c:v>95.385333333</c:v>
                </c:pt>
                <c:pt idx="25">
                  <c:v>95.349358974</c:v>
                </c:pt>
                <c:pt idx="26">
                  <c:v>95.291358025</c:v>
                </c:pt>
                <c:pt idx="27">
                  <c:v>95.25952381</c:v>
                </c:pt>
              </c:numCache>
            </c:numRef>
          </c:val>
          <c:smooth val="0"/>
        </c:ser>
        <c:ser>
          <c:idx val="1"/>
          <c:order val="1"/>
          <c:tx>
            <c:v>周转目标DFL</c:v>
          </c:tx>
          <c:spPr>
            <a:ln xmlns:a="http://schemas.openxmlformats.org/drawingml/2006/main" w="28575">
              <a:solidFill>
                <a:srgbClr val="9487E8"/>
              </a:solidFill>
            </a:ln>
          </c:spPr>
          <c:marker>
            <c:symbol val="none"/>
          </c:marker>
          <c:cat>
            <c:numRef>
              <c:f>'Chart Data'!$C$2:$C$29</c:f>
              <c:numCache>
                <c:formatCode>General</c:formatCode>
                <c:ptCount val="2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</c:numCache>
            </c:numRef>
          </c:cat>
          <c:val>
            <c:numRef>
              <c:f>'Chart Data'!$D$2:$D$29</c:f>
              <c:numCache>
                <c:formatCode>0</c:formatCode>
                <c:ptCount val="28"/>
                <c:pt idx="0">
                  <c:v>89.283333333</c:v>
                </c:pt>
                <c:pt idx="1">
                  <c:v>94.625</c:v>
                </c:pt>
                <c:pt idx="2">
                  <c:v>96.133333333</c:v>
                </c:pt>
                <c:pt idx="3">
                  <c:v>97.054166667</c:v>
                </c:pt>
                <c:pt idx="4">
                  <c:v>97.53</c:v>
                </c:pt>
                <c:pt idx="5">
                  <c:v>97.502777778</c:v>
                </c:pt>
                <c:pt idx="6">
                  <c:v>97.595238095</c:v>
                </c:pt>
                <c:pt idx="7">
                  <c:v>97.610416667</c:v>
                </c:pt>
                <c:pt idx="8">
                  <c:v>97.507407407</c:v>
                </c:pt>
                <c:pt idx="9">
                  <c:v>97.46</c:v>
                </c:pt>
                <c:pt idx="10">
                  <c:v>97.36969697</c:v>
                </c:pt>
                <c:pt idx="11">
                  <c:v>97.308333333</c:v>
                </c:pt>
                <c:pt idx="12">
                  <c:v>97.061538462</c:v>
                </c:pt>
                <c:pt idx="13">
                  <c:v>96.854761905</c:v>
                </c:pt>
                <c:pt idx="14">
                  <c:v>96.676666667</c:v>
                </c:pt>
                <c:pt idx="15">
                  <c:v>96.540625</c:v>
                </c:pt>
                <c:pt idx="16">
                  <c:v>96.424509804</c:v>
                </c:pt>
                <c:pt idx="17">
                  <c:v>96.32037037</c:v>
                </c:pt>
                <c:pt idx="18">
                  <c:v>96.215789474</c:v>
                </c:pt>
                <c:pt idx="19">
                  <c:v>96.138333333</c:v>
                </c:pt>
                <c:pt idx="20">
                  <c:v>96.052380952</c:v>
                </c:pt>
                <c:pt idx="21">
                  <c:v>95.985606061</c:v>
                </c:pt>
                <c:pt idx="22">
                  <c:v>95.914492754</c:v>
                </c:pt>
                <c:pt idx="23">
                  <c:v>95.852777778</c:v>
                </c:pt>
                <c:pt idx="24">
                  <c:v>95.801333333</c:v>
                </c:pt>
                <c:pt idx="25">
                  <c:v>95.758974359</c:v>
                </c:pt>
                <c:pt idx="26">
                  <c:v>95.714197531</c:v>
                </c:pt>
                <c:pt idx="27">
                  <c:v>95.668452381</c:v>
                </c:pt>
              </c:numCache>
            </c:numRef>
          </c:val>
          <c:smooth val="0"/>
        </c:ser>
        <c:ser>
          <c:idx val="2"/>
          <c:order val="2"/>
          <c:tx>
            <c:v>95%参考线</c:v>
          </c:tx>
          <c:spPr>
            <a:ln xmlns:a="http://schemas.openxmlformats.org/drawingml/2006/main" w="14288">
              <a:solidFill>
                <a:srgbClr val="946315"/>
              </a:solidFill>
              <a:prstDash val="dash"/>
            </a:ln>
          </c:spPr>
          <c:marker>
            <c:symbol val="none"/>
          </c:marker>
          <c:cat>
            <c:numRef>
              <c:f>'Chart Data'!$E$2:$E$29</c:f>
              <c:numCache>
                <c:formatCode>General</c:formatCode>
                <c:ptCount val="2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</c:numCache>
            </c:numRef>
          </c:cat>
          <c:val>
            <c:numRef>
              <c:f>'Chart Data'!$F$2:$F$29</c:f>
              <c:numCache>
                <c:formatCode>0</c:formatCode>
                <c:ptCount val="28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  <c:pt idx="12">
                  <c:v>95</c:v>
                </c:pt>
                <c:pt idx="13">
                  <c:v>95</c:v>
                </c:pt>
                <c:pt idx="14">
                  <c:v>95</c:v>
                </c:pt>
                <c:pt idx="15">
                  <c:v>95</c:v>
                </c:pt>
                <c:pt idx="16">
                  <c:v>95</c:v>
                </c:pt>
                <c:pt idx="17">
                  <c:v>95</c:v>
                </c:pt>
                <c:pt idx="18">
                  <c:v>95</c:v>
                </c:pt>
                <c:pt idx="19">
                  <c:v>95</c:v>
                </c:pt>
                <c:pt idx="20">
                  <c:v>95</c:v>
                </c:pt>
                <c:pt idx="21">
                  <c:v>95</c:v>
                </c:pt>
                <c:pt idx="22">
                  <c:v>95</c:v>
                </c:pt>
                <c:pt idx="23">
                  <c:v>95</c:v>
                </c:pt>
                <c:pt idx="24">
                  <c:v>95</c:v>
                </c:pt>
                <c:pt idx="25">
                  <c:v>95</c:v>
                </c:pt>
                <c:pt idx="26">
                  <c:v>95</c:v>
                </c:pt>
                <c:pt idx="27">
                  <c:v>95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Sans GB"/>
                    <a:ea typeface="Hiragino Sans GB"/>
                    <a:cs typeface="Hiragino Sans GB"/>
                  </a:rPr>
                  <a:t>测试周期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8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A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3"/>
      </c:valAx>
      <c:spPr>
        <a:solidFill xmlns:a="http://schemas.openxmlformats.org/drawingml/2006/main">
          <a:srgbClr val="FFFDF9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737186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累计Fill Rate / %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9283E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改进DFL</c:v>
          </c:tx>
          <c:spPr>
            <a:ln xmlns:a="http://schemas.openxmlformats.org/drawingml/2006/main" w="28575">
              <a:solidFill>
                <a:srgbClr val="5546D9"/>
              </a:solidFill>
            </a:ln>
          </c:spPr>
          <c:marker>
            <c:symbol val="none"/>
          </c:marker>
          <c:cat>
            <c:numRef>
              <c:f>'Chart Data'!$A$2:$A$29</c:f>
              <c:numCache>
                <c:formatCode>General</c:formatCode>
                <c:ptCount val="2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</c:numCache>
            </c:numRef>
          </c:cat>
          <c:val>
            <c:numRef>
              <c:f>'Chart Data'!$B$2:$B$29</c:f>
              <c:numCache>
                <c:formatCode>0</c:formatCode>
                <c:ptCount val="28"/>
                <c:pt idx="0">
                  <c:v>25.626293971</c:v>
                </c:pt>
                <c:pt idx="1">
                  <c:v>65.685896073</c:v>
                </c:pt>
                <c:pt idx="2">
                  <c:v>78.432494932</c:v>
                </c:pt>
                <c:pt idx="3">
                  <c:v>84.798623802</c:v>
                </c:pt>
                <c:pt idx="4">
                  <c:v>87.762327753</c:v>
                </c:pt>
                <c:pt idx="5">
                  <c:v>89.40723993</c:v>
                </c:pt>
                <c:pt idx="6">
                  <c:v>91.105007623</c:v>
                </c:pt>
                <c:pt idx="7">
                  <c:v>92.121645851</c:v>
                </c:pt>
                <c:pt idx="8">
                  <c:v>92.694631375</c:v>
                </c:pt>
                <c:pt idx="9">
                  <c:v>93.183422954</c:v>
                </c:pt>
                <c:pt idx="10">
                  <c:v>93.376037336</c:v>
                </c:pt>
                <c:pt idx="11">
                  <c:v>93.468464572</c:v>
                </c:pt>
                <c:pt idx="12">
                  <c:v>92.797852641</c:v>
                </c:pt>
                <c:pt idx="13">
                  <c:v>92.307585513</c:v>
                </c:pt>
                <c:pt idx="14">
                  <c:v>91.785290257</c:v>
                </c:pt>
                <c:pt idx="15">
                  <c:v>91.573150432</c:v>
                </c:pt>
                <c:pt idx="16">
                  <c:v>91.253400497</c:v>
                </c:pt>
                <c:pt idx="17">
                  <c:v>90.935208123</c:v>
                </c:pt>
                <c:pt idx="18">
                  <c:v>90.736614789</c:v>
                </c:pt>
                <c:pt idx="19">
                  <c:v>90.781259356</c:v>
                </c:pt>
                <c:pt idx="20">
                  <c:v>90.857788443</c:v>
                </c:pt>
                <c:pt idx="21">
                  <c:v>90.968468231</c:v>
                </c:pt>
                <c:pt idx="22">
                  <c:v>90.959332675</c:v>
                </c:pt>
                <c:pt idx="23">
                  <c:v>90.951900362</c:v>
                </c:pt>
                <c:pt idx="24">
                  <c:v>91.064038215</c:v>
                </c:pt>
                <c:pt idx="25">
                  <c:v>91.215635923</c:v>
                </c:pt>
                <c:pt idx="26">
                  <c:v>91.278574537</c:v>
                </c:pt>
                <c:pt idx="27">
                  <c:v>91.388216032</c:v>
                </c:pt>
              </c:numCache>
            </c:numRef>
          </c:val>
          <c:smooth val="0"/>
        </c:ser>
        <c:ser>
          <c:idx val="1"/>
          <c:order val="1"/>
          <c:tx>
            <c:v>周转目标DFL</c:v>
          </c:tx>
          <c:spPr>
            <a:ln xmlns:a="http://schemas.openxmlformats.org/drawingml/2006/main" w="28575">
              <a:solidFill>
                <a:srgbClr val="9487E8"/>
              </a:solidFill>
            </a:ln>
          </c:spPr>
          <c:marker>
            <c:symbol val="none"/>
          </c:marker>
          <c:cat>
            <c:numRef>
              <c:f>'Chart Data'!$C$2:$C$29</c:f>
              <c:numCache>
                <c:formatCode>General</c:formatCode>
                <c:ptCount val="2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</c:numCache>
            </c:numRef>
          </c:cat>
          <c:val>
            <c:numRef>
              <c:f>'Chart Data'!$D$2:$D$29</c:f>
              <c:numCache>
                <c:formatCode>0</c:formatCode>
                <c:ptCount val="28"/>
                <c:pt idx="0">
                  <c:v>25.626293971</c:v>
                </c:pt>
                <c:pt idx="1">
                  <c:v>65.678930905</c:v>
                </c:pt>
                <c:pt idx="2">
                  <c:v>78.171928982</c:v>
                </c:pt>
                <c:pt idx="3">
                  <c:v>84.535678049</c:v>
                </c:pt>
                <c:pt idx="4">
                  <c:v>88.201445375</c:v>
                </c:pt>
                <c:pt idx="5">
                  <c:v>89.668831365</c:v>
                </c:pt>
                <c:pt idx="6">
                  <c:v>91.066685798</c:v>
                </c:pt>
                <c:pt idx="7">
                  <c:v>91.969586981</c:v>
                </c:pt>
                <c:pt idx="8">
                  <c:v>92.337304204</c:v>
                </c:pt>
                <c:pt idx="9">
                  <c:v>92.807179008</c:v>
                </c:pt>
                <c:pt idx="10">
                  <c:v>93.06159378</c:v>
                </c:pt>
                <c:pt idx="11">
                  <c:v>93.355840255</c:v>
                </c:pt>
                <c:pt idx="12">
                  <c:v>93.197716527</c:v>
                </c:pt>
                <c:pt idx="13">
                  <c:v>92.990945685</c:v>
                </c:pt>
                <c:pt idx="14">
                  <c:v>92.825040253</c:v>
                </c:pt>
                <c:pt idx="15">
                  <c:v>92.799855429</c:v>
                </c:pt>
                <c:pt idx="16">
                  <c:v>92.730198807</c:v>
                </c:pt>
                <c:pt idx="17">
                  <c:v>92.703973496</c:v>
                </c:pt>
                <c:pt idx="18">
                  <c:v>92.685921115</c:v>
                </c:pt>
                <c:pt idx="19">
                  <c:v>92.714948023</c:v>
                </c:pt>
                <c:pt idx="20">
                  <c:v>92.768347008</c:v>
                </c:pt>
                <c:pt idx="21">
                  <c:v>92.790267818</c:v>
                </c:pt>
                <c:pt idx="22">
                  <c:v>92.800863493</c:v>
                </c:pt>
                <c:pt idx="23">
                  <c:v>92.801270689</c:v>
                </c:pt>
                <c:pt idx="24">
                  <c:v>92.835222286</c:v>
                </c:pt>
                <c:pt idx="25">
                  <c:v>92.899488759</c:v>
                </c:pt>
                <c:pt idx="26">
                  <c:v>92.94206836</c:v>
                </c:pt>
                <c:pt idx="27">
                  <c:v>92.971328929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Sans GB"/>
                    <a:ea typeface="Hiragino Sans GB"/>
                    <a:cs typeface="Hiragino Sans GB"/>
                  </a:rPr>
                  <a:t>测试周期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A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DF9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737186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原始实验：不同跨度的WAPE / %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29283E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WAPE</c:v>
          </c:tx>
          <c:spPr>
            <a:ln xmlns:a="http://schemas.openxmlformats.org/drawingml/2006/main" w="28575">
              <a:solidFill>
                <a:srgbClr val="147B70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147B70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1期</c:v>
                </c:pt>
                <c:pt idx="1">
                  <c:v>2期</c:v>
                </c:pt>
                <c:pt idx="2">
                  <c:v>3期</c:v>
                </c:pt>
                <c:pt idx="3">
                  <c:v>4期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14.116755771</c:v>
                </c:pt>
                <c:pt idx="1">
                  <c:v>17.566737698</c:v>
                </c:pt>
                <c:pt idx="2">
                  <c:v>20.304369496</c:v>
                </c:pt>
                <c:pt idx="3">
                  <c:v>22.593944059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9283E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A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DF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原始数据画像 / %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29283E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爆品</c:v>
          </c:tx>
          <c:spPr>
            <a:solidFill xmlns:a="http://schemas.openxmlformats.org/drawingml/2006/main">
              <a:srgbClr val="147B70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SKU 数量占比</c:v>
                </c:pt>
                <c:pt idx="1">
                  <c:v>实际需求占比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8</c:v>
                </c:pt>
                <c:pt idx="1">
                  <c:v>79.995362207</c:v>
                </c:pt>
              </c:numCache>
            </c:numRef>
          </c:val>
        </c:ser>
        <c:ser>
          <c:idx val="1"/>
          <c:order val="1"/>
          <c:tx>
            <c:v>长尾品</c:v>
          </c:tx>
          <c:spPr>
            <a:solidFill xmlns:a="http://schemas.openxmlformats.org/drawingml/2006/main">
              <a:srgbClr val="72B6A8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SKU 数量占比</c:v>
                </c:pt>
                <c:pt idx="1">
                  <c:v>实际需求占比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92</c:v>
                </c:pt>
                <c:pt idx="1">
                  <c:v>20.004637793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FFFDF9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A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DF9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737186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平均期末总库存 / 万件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9283E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平均期末总库存</c:v>
          </c:tx>
          <c:spPr>
            <a:solidFill xmlns:a="http://schemas.openxmlformats.org/drawingml/2006/main">
              <a:srgbClr val="147B70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特征聚类DRO
R 95.07%   FR 98.94%</c:v>
                </c:pt>
                <c:pt idx="1">
                  <c:v>不分组DRO
R 95.09%   FR 98.98%</c:v>
                </c:pt>
                <c:pt idx="2">
                  <c:v>爆品/长尾DRO
R 95.14%   FR 98.95%</c:v>
                </c:pt>
                <c:pt idx="3">
                  <c:v>传统(s,S)
R 95.23%   FR 98.90%</c:v>
                </c:pt>
                <c:pt idx="4">
                  <c:v>零半径经验模型
R 95.34%   FR 98.93%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178.013796429</c:v>
                </c:pt>
                <c:pt idx="1">
                  <c:v>191.960735714</c:v>
                </c:pt>
                <c:pt idx="2">
                  <c:v>179.556514286</c:v>
                </c:pt>
                <c:pt idx="3">
                  <c:v>166.680767857</c:v>
                </c:pt>
                <c:pt idx="4">
                  <c:v>172.279532143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9283E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24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DA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60"/>
      </c:valAx>
      <c:spPr>
        <a:solidFill xmlns:a="http://schemas.openxmlformats.org/drawingml/2006/main">
          <a:srgbClr val="FFFDF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累计服务水平 / %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9283E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爆品/长尾DRO</c:v>
          </c:tx>
          <c:spPr>
            <a:ln xmlns:a="http://schemas.openxmlformats.org/drawingml/2006/main" w="28575">
              <a:solidFill>
                <a:srgbClr val="147B70"/>
              </a:solidFill>
            </a:ln>
          </c:spPr>
          <c:marker>
            <c:symbol val="none"/>
          </c:marker>
          <c:cat>
            <c:numRef>
              <c:f>'Chart Data'!$A$2:$A$29</c:f>
              <c:numCache>
                <c:formatCode>General</c:formatCode>
                <c:ptCount val="2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</c:numCache>
            </c:numRef>
          </c:cat>
          <c:val>
            <c:numRef>
              <c:f>'Chart Data'!$B$2:$B$29</c:f>
              <c:numCache>
                <c:formatCode>0</c:formatCode>
                <c:ptCount val="28"/>
                <c:pt idx="0">
                  <c:v>89.283333333</c:v>
                </c:pt>
                <c:pt idx="1">
                  <c:v>91.575</c:v>
                </c:pt>
                <c:pt idx="2">
                  <c:v>90.577777778</c:v>
                </c:pt>
                <c:pt idx="3">
                  <c:v>89.033333333</c:v>
                </c:pt>
                <c:pt idx="4">
                  <c:v>88.226666667</c:v>
                </c:pt>
                <c:pt idx="5">
                  <c:v>88.183333333</c:v>
                </c:pt>
                <c:pt idx="6">
                  <c:v>88.383333333</c:v>
                </c:pt>
                <c:pt idx="7">
                  <c:v>88.766666667</c:v>
                </c:pt>
                <c:pt idx="8">
                  <c:v>89.103703704</c:v>
                </c:pt>
                <c:pt idx="9">
                  <c:v>89.591666667</c:v>
                </c:pt>
                <c:pt idx="10">
                  <c:v>90.086363636</c:v>
                </c:pt>
                <c:pt idx="11">
                  <c:v>90.55</c:v>
                </c:pt>
                <c:pt idx="12">
                  <c:v>90.980769231</c:v>
                </c:pt>
                <c:pt idx="13">
                  <c:v>91.419047619</c:v>
                </c:pt>
                <c:pt idx="14">
                  <c:v>91.825555556</c:v>
                </c:pt>
                <c:pt idx="15">
                  <c:v>92.205208333</c:v>
                </c:pt>
                <c:pt idx="16">
                  <c:v>92.546078431</c:v>
                </c:pt>
                <c:pt idx="17">
                  <c:v>92.875</c:v>
                </c:pt>
                <c:pt idx="18">
                  <c:v>93.165789474</c:v>
                </c:pt>
                <c:pt idx="19">
                  <c:v>93.444166667</c:v>
                </c:pt>
                <c:pt idx="20">
                  <c:v>93.71031746</c:v>
                </c:pt>
                <c:pt idx="21">
                  <c:v>93.960606061</c:v>
                </c:pt>
                <c:pt idx="22">
                  <c:v>94.197101449</c:v>
                </c:pt>
                <c:pt idx="23">
                  <c:v>94.409722222</c:v>
                </c:pt>
                <c:pt idx="24">
                  <c:v>94.612666667</c:v>
                </c:pt>
                <c:pt idx="25">
                  <c:v>94.804487179</c:v>
                </c:pt>
                <c:pt idx="26">
                  <c:v>94.977777778</c:v>
                </c:pt>
                <c:pt idx="27">
                  <c:v>95.14047619</c:v>
                </c:pt>
              </c:numCache>
            </c:numRef>
          </c:val>
          <c:smooth val="0"/>
        </c:ser>
        <c:ser>
          <c:idx val="1"/>
          <c:order val="1"/>
          <c:tx>
            <c:v>传统(s,S)</c:v>
          </c:tx>
          <c:spPr>
            <a:ln xmlns:a="http://schemas.openxmlformats.org/drawingml/2006/main" w="28575">
              <a:solidFill>
                <a:srgbClr val="72B6A8"/>
              </a:solidFill>
            </a:ln>
          </c:spPr>
          <c:marker>
            <c:symbol val="none"/>
          </c:marker>
          <c:cat>
            <c:numRef>
              <c:f>'Chart Data'!$C$2:$C$29</c:f>
              <c:numCache>
                <c:formatCode>General</c:formatCode>
                <c:ptCount val="2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</c:numCache>
            </c:numRef>
          </c:cat>
          <c:val>
            <c:numRef>
              <c:f>'Chart Data'!$D$2:$D$29</c:f>
              <c:numCache>
                <c:formatCode>0</c:formatCode>
                <c:ptCount val="28"/>
                <c:pt idx="0">
                  <c:v>89.283333333</c:v>
                </c:pt>
                <c:pt idx="1">
                  <c:v>91.291666667</c:v>
                </c:pt>
                <c:pt idx="2">
                  <c:v>90.211111111</c:v>
                </c:pt>
                <c:pt idx="3">
                  <c:v>88.791666667</c:v>
                </c:pt>
                <c:pt idx="4">
                  <c:v>88.12</c:v>
                </c:pt>
                <c:pt idx="5">
                  <c:v>88.194444444</c:v>
                </c:pt>
                <c:pt idx="6">
                  <c:v>88.485714286</c:v>
                </c:pt>
                <c:pt idx="7">
                  <c:v>88.885416667</c:v>
                </c:pt>
                <c:pt idx="8">
                  <c:v>89.272222222</c:v>
                </c:pt>
                <c:pt idx="9">
                  <c:v>89.753333333</c:v>
                </c:pt>
                <c:pt idx="10">
                  <c:v>90.265151515</c:v>
                </c:pt>
                <c:pt idx="11">
                  <c:v>90.731944444</c:v>
                </c:pt>
                <c:pt idx="12">
                  <c:v>91.157692308</c:v>
                </c:pt>
                <c:pt idx="13">
                  <c:v>91.589285714</c:v>
                </c:pt>
                <c:pt idx="14">
                  <c:v>91.986666667</c:v>
                </c:pt>
                <c:pt idx="15">
                  <c:v>92.365625</c:v>
                </c:pt>
                <c:pt idx="16">
                  <c:v>92.7</c:v>
                </c:pt>
                <c:pt idx="17">
                  <c:v>93.016666667</c:v>
                </c:pt>
                <c:pt idx="18">
                  <c:v>93.306140351</c:v>
                </c:pt>
                <c:pt idx="19">
                  <c:v>93.574166667</c:v>
                </c:pt>
                <c:pt idx="20">
                  <c:v>93.833333333</c:v>
                </c:pt>
                <c:pt idx="21">
                  <c:v>94.08030303</c:v>
                </c:pt>
                <c:pt idx="22">
                  <c:v>94.307971014</c:v>
                </c:pt>
                <c:pt idx="23">
                  <c:v>94.513194444</c:v>
                </c:pt>
                <c:pt idx="24">
                  <c:v>94.716</c:v>
                </c:pt>
                <c:pt idx="25">
                  <c:v>94.900641026</c:v>
                </c:pt>
                <c:pt idx="26">
                  <c:v>95.068518519</c:v>
                </c:pt>
                <c:pt idx="27">
                  <c:v>95.226190476</c:v>
                </c:pt>
              </c:numCache>
            </c:numRef>
          </c:val>
          <c:smooth val="0"/>
        </c:ser>
        <c:ser>
          <c:idx val="2"/>
          <c:order val="2"/>
          <c:tx>
            <c:v>95%参考线</c:v>
          </c:tx>
          <c:spPr>
            <a:ln xmlns:a="http://schemas.openxmlformats.org/drawingml/2006/main" w="14288">
              <a:solidFill>
                <a:srgbClr val="946315"/>
              </a:solidFill>
              <a:prstDash val="dash"/>
            </a:ln>
          </c:spPr>
          <c:marker>
            <c:symbol val="none"/>
          </c:marker>
          <c:cat>
            <c:numRef>
              <c:f>'Chart Data'!$E$2:$E$29</c:f>
              <c:numCache>
                <c:formatCode>General</c:formatCode>
                <c:ptCount val="2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</c:numCache>
            </c:numRef>
          </c:cat>
          <c:val>
            <c:numRef>
              <c:f>'Chart Data'!$F$2:$F$29</c:f>
              <c:numCache>
                <c:formatCode>0</c:formatCode>
                <c:ptCount val="28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  <c:pt idx="12">
                  <c:v>95</c:v>
                </c:pt>
                <c:pt idx="13">
                  <c:v>95</c:v>
                </c:pt>
                <c:pt idx="14">
                  <c:v>95</c:v>
                </c:pt>
                <c:pt idx="15">
                  <c:v>95</c:v>
                </c:pt>
                <c:pt idx="16">
                  <c:v>95</c:v>
                </c:pt>
                <c:pt idx="17">
                  <c:v>95</c:v>
                </c:pt>
                <c:pt idx="18">
                  <c:v>95</c:v>
                </c:pt>
                <c:pt idx="19">
                  <c:v>95</c:v>
                </c:pt>
                <c:pt idx="20">
                  <c:v>95</c:v>
                </c:pt>
                <c:pt idx="21">
                  <c:v>95</c:v>
                </c:pt>
                <c:pt idx="22">
                  <c:v>95</c:v>
                </c:pt>
                <c:pt idx="23">
                  <c:v>95</c:v>
                </c:pt>
                <c:pt idx="24">
                  <c:v>95</c:v>
                </c:pt>
                <c:pt idx="25">
                  <c:v>95</c:v>
                </c:pt>
                <c:pt idx="26">
                  <c:v>95</c:v>
                </c:pt>
                <c:pt idx="27">
                  <c:v>95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Sans GB"/>
                    <a:ea typeface="Hiragino Sans GB"/>
                    <a:cs typeface="Hiragino Sans GB"/>
                  </a:rPr>
                  <a:t>测试周期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8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A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DF9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737186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累计Fill Rate / %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9283E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爆品/长尾DRO</c:v>
          </c:tx>
          <c:spPr>
            <a:ln xmlns:a="http://schemas.openxmlformats.org/drawingml/2006/main" w="28575">
              <a:solidFill>
                <a:srgbClr val="147B70"/>
              </a:solidFill>
            </a:ln>
          </c:spPr>
          <c:marker>
            <c:symbol val="none"/>
          </c:marker>
          <c:cat>
            <c:numRef>
              <c:f>'Chart Data'!$A$2:$A$29</c:f>
              <c:numCache>
                <c:formatCode>General</c:formatCode>
                <c:ptCount val="2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</c:numCache>
            </c:numRef>
          </c:cat>
          <c:val>
            <c:numRef>
              <c:f>'Chart Data'!$B$2:$B$29</c:f>
              <c:numCache>
                <c:formatCode>0</c:formatCode>
                <c:ptCount val="28"/>
                <c:pt idx="0">
                  <c:v>25.626293971</c:v>
                </c:pt>
                <c:pt idx="1">
                  <c:v>65.283848584</c:v>
                </c:pt>
                <c:pt idx="2">
                  <c:v>78.07512507</c:v>
                </c:pt>
                <c:pt idx="3">
                  <c:v>84.067631082</c:v>
                </c:pt>
                <c:pt idx="4">
                  <c:v>87.701603907</c:v>
                </c:pt>
                <c:pt idx="5">
                  <c:v>90.110166894</c:v>
                </c:pt>
                <c:pt idx="6">
                  <c:v>91.826417626</c:v>
                </c:pt>
                <c:pt idx="7">
                  <c:v>93.086626152</c:v>
                </c:pt>
                <c:pt idx="8">
                  <c:v>94.094725251</c:v>
                </c:pt>
                <c:pt idx="9">
                  <c:v>94.868395228</c:v>
                </c:pt>
                <c:pt idx="10">
                  <c:v>95.513542524</c:v>
                </c:pt>
                <c:pt idx="11">
                  <c:v>96.043833774</c:v>
                </c:pt>
                <c:pt idx="12">
                  <c:v>96.477095328</c:v>
                </c:pt>
                <c:pt idx="13">
                  <c:v>96.842177586</c:v>
                </c:pt>
                <c:pt idx="14">
                  <c:v>97.153015621</c:v>
                </c:pt>
                <c:pt idx="15">
                  <c:v>97.416221183</c:v>
                </c:pt>
                <c:pt idx="16">
                  <c:v>97.647409737</c:v>
                </c:pt>
                <c:pt idx="17">
                  <c:v>97.84952804</c:v>
                </c:pt>
                <c:pt idx="18">
                  <c:v>98.02535891</c:v>
                </c:pt>
                <c:pt idx="19">
                  <c:v>98.179408047</c:v>
                </c:pt>
                <c:pt idx="20">
                  <c:v>98.315371503</c:v>
                </c:pt>
                <c:pt idx="21">
                  <c:v>98.435373379</c:v>
                </c:pt>
                <c:pt idx="22">
                  <c:v>98.544341089</c:v>
                </c:pt>
                <c:pt idx="23">
                  <c:v>98.641894448</c:v>
                </c:pt>
                <c:pt idx="24">
                  <c:v>98.73040816</c:v>
                </c:pt>
                <c:pt idx="25">
                  <c:v>98.810021521</c:v>
                </c:pt>
                <c:pt idx="26">
                  <c:v>98.881917089</c:v>
                </c:pt>
                <c:pt idx="27">
                  <c:v>98.947690929</c:v>
                </c:pt>
              </c:numCache>
            </c:numRef>
          </c:val>
          <c:smooth val="0"/>
        </c:ser>
        <c:ser>
          <c:idx val="1"/>
          <c:order val="1"/>
          <c:tx>
            <c:v>传统(s,S)</c:v>
          </c:tx>
          <c:spPr>
            <a:ln xmlns:a="http://schemas.openxmlformats.org/drawingml/2006/main" w="28575">
              <a:solidFill>
                <a:srgbClr val="72B6A8"/>
              </a:solidFill>
            </a:ln>
          </c:spPr>
          <c:marker>
            <c:symbol val="none"/>
          </c:marker>
          <c:cat>
            <c:numRef>
              <c:f>'Chart Data'!$C$2:$C$29</c:f>
              <c:numCache>
                <c:formatCode>General</c:formatCode>
                <c:ptCount val="2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</c:numCache>
            </c:numRef>
          </c:cat>
          <c:val>
            <c:numRef>
              <c:f>'Chart Data'!$D$2:$D$29</c:f>
              <c:numCache>
                <c:formatCode>0</c:formatCode>
                <c:ptCount val="28"/>
                <c:pt idx="0">
                  <c:v>25.626293971</c:v>
                </c:pt>
                <c:pt idx="1">
                  <c:v>65.139422448</c:v>
                </c:pt>
                <c:pt idx="2">
                  <c:v>77.90334476</c:v>
                </c:pt>
                <c:pt idx="3">
                  <c:v>83.878950506</c:v>
                </c:pt>
                <c:pt idx="4">
                  <c:v>87.512887196</c:v>
                </c:pt>
                <c:pt idx="5">
                  <c:v>89.904400495</c:v>
                </c:pt>
                <c:pt idx="6">
                  <c:v>91.615783747</c:v>
                </c:pt>
                <c:pt idx="7">
                  <c:v>92.881566573</c:v>
                </c:pt>
                <c:pt idx="8">
                  <c:v>93.895141001</c:v>
                </c:pt>
                <c:pt idx="9">
                  <c:v>94.672703886</c:v>
                </c:pt>
                <c:pt idx="10">
                  <c:v>95.340094543</c:v>
                </c:pt>
                <c:pt idx="11">
                  <c:v>95.890250499</c:v>
                </c:pt>
                <c:pt idx="12">
                  <c:v>96.336290085</c:v>
                </c:pt>
                <c:pt idx="13">
                  <c:v>96.711479067</c:v>
                </c:pt>
                <c:pt idx="14">
                  <c:v>97.031622519</c:v>
                </c:pt>
                <c:pt idx="15">
                  <c:v>97.302560049</c:v>
                </c:pt>
                <c:pt idx="16">
                  <c:v>97.542663955</c:v>
                </c:pt>
                <c:pt idx="17">
                  <c:v>97.75314777</c:v>
                </c:pt>
                <c:pt idx="18">
                  <c:v>97.936882537</c:v>
                </c:pt>
                <c:pt idx="19">
                  <c:v>98.097728584</c:v>
                </c:pt>
                <c:pt idx="20">
                  <c:v>98.239813052</c:v>
                </c:pt>
                <c:pt idx="21">
                  <c:v>98.365038631</c:v>
                </c:pt>
                <c:pt idx="22">
                  <c:v>98.478159169</c:v>
                </c:pt>
                <c:pt idx="23">
                  <c:v>98.578393413</c:v>
                </c:pt>
                <c:pt idx="24">
                  <c:v>98.670710501</c:v>
                </c:pt>
                <c:pt idx="25">
                  <c:v>98.753452678</c:v>
                </c:pt>
                <c:pt idx="26">
                  <c:v>98.828810538</c:v>
                </c:pt>
                <c:pt idx="27">
                  <c:v>98.897593343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Sans GB"/>
                    <a:ea typeface="Hiragino Sans GB"/>
                    <a:cs typeface="Hiragino Sans GB"/>
                  </a:rPr>
                  <a:t>测试周期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A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DF9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737186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95%参考线</c:v>
          </c:tx>
          <c:spPr>
            <a:ln xmlns:a="http://schemas.openxmlformats.org/drawingml/2006/main" w="14288">
              <a:solidFill>
                <a:srgbClr val="946315"/>
              </a:solidFill>
              <a:prstDash val="dash"/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0.23</c:v>
                </c:pt>
                <c:pt idx="1">
                  <c:v>0.65</c:v>
                </c:pt>
              </c:numCache>
            </c:numRef>
          </c:xVal>
          <c:yVal>
            <c:numRef>
              <c:f>'Chart Data'!$B$2:$B$3</c:f>
              <c:numCache>
                <c:formatCode>0.0</c:formatCode>
                <c:ptCount val="2"/>
                <c:pt idx="0">
                  <c:v>95</c:v>
                </c:pt>
                <c:pt idx="1">
                  <c:v>95</c:v>
                </c:pt>
              </c:numCache>
            </c:numRef>
          </c:yVal>
        </c:ser>
        <c:ser>
          <c:idx val="1"/>
          <c:order val="1"/>
          <c:tx>
            <c:v>改进DFL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1"/>
            <c:spPr>
              <a:solidFill xmlns:a="http://schemas.openxmlformats.org/drawingml/2006/main">
                <a:srgbClr val="5546D9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5546D9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>改进DFL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5546D9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dLblPos val="r"/>
              <c:showVal val="0"/>
            </c:dLbl>
          </c:dLbls>
          <c:xVal>
            <c:numRef>
              <c:f>'Chart Data'!$C$2:$C$2</c:f>
              <c:numCache>
                <c:formatCode>General</c:formatCode>
                <c:ptCount val="1"/>
                <c:pt idx="0">
                  <c:v>0.279772152</c:v>
                </c:pt>
              </c:numCache>
            </c:numRef>
          </c:xVal>
          <c:yVal>
            <c:numRef>
              <c:f>'Chart Data'!$D$2:$D$2</c:f>
              <c:numCache>
                <c:formatCode>0.0</c:formatCode>
                <c:ptCount val="1"/>
                <c:pt idx="0">
                  <c:v>95.25952381</c:v>
                </c:pt>
              </c:numCache>
            </c:numRef>
          </c:yVal>
        </c:ser>
        <c:ser>
          <c:idx val="2"/>
          <c:order val="2"/>
          <c:tx>
            <c:v>周转目标DFL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1"/>
            <c:spPr>
              <a:solidFill xmlns:a="http://schemas.openxmlformats.org/drawingml/2006/main">
                <a:srgbClr val="5546D9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5546D9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>周转目标DFL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5546D9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dLblPos val="r"/>
              <c:showVal val="0"/>
            </c:dLbl>
          </c:dLbls>
          <c:xVal>
            <c:numRef>
              <c:f>'Chart Data'!$E$2:$E$2</c:f>
              <c:numCache>
                <c:formatCode>General</c:formatCode>
                <c:ptCount val="1"/>
                <c:pt idx="0">
                  <c:v>0.277969298</c:v>
                </c:pt>
              </c:numCache>
            </c:numRef>
          </c:xVal>
          <c:yVal>
            <c:numRef>
              <c:f>'Chart Data'!$F$2:$F$2</c:f>
              <c:numCache>
                <c:formatCode>0.0</c:formatCode>
                <c:ptCount val="1"/>
                <c:pt idx="0">
                  <c:v>95.668452381</c:v>
                </c:pt>
              </c:numCache>
            </c:numRef>
          </c:yVal>
        </c:ser>
        <c:ser>
          <c:idx val="3"/>
          <c:order val="3"/>
          <c:tx>
            <c:v>NN内层（未DFL微调）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1"/>
            <c:spPr>
              <a:solidFill xmlns:a="http://schemas.openxmlformats.org/drawingml/2006/main">
                <a:srgbClr val="5546D9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5546D9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>未微调内层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5546D9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dLblPos val="r"/>
              <c:showVal val="0"/>
            </c:dLbl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0.334351792</c:v>
                </c:pt>
              </c:numCache>
            </c:numRef>
          </c:xVal>
          <c:yVal>
            <c:numRef>
              <c:f>'Chart Data'!$H$2:$H$2</c:f>
              <c:numCache>
                <c:formatCode>0.0</c:formatCode>
                <c:ptCount val="1"/>
                <c:pt idx="0">
                  <c:v>96.085119048</c:v>
                </c:pt>
              </c:numCache>
            </c:numRef>
          </c:yVal>
        </c:ser>
        <c:ser>
          <c:idx val="4"/>
          <c:order val="4"/>
          <c:tx>
            <c:v>传统(s,S)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147B7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solidFill>
                          <a:srgbClr val="147B70"/>
                        </a:solidFill>
                        <a:latin typeface="Hiragino Sans GB"/>
                        <a:ea typeface="Hiragino Sans GB"/>
                        <a:cs typeface="Hiragino Sans GB"/>
                      </a:rPr>
                      <a:t>传统(s,S)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solidFill>
                        <a:srgbClr val="147B70"/>
                      </a:solidFill>
                      <a:latin typeface="Hiragino Sans GB"/>
                      <a:ea typeface="Hiragino Sans GB"/>
                      <a:cs typeface="Hiragino Sans GB"/>
                    </a:defRPr>
                  </a:pPr>
                </a:p>
              </c:txPr>
              <c:dLblPos val="t"/>
              <c:showVal val="0"/>
            </c:dLbl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0.515894429</c:v>
                </c:pt>
              </c:numCache>
            </c:numRef>
          </c:xVal>
          <c:yVal>
            <c:numRef>
              <c:f>'Chart Data'!$J$2:$J$2</c:f>
              <c:numCache>
                <c:formatCode>0.0</c:formatCode>
                <c:ptCount val="1"/>
                <c:pt idx="0">
                  <c:v>95.226190476</c:v>
                </c:pt>
              </c:numCache>
            </c:numRef>
          </c:yVal>
        </c:ser>
        <c:ser>
          <c:idx val="5"/>
          <c:order val="5"/>
          <c:tx>
            <c:v>特征聚类DRO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147B70"/>
              </a:solidFill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0.550971339</c:v>
                </c:pt>
              </c:numCache>
            </c:numRef>
          </c:xVal>
          <c:yVal>
            <c:numRef>
              <c:f>'Chart Data'!$L$2:$L$2</c:f>
              <c:numCache>
                <c:formatCode>0.0</c:formatCode>
                <c:ptCount val="1"/>
                <c:pt idx="0">
                  <c:v>95.067857143</c:v>
                </c:pt>
              </c:numCache>
            </c:numRef>
          </c:yVal>
        </c:ser>
        <c:ser>
          <c:idx val="6"/>
          <c:order val="6"/>
          <c:tx>
            <c:v>不分组DRO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147B70"/>
              </a:solidFill>
            </c:spPr>
          </c:marker>
          <c:xVal>
            <c:numRef>
              <c:f>'Chart Data'!$M$2:$M$2</c:f>
              <c:numCache>
                <c:formatCode>General</c:formatCode>
                <c:ptCount val="1"/>
                <c:pt idx="0">
                  <c:v>0.594138577</c:v>
                </c:pt>
              </c:numCache>
            </c:numRef>
          </c:xVal>
          <c:yVal>
            <c:numRef>
              <c:f>'Chart Data'!$N$2:$N$2</c:f>
              <c:numCache>
                <c:formatCode>0.0</c:formatCode>
                <c:ptCount val="1"/>
                <c:pt idx="0">
                  <c:v>95.094642857</c:v>
                </c:pt>
              </c:numCache>
            </c:numRef>
          </c:yVal>
        </c:ser>
        <c:ser>
          <c:idx val="7"/>
          <c:order val="7"/>
          <c:tx>
            <c:v>爆品/长尾DRO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147B70"/>
              </a:solidFill>
            </c:spPr>
          </c:marker>
          <c:xVal>
            <c:numRef>
              <c:f>'Chart Data'!$O$2:$O$2</c:f>
              <c:numCache>
                <c:formatCode>General</c:formatCode>
                <c:ptCount val="1"/>
                <c:pt idx="0">
                  <c:v>0.555746213</c:v>
                </c:pt>
              </c:numCache>
            </c:numRef>
          </c:xVal>
          <c:yVal>
            <c:numRef>
              <c:f>'Chart Data'!$P$2:$P$2</c:f>
              <c:numCache>
                <c:formatCode>0.0</c:formatCode>
                <c:ptCount val="1"/>
                <c:pt idx="0">
                  <c:v>95.14047619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6.2"/>
          <c:min val="9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A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Sans GB"/>
                    <a:ea typeface="Hiragino Sans GB"/>
                    <a:cs typeface="Hiragino Sans GB"/>
                  </a:rPr>
                  <a:t>服务水平 /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3"/>
      </c:valAx>
      <c:valAx>
        <c:axId val="48650112"/>
        <c:scaling>
          <c:orientation val="minMax"/>
          <c:max val="0.65"/>
          <c:min val="0.23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Sans GB"/>
                    <a:ea typeface="Hiragino Sans GB"/>
                    <a:cs typeface="Hiragino Sans GB"/>
                  </a:rPr>
                  <a:t>总期末库存 / 总需求 J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0.1"/>
      </c:valAx>
      <c:spPr>
        <a:solidFill xmlns:a="http://schemas.openxmlformats.org/drawingml/2006/main">
          <a:srgbClr val="FFFDF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原始实验库存比 J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9283E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J</c:v>
          </c:tx>
          <c:spPr>
            <a:solidFill xmlns:a="http://schemas.openxmlformats.org/drawingml/2006/main">
              <a:srgbClr val="147B70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零半径经验</c:v>
                </c:pt>
                <c:pt idx="1">
                  <c:v>不分组DRO</c:v>
                </c:pt>
                <c:pt idx="2">
                  <c:v>传统(s,S)</c:v>
                </c:pt>
                <c:pt idx="3">
                  <c:v>特征聚类DRO</c:v>
                </c:pt>
                <c:pt idx="4">
                  <c:v>爆品/长尾DRO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0.186779002</c:v>
                </c:pt>
                <c:pt idx="1">
                  <c:v>0.17792499</c:v>
                </c:pt>
                <c:pt idx="2">
                  <c:v>0.172096621</c:v>
                </c:pt>
                <c:pt idx="3">
                  <c:v>0.169024873</c:v>
                </c:pt>
                <c:pt idx="4">
                  <c:v>0.168339915</c:v>
                </c:pt>
              </c:numCache>
            </c:numRef>
          </c:val>
        </c:ser>
        <c:dLbls>
          <c:numFmt formatCode="0.00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9283E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DAE8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0.06"/>
      </c:valAx>
      <c:spPr>
        <a:solidFill xmlns:a="http://schemas.openxmlformats.org/drawingml/2006/main">
          <a:srgbClr val="FFFDF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历史单期Fill Rate / %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9283E"/>
              </a:solidFill>
              <a:latin typeface="Hiragino Sans GB"/>
              <a:ea typeface="Hiragino Sans GB"/>
              <a:cs typeface="Hiragino Sans GB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爆品/长尾DRO</c:v>
          </c:tx>
          <c:spPr>
            <a:ln xmlns:a="http://schemas.openxmlformats.org/drawingml/2006/main" w="28575">
              <a:solidFill>
                <a:srgbClr val="147B70"/>
              </a:solidFill>
              <a:prstDash val="solid"/>
            </a:ln>
          </c:spPr>
          <c:marker>
            <c:symbol val="none"/>
          </c:marker>
          <c:cat>
            <c:numRef>
              <c:f>'Chart Data'!$A$2:$A$28</c:f>
              <c:numCache>
                <c:formatCode>General</c:formatCode>
                <c:ptCount val="2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</c:numCache>
            </c:numRef>
          </c:cat>
          <c:val>
            <c:numRef>
              <c:f>'Chart Data'!$B$2:$B$28</c:f>
              <c:numCache>
                <c:formatCode>0.0</c:formatCode>
                <c:ptCount val="27"/>
                <c:pt idx="0">
                  <c:v>95.557915</c:v>
                </c:pt>
                <c:pt idx="1">
                  <c:v>94.236108773</c:v>
                </c:pt>
                <c:pt idx="2">
                  <c:v>93.542797828</c:v>
                </c:pt>
                <c:pt idx="3">
                  <c:v>94.941117541</c:v>
                </c:pt>
                <c:pt idx="4">
                  <c:v>94.643198879</c:v>
                </c:pt>
                <c:pt idx="5">
                  <c:v>94.938825112</c:v>
                </c:pt>
                <c:pt idx="6">
                  <c:v>95.389754991</c:v>
                </c:pt>
                <c:pt idx="7">
                  <c:v>95.460696529</c:v>
                </c:pt>
                <c:pt idx="8">
                  <c:v>96.096109958</c:v>
                </c:pt>
                <c:pt idx="9">
                  <c:v>96.247007966</c:v>
                </c:pt>
                <c:pt idx="10">
                  <c:v>97.228152556</c:v>
                </c:pt>
                <c:pt idx="11">
                  <c:v>97.312229688</c:v>
                </c:pt>
                <c:pt idx="12">
                  <c:v>97.25054825</c:v>
                </c:pt>
                <c:pt idx="13">
                  <c:v>97.240758605</c:v>
                </c:pt>
                <c:pt idx="14">
                  <c:v>97.525220325</c:v>
                </c:pt>
                <c:pt idx="15">
                  <c:v>97.360451645</c:v>
                </c:pt>
                <c:pt idx="16">
                  <c:v>97.668491245</c:v>
                </c:pt>
                <c:pt idx="17">
                  <c:v>97.912475769</c:v>
                </c:pt>
                <c:pt idx="18">
                  <c:v>97.984899378</c:v>
                </c:pt>
                <c:pt idx="19">
                  <c:v>98.233231017</c:v>
                </c:pt>
                <c:pt idx="20">
                  <c:v>98.106038531</c:v>
                </c:pt>
                <c:pt idx="21">
                  <c:v>98.13008606</c:v>
                </c:pt>
                <c:pt idx="22">
                  <c:v>98.078702</c:v>
                </c:pt>
                <c:pt idx="23">
                  <c:v>98.433477741</c:v>
                </c:pt>
                <c:pt idx="24">
                  <c:v>98.430023617</c:v>
                </c:pt>
                <c:pt idx="25">
                  <c:v>98.693077241</c:v>
                </c:pt>
                <c:pt idx="26">
                  <c:v>98.472842349</c:v>
                </c:pt>
              </c:numCache>
            </c:numRef>
          </c:val>
          <c:smooth val="0"/>
        </c:ser>
        <c:ser>
          <c:idx val="1"/>
          <c:order val="1"/>
          <c:tx>
            <c:v>传统(s,S)</c:v>
          </c:tx>
          <c:spPr>
            <a:ln xmlns:a="http://schemas.openxmlformats.org/drawingml/2006/main" w="28575">
              <a:solidFill>
                <a:srgbClr val="72B6A8"/>
              </a:solidFill>
              <a:prstDash val="solid"/>
            </a:ln>
          </c:spPr>
          <c:marker>
            <c:symbol val="none"/>
          </c:marker>
          <c:cat>
            <c:numRef>
              <c:f>'Chart Data'!$C$2:$C$28</c:f>
              <c:numCache>
                <c:formatCode>General</c:formatCode>
                <c:ptCount val="2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</c:numCache>
            </c:numRef>
          </c:cat>
          <c:val>
            <c:numRef>
              <c:f>'Chart Data'!$D$2:$D$28</c:f>
              <c:numCache>
                <c:formatCode>0.0</c:formatCode>
                <c:ptCount val="27"/>
                <c:pt idx="0">
                  <c:v>95.64632466</c:v>
                </c:pt>
                <c:pt idx="1">
                  <c:v>94.328831605</c:v>
                </c:pt>
                <c:pt idx="2">
                  <c:v>93.65526613</c:v>
                </c:pt>
                <c:pt idx="3">
                  <c:v>95.0316274</c:v>
                </c:pt>
                <c:pt idx="4">
                  <c:v>94.726054905</c:v>
                </c:pt>
                <c:pt idx="5">
                  <c:v>94.98458226</c:v>
                </c:pt>
                <c:pt idx="6">
                  <c:v>95.439169974</c:v>
                </c:pt>
                <c:pt idx="7">
                  <c:v>95.461655384</c:v>
                </c:pt>
                <c:pt idx="8">
                  <c:v>96.205094663</c:v>
                </c:pt>
                <c:pt idx="9">
                  <c:v>96.252204344</c:v>
                </c:pt>
                <c:pt idx="10">
                  <c:v>97.246732208</c:v>
                </c:pt>
                <c:pt idx="11">
                  <c:v>97.318853972</c:v>
                </c:pt>
                <c:pt idx="12">
                  <c:v>97.219660486</c:v>
                </c:pt>
                <c:pt idx="13">
                  <c:v>97.21837028</c:v>
                </c:pt>
                <c:pt idx="14">
                  <c:v>97.496585708</c:v>
                </c:pt>
                <c:pt idx="15">
                  <c:v>97.327599989</c:v>
                </c:pt>
                <c:pt idx="16">
                  <c:v>97.705351593</c:v>
                </c:pt>
                <c:pt idx="17">
                  <c:v>97.892972564</c:v>
                </c:pt>
                <c:pt idx="18">
                  <c:v>97.974597951</c:v>
                </c:pt>
                <c:pt idx="19">
                  <c:v>98.346115182</c:v>
                </c:pt>
                <c:pt idx="20">
                  <c:v>98.167862717</c:v>
                </c:pt>
                <c:pt idx="21">
                  <c:v>98.1385286</c:v>
                </c:pt>
                <c:pt idx="22">
                  <c:v>98.13786837</c:v>
                </c:pt>
                <c:pt idx="23">
                  <c:v>98.361667688</c:v>
                </c:pt>
                <c:pt idx="24">
                  <c:v>98.377860642</c:v>
                </c:pt>
                <c:pt idx="25">
                  <c:v>98.651101473</c:v>
                </c:pt>
                <c:pt idx="26">
                  <c:v>98.439815341</c:v>
                </c:pt>
              </c:numCache>
            </c:numRef>
          </c:val>
          <c:smooth val="0"/>
        </c:ser>
        <c:ser>
          <c:idx val="2"/>
          <c:order val="2"/>
          <c:tx>
            <c:v>95%参考线</c:v>
          </c:tx>
          <c:spPr>
            <a:ln xmlns:a="http://schemas.openxmlformats.org/drawingml/2006/main" w="14288">
              <a:solidFill>
                <a:srgbClr val="946315"/>
              </a:solidFill>
              <a:prstDash val="dash"/>
            </a:ln>
          </c:spPr>
          <c:marker>
            <c:symbol val="none"/>
          </c:marker>
          <c:cat>
            <c:numRef>
              <c:f>'Chart Data'!$E$2:$E$28</c:f>
              <c:numCache>
                <c:formatCode>General</c:formatCode>
                <c:ptCount val="2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</c:numCache>
            </c:numRef>
          </c:cat>
          <c:val>
            <c:numRef>
              <c:f>'Chart Data'!$F$2:$F$28</c:f>
              <c:numCache>
                <c:formatCode>0.0</c:formatCode>
                <c:ptCount val="27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  <c:pt idx="12">
                  <c:v>95</c:v>
                </c:pt>
                <c:pt idx="13">
                  <c:v>95</c:v>
                </c:pt>
                <c:pt idx="14">
                  <c:v>95</c:v>
                </c:pt>
                <c:pt idx="15">
                  <c:v>95</c:v>
                </c:pt>
                <c:pt idx="16">
                  <c:v>95</c:v>
                </c:pt>
                <c:pt idx="17">
                  <c:v>95</c:v>
                </c:pt>
                <c:pt idx="18">
                  <c:v>95</c:v>
                </c:pt>
                <c:pt idx="19">
                  <c:v>95</c:v>
                </c:pt>
                <c:pt idx="20">
                  <c:v>95</c:v>
                </c:pt>
                <c:pt idx="21">
                  <c:v>95</c:v>
                </c:pt>
                <c:pt idx="22">
                  <c:v>95</c:v>
                </c:pt>
                <c:pt idx="23">
                  <c:v>95</c:v>
                </c:pt>
                <c:pt idx="24">
                  <c:v>95</c:v>
                </c:pt>
                <c:pt idx="25">
                  <c:v>95</c:v>
                </c:pt>
                <c:pt idx="26">
                  <c:v>95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Sans GB"/>
                    <a:ea typeface="Hiragino Sans GB"/>
                    <a:cs typeface="Hiragino Sans GB"/>
                  </a:rPr>
                  <a:t>测试周期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AE8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EDA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2.5"/>
      </c:valAx>
      <c:spPr>
        <a:solidFill xmlns:a="http://schemas.openxmlformats.org/drawingml/2006/main">
          <a:srgbClr val="FFFDF9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737186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D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7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LENISHMENT RESEARCH">
            <a:extLst xmlns:a="http://schemas.openxmlformats.org/drawingml/2006/main">
              <a:ext uri="{FF2B5EF4-FFF2-40B4-BE49-F238E27FC236}">
                <a16:creationId xmlns:a16="http://schemas.microsoft.com/office/drawing/2014/main" id="{753FED2F-E0A4-4BF8-8411-067FF109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C9C3F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650" b="1">
                <a:solidFill>
                  <a:srgbClr val="C9C3F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C9C3F3"/>
                </a:solidFill>
                <a:latin typeface="Hiragino Sans GB"/>
                <a:ea typeface="Hiragino Sans GB"/>
                <a:cs typeface="Hiragino Sans GB"/>
              </a:rPr>
              <a:t>REPLENISHMENT RESEARCH</a:t>
            </a:r>
          </a:p>
        </p:txBody>
      </p:sp>
      <p:sp>
        <p:nvSpPr>
          <p:cNvPr id="2" name="多品种补货决策">
            <a:extLst xmlns:a="http://schemas.openxmlformats.org/drawingml/2006/main">
              <a:ext uri="{FF2B5EF4-FFF2-40B4-BE49-F238E27FC236}">
                <a16:creationId xmlns:a16="http://schemas.microsoft.com/office/drawing/2014/main" id="{2189D3EE-8145-4A17-B092-421F1A39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550" b="1">
                <a:solidFill>
                  <a:srgbClr val="FFFDF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5550" b="1">
                <a:solidFill>
                  <a:srgbClr val="FFFDF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550" b="1">
                <a:solidFill>
                  <a:srgbClr val="FFFDF9"/>
                </a:solidFill>
                <a:latin typeface="Hiragino Sans GB"/>
                <a:ea typeface="Hiragino Sans GB"/>
                <a:cs typeface="Hiragino Sans GB"/>
              </a:rPr>
              <a:t>多品种补货决策</a:t>
            </a:r>
          </a:p>
        </p:txBody>
      </p:sp>
      <p:sp>
        <p:nvSpPr>
          <p:cNvPr id="3" name="服务水平接近95%时，如何减少库存">
            <a:extLst xmlns:a="http://schemas.openxmlformats.org/drawingml/2006/main">
              <a:ext uri="{FF2B5EF4-FFF2-40B4-BE49-F238E27FC236}">
                <a16:creationId xmlns:a16="http://schemas.microsoft.com/office/drawing/2014/main" id="{CEF850AC-6D25-4B10-828F-820ED441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D9D3F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700" b="0">
                <a:solidFill>
                  <a:srgbClr val="D9D3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D9D3F8"/>
                </a:solidFill>
                <a:latin typeface="Hiragino Sans GB"/>
                <a:ea typeface="Hiragino Sans GB"/>
                <a:cs typeface="Hiragino Sans GB"/>
              </a:rPr>
              <a:t>服务水平接近95%时，如何减少库存</a:t>
            </a:r>
          </a:p>
        </p:txBody>
      </p:sp>
      <p:sp>
        <p:nvSpPr>
          <p:cNvPr id="4" name="预测与决策学习    yuan xuecheng">
            <a:extLst xmlns:a="http://schemas.openxmlformats.org/drawingml/2006/main">
              <a:ext uri="{FF2B5EF4-FFF2-40B4-BE49-F238E27FC236}">
                <a16:creationId xmlns:a16="http://schemas.microsoft.com/office/drawing/2014/main" id="{0949E329-EECD-4C14-9CFF-37C8552E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FDF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FFFDF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FFFDF9"/>
                </a:solidFill>
                <a:latin typeface="Hiragino Sans GB"/>
                <a:ea typeface="Hiragino Sans GB"/>
                <a:cs typeface="Hiragino Sans GB"/>
              </a:rPr>
              <a:t>预测与决策学习    yuan xuecheng</a:t>
            </a:r>
          </a:p>
        </p:txBody>
      </p:sp>
      <p:sp>
        <p:nvSpPr>
          <p:cNvPr id="5" name="鲁棒优化              kristi">
            <a:extLst xmlns:a="http://schemas.openxmlformats.org/drawingml/2006/main">
              <a:ext uri="{FF2B5EF4-FFF2-40B4-BE49-F238E27FC236}">
                <a16:creationId xmlns:a16="http://schemas.microsoft.com/office/drawing/2014/main" id="{B35D9BA7-77DA-4D46-9441-D54BFF44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A9D9C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A9D9C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A9D9CF"/>
                </a:solidFill>
                <a:latin typeface="Hiragino Sans GB"/>
                <a:ea typeface="Hiragino Sans GB"/>
                <a:cs typeface="Hiragino Sans GB"/>
              </a:rPr>
              <a:t>鲁棒优化              kristina</a:t>
            </a:r>
          </a:p>
        </p:txBody>
      </p:sp>
      <p:sp>
        <p:nvSpPr>
          <p:cNvPr id="6" name="6,000个SKU    60期训练    28">
            <a:extLst xmlns:a="http://schemas.openxmlformats.org/drawingml/2006/main">
              <a:ext uri="{FF2B5EF4-FFF2-40B4-BE49-F238E27FC236}">
                <a16:creationId xmlns:a16="http://schemas.microsoft.com/office/drawing/2014/main" id="{67EB0C53-B1C9-43CE-809C-637A990B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C9C3F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C9C3F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C9C3F3"/>
                </a:solidFill>
                <a:latin typeface="Hiragino Sans GB"/>
                <a:ea typeface="Hiragino Sans GB"/>
                <a:cs typeface="Hiragino Sans GB"/>
              </a:rPr>
              <a:t>6,000个SKU    60期训练    28期测试    2026.10.14</a:t>
            </a:r>
          </a:p>
        </p:txBody>
      </p:sp>
    </p:spTree>
    <p:extLst>
      <p:ext uri="{BB962C8B-B14F-4D97-AF65-F5344CB8AC3E}">
        <p14:creationId xmlns:p14="http://schemas.microsoft.com/office/powerpoint/2010/main" val="9286119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核心结论">
            <a:extLst xmlns:a="http://schemas.openxmlformats.org/drawingml/2006/main">
              <a:ext uri="{FF2B5EF4-FFF2-40B4-BE49-F238E27FC236}">
                <a16:creationId xmlns:a16="http://schemas.microsoft.com/office/drawing/2014/main" id="{780460BD-C403-4DFC-8B52-5C4CE5D0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核心结论</a:t>
            </a:r>
          </a:p>
        </p:txBody>
      </p:sp>
      <p:sp>
        <p:nvSpPr>
          <p:cNvPr id="2" name="DFL提供低库存候选，Fill Rate仍有取舍">
            <a:extLst xmlns:a="http://schemas.openxmlformats.org/drawingml/2006/main">
              <a:ext uri="{FF2B5EF4-FFF2-40B4-BE49-F238E27FC236}">
                <a16:creationId xmlns:a16="http://schemas.microsoft.com/office/drawing/2014/main" id="{08321AD9-F86F-494D-9C61-B62F3E1C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DFL提供低库存候选，Fill Rate仍有取舍</a:t>
            </a:r>
          </a:p>
        </p:txBody>
      </p:sp>
      <p:sp>
        <p:nvSpPr>
          <p:cNvPr id="3" name="先看结果，再解释模型如何训练">
            <a:extLst xmlns:a="http://schemas.openxmlformats.org/drawingml/2006/main">
              <a:ext uri="{FF2B5EF4-FFF2-40B4-BE49-F238E27FC236}">
                <a16:creationId xmlns:a16="http://schemas.microsoft.com/office/drawing/2014/main" id="{52697F48-C8AB-454A-BBDF-0F7AF462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先看结果，再解释模型如何训练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6BA336F1-5AF6-4094-A712-0A249B05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809C4CA7-EBB3-4725-A3B2-86D0F371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C1DCA3D1-99E8-419E-B529-F838C7B3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7" name="89.81万件">
            <a:extLst xmlns:a="http://schemas.openxmlformats.org/drawingml/2006/main">
              <a:ext uri="{FF2B5EF4-FFF2-40B4-BE49-F238E27FC236}">
                <a16:creationId xmlns:a16="http://schemas.microsoft.com/office/drawing/2014/main" id="{B1FDEC9F-2D72-444A-AAA6-8B244B90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666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51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1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89.81万件</a:t>
            </a:r>
          </a:p>
        </p:txBody>
      </p:sp>
      <p:sp>
        <p:nvSpPr>
          <p:cNvPr id="8" name="周转目标DFL的平均期末总库存">
            <a:extLst xmlns:a="http://schemas.openxmlformats.org/drawingml/2006/main">
              <a:ext uri="{FF2B5EF4-FFF2-40B4-BE49-F238E27FC236}">
                <a16:creationId xmlns:a16="http://schemas.microsoft.com/office/drawing/2014/main" id="{C105F675-10B8-4B0B-947E-200EA04F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周转目标DFL的平均期末总库存</a:t>
            </a:r>
          </a:p>
        </p:txBody>
      </p:sp>
      <p:sp>
        <p:nvSpPr>
          <p:cNvPr id="9" name="服务水平 95.67%     Fill Rat">
            <a:extLst xmlns:a="http://schemas.openxmlformats.org/drawingml/2006/main">
              <a:ext uri="{FF2B5EF4-FFF2-40B4-BE49-F238E27FC236}">
                <a16:creationId xmlns:a16="http://schemas.microsoft.com/office/drawing/2014/main" id="{C9E29110-C7EB-45F7-852A-3D245766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服务水平 95.67%     Fill Rate 92.97%</a:t>
            </a:r>
          </a:p>
        </p:txBody>
      </p:sp>
      <p:sp>
        <p:nvSpPr>
          <p:cNvPr id="10" name="DFL值得继续研究，但目前尚不能宣称全面最优">
            <a:extLst xmlns:a="http://schemas.openxmlformats.org/drawingml/2006/main">
              <a:ext uri="{FF2B5EF4-FFF2-40B4-BE49-F238E27FC236}">
                <a16:creationId xmlns:a16="http://schemas.microsoft.com/office/drawing/2014/main" id="{98DF321A-FE58-4022-866E-93C78450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40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DFL值得继续研究，但目前尚不能宣称全面最优</a:t>
            </a:r>
          </a:p>
        </p:txBody>
      </p:sp>
      <p:sp>
        <p:nvSpPr>
          <p:cNvPr id="11" name="高Fill Rate的参照方案需要更多库存。当前">
            <a:extLst xmlns:a="http://schemas.openxmlformats.org/drawingml/2006/main">
              <a:ext uri="{FF2B5EF4-FFF2-40B4-BE49-F238E27FC236}">
                <a16:creationId xmlns:a16="http://schemas.microsoft.com/office/drawing/2014/main" id="{95A173F7-B09C-4CAE-94A5-562E6196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高Fill Rate的参照方案需要更多库存。当前结果用于筛选路线，尚无显著性结论。</a:t>
            </a:r>
          </a:p>
        </p:txBody>
      </p:sp>
    </p:spTree>
    <p:extLst>
      <p:ext uri="{BB962C8B-B14F-4D97-AF65-F5344CB8AC3E}">
        <p14:creationId xmlns:p14="http://schemas.microsoft.com/office/powerpoint/2010/main" val="1907111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问题与目标">
            <a:extLst xmlns:a="http://schemas.openxmlformats.org/drawingml/2006/main">
              <a:ext uri="{FF2B5EF4-FFF2-40B4-BE49-F238E27FC236}">
                <a16:creationId xmlns:a16="http://schemas.microsoft.com/office/drawing/2014/main" id="{ACC58492-DDC1-46EA-A6C3-4E4B9797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问题与目标</a:t>
            </a:r>
          </a:p>
        </p:txBody>
      </p:sp>
      <p:sp>
        <p:nvSpPr>
          <p:cNvPr id="2" name="决策目标是服务接近95%时减少库存">
            <a:extLst xmlns:a="http://schemas.openxmlformats.org/drawingml/2006/main">
              <a:ext uri="{FF2B5EF4-FFF2-40B4-BE49-F238E27FC236}">
                <a16:creationId xmlns:a16="http://schemas.microsoft.com/office/drawing/2014/main" id="{DC41D818-5BE0-4F5A-8BE9-9513D404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决策目标是服务接近95%时减少库存</a:t>
            </a:r>
          </a:p>
        </p:txBody>
      </p:sp>
      <p:sp>
        <p:nvSpPr>
          <p:cNvPr id="3" name="每期观察需求后下单，下一期到货">
            <a:extLst xmlns:a="http://schemas.openxmlformats.org/drawingml/2006/main">
              <a:ext uri="{FF2B5EF4-FFF2-40B4-BE49-F238E27FC236}">
                <a16:creationId xmlns:a16="http://schemas.microsoft.com/office/drawing/2014/main" id="{6E9DDF6D-A66D-41B1-A6B7-53E3AEC6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每期观察需求后下单，下一期到货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B07240B9-D2FF-4033-B233-94AFA4E9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共同研究">
            <a:extLst xmlns:a="http://schemas.openxmlformats.org/drawingml/2006/main">
              <a:ext uri="{FF2B5EF4-FFF2-40B4-BE49-F238E27FC236}">
                <a16:creationId xmlns:a16="http://schemas.microsoft.com/office/drawing/2014/main" id="{F04A1FD7-C85F-45D9-A820-2DB4C3EC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共同研究</a:t>
            </a:r>
          </a:p>
        </p:txBody>
      </p:sp>
      <p:sp>
        <p:nvSpPr>
          <p:cNvPr id="6" name="03">
            <a:extLst xmlns:a="http://schemas.openxmlformats.org/drawingml/2006/main">
              <a:ext uri="{FF2B5EF4-FFF2-40B4-BE49-F238E27FC236}">
                <a16:creationId xmlns:a16="http://schemas.microsoft.com/office/drawing/2014/main" id="{CD3363AC-8C67-4FE0-B032-83221CA9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7" name="一个仓库，6,000种商品">
            <a:extLst xmlns:a="http://schemas.openxmlformats.org/drawingml/2006/main">
              <a:ext uri="{FF2B5EF4-FFF2-40B4-BE49-F238E27FC236}">
                <a16:creationId xmlns:a16="http://schemas.microsoft.com/office/drawing/2014/main" id="{2FCC4BBA-5EC0-4D87-890A-BA525245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一个仓库，6,000种商品</a:t>
            </a:r>
          </a:p>
        </p:txBody>
      </p:sp>
      <p:sp>
        <p:nvSpPr>
          <p:cNvPr id="8" name="商品需求水平与波动不同，每期分别决定订货量">
            <a:extLst xmlns:a="http://schemas.openxmlformats.org/drawingml/2006/main">
              <a:ext uri="{FF2B5EF4-FFF2-40B4-BE49-F238E27FC236}">
                <a16:creationId xmlns:a16="http://schemas.microsoft.com/office/drawing/2014/main" id="{C08972BA-2A38-40E8-92DE-169EF08D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商品需求水平与波动不同，每期分别决定订货量</a:t>
            </a:r>
          </a:p>
        </p:txBody>
      </p:sp>
      <p:sp>
        <p:nvSpPr>
          <p:cNvPr id="9" name="提前期为一个周期">
            <a:extLst xmlns:a="http://schemas.openxmlformats.org/drawingml/2006/main">
              <a:ext uri="{FF2B5EF4-FFF2-40B4-BE49-F238E27FC236}">
                <a16:creationId xmlns:a16="http://schemas.microsoft.com/office/drawing/2014/main" id="{F17BBBEC-A238-4A04-B2BC-CB55F72A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提前期为一个周期</a:t>
            </a:r>
          </a:p>
        </p:txBody>
      </p:sp>
      <p:sp>
        <p:nvSpPr>
          <p:cNvPr id="10" name="当期订单不能补救当期缺货，缺货需求直接损失">
            <a:extLst xmlns:a="http://schemas.openxmlformats.org/drawingml/2006/main">
              <a:ext uri="{FF2B5EF4-FFF2-40B4-BE49-F238E27FC236}">
                <a16:creationId xmlns:a16="http://schemas.microsoft.com/office/drawing/2014/main" id="{FDF5CA96-1329-4EF2-9CE5-5139615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当期订单不能补救当期缺货，缺货需求直接损失</a:t>
            </a:r>
          </a:p>
        </p:txBody>
      </p:sp>
      <p:sp>
        <p:nvSpPr>
          <p:cNvPr id="11" name="库存效率与服务约束">
            <a:extLst xmlns:a="http://schemas.openxmlformats.org/drawingml/2006/main">
              <a:ext uri="{FF2B5EF4-FFF2-40B4-BE49-F238E27FC236}">
                <a16:creationId xmlns:a16="http://schemas.microsoft.com/office/drawing/2014/main" id="{C2A9E5EB-ECF4-457B-9A05-04E92989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库存效率与服务约束</a:t>
            </a:r>
          </a:p>
        </p:txBody>
      </p:sp>
      <p:sp>
        <p:nvSpPr>
          <p:cNvPr id="12" name="主要比较库存比J，同时报告服务水平和Fill R">
            <a:extLst xmlns:a="http://schemas.openxmlformats.org/drawingml/2006/main">
              <a:ext uri="{FF2B5EF4-FFF2-40B4-BE49-F238E27FC236}">
                <a16:creationId xmlns:a16="http://schemas.microsoft.com/office/drawing/2014/main" id="{DFEA9ADB-6A2B-421C-B082-18075A60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主要比较库存比J，同时报告服务水平和Fill Rate</a:t>
            </a:r>
          </a:p>
        </p:txBody>
      </p:sp>
    </p:spTree>
    <p:extLst>
      <p:ext uri="{BB962C8B-B14F-4D97-AF65-F5344CB8AC3E}">
        <p14:creationId xmlns:p14="http://schemas.microsoft.com/office/powerpoint/2010/main" val="17435308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研究分工">
            <a:extLst xmlns:a="http://schemas.openxmlformats.org/drawingml/2006/main">
              <a:ext uri="{FF2B5EF4-FFF2-40B4-BE49-F238E27FC236}">
                <a16:creationId xmlns:a16="http://schemas.microsoft.com/office/drawing/2014/main" id="{0D7B1FEE-0283-4B4B-B272-EDCFDFB4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研究分工</a:t>
            </a:r>
          </a:p>
        </p:txBody>
      </p:sp>
      <p:sp>
        <p:nvSpPr>
          <p:cNvPr id="2" name="两条研究方向，使用共同评价口径">
            <a:extLst xmlns:a="http://schemas.openxmlformats.org/drawingml/2006/main">
              <a:ext uri="{FF2B5EF4-FFF2-40B4-BE49-F238E27FC236}">
                <a16:creationId xmlns:a16="http://schemas.microsoft.com/office/drawing/2014/main" id="{564C5A8B-9400-4525-8AE3-9F15DDDC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两条研究方向，使用共同评价口径</a:t>
            </a:r>
          </a:p>
        </p:txBody>
      </p:sp>
      <p:sp>
        <p:nvSpPr>
          <p:cNvPr id="3" name="主要展开预测与决策学习，鲁棒优化单独介绍">
            <a:extLst xmlns:a="http://schemas.openxmlformats.org/drawingml/2006/main">
              <a:ext uri="{FF2B5EF4-FFF2-40B4-BE49-F238E27FC236}">
                <a16:creationId xmlns:a16="http://schemas.microsoft.com/office/drawing/2014/main" id="{932FDBA9-13F6-45D7-946E-1F7E7574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主要展开预测与决策学习，鲁棒优化单独介绍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FC2198BF-AC2B-47BA-9F10-AA7A78CA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yuan xuecheng / kristina">
            <a:extLst xmlns:a="http://schemas.openxmlformats.org/drawingml/2006/main">
              <a:ext uri="{FF2B5EF4-FFF2-40B4-BE49-F238E27FC236}">
                <a16:creationId xmlns:a16="http://schemas.microsoft.com/office/drawing/2014/main" id="{014102FB-B010-4EF7-A941-0A046845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 / kristina</a:t>
            </a:r>
          </a:p>
        </p:txBody>
      </p:sp>
      <p:sp>
        <p:nvSpPr>
          <p:cNvPr id="6" name="04">
            <a:extLst xmlns:a="http://schemas.openxmlformats.org/drawingml/2006/main">
              <a:ext uri="{FF2B5EF4-FFF2-40B4-BE49-F238E27FC236}">
                <a16:creationId xmlns:a16="http://schemas.microsoft.com/office/drawing/2014/main" id="{28E37CCD-DBE9-4562-8869-6C427CF7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7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850DFD18-D588-42DA-95E2-90B3DE77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476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8" name="预测与决策学习">
            <a:extLst xmlns:a="http://schemas.openxmlformats.org/drawingml/2006/main">
              <a:ext uri="{FF2B5EF4-FFF2-40B4-BE49-F238E27FC236}">
                <a16:creationId xmlns:a16="http://schemas.microsoft.com/office/drawing/2014/main" id="{1182F130-EE98-474D-BF6A-8183D8DE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3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预测与决策学习</a:t>
            </a:r>
          </a:p>
        </p:txBody>
      </p:sp>
      <p:sp>
        <p:nvSpPr>
          <p:cNvPr id="9" name="历史与机器学习预测&#10;SPO成本学习与直接策略&#10;概">
            <a:extLst xmlns:a="http://schemas.openxmlformats.org/drawingml/2006/main">
              <a:ext uri="{FF2B5EF4-FFF2-40B4-BE49-F238E27FC236}">
                <a16:creationId xmlns:a16="http://schemas.microsoft.com/office/drawing/2014/main" id="{500E5346-6F87-4DAC-86AE-7B19FDDC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53721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历史与机器学习预测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SPO成本学习与直接策略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概率网络、内层优化与DFL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在线更新、MPC和模型融合</a:t>
            </a:r>
          </a:p>
        </p:txBody>
      </p:sp>
      <p:sp>
        <p:nvSpPr>
          <p:cNvPr id="10" name="kristina">
            <a:extLst xmlns:a="http://schemas.openxmlformats.org/drawingml/2006/main">
              <a:ext uri="{FF2B5EF4-FFF2-40B4-BE49-F238E27FC236}">
                <a16:creationId xmlns:a16="http://schemas.microsoft.com/office/drawing/2014/main" id="{6E65DDDA-F31A-45A3-BADB-2B039280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28850"/>
            <a:ext cx="4819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</a:t>
            </a:r>
          </a:p>
        </p:txBody>
      </p:sp>
      <p:sp>
        <p:nvSpPr>
          <p:cNvPr id="11" name="鲁棒优化">
            <a:extLst xmlns:a="http://schemas.openxmlformats.org/drawingml/2006/main">
              <a:ext uri="{FF2B5EF4-FFF2-40B4-BE49-F238E27FC236}">
                <a16:creationId xmlns:a16="http://schemas.microsoft.com/office/drawing/2014/main" id="{CA62FACC-C272-4D72-BDDB-817CF62F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819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32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鲁棒优化</a:t>
            </a:r>
          </a:p>
        </p:txBody>
      </p:sp>
      <p:sp>
        <p:nvSpPr>
          <p:cNvPr id="12" name="分组与不分组DRO&#10;服务机会约束与风险半径&#10;补货">
            <a:extLst xmlns:a="http://schemas.openxmlformats.org/drawingml/2006/main">
              <a:ext uri="{FF2B5EF4-FFF2-40B4-BE49-F238E27FC236}">
                <a16:creationId xmlns:a16="http://schemas.microsoft.com/office/drawing/2014/main" id="{E20FF95B-320A-47DF-B793-DF6CF36E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48196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分组与不分组DRO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服务机会约束与风险半径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补货水位与参数校准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鲁棒策略结果解释</a:t>
            </a:r>
          </a:p>
        </p:txBody>
      </p:sp>
    </p:spTree>
    <p:extLst>
      <p:ext uri="{BB962C8B-B14F-4D97-AF65-F5344CB8AC3E}">
        <p14:creationId xmlns:p14="http://schemas.microsoft.com/office/powerpoint/2010/main" val="955947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评价指标">
            <a:extLst xmlns:a="http://schemas.openxmlformats.org/drawingml/2006/main">
              <a:ext uri="{FF2B5EF4-FFF2-40B4-BE49-F238E27FC236}">
                <a16:creationId xmlns:a16="http://schemas.microsoft.com/office/drawing/2014/main" id="{35CA0504-D596-4B35-9C71-2FC874C7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评价指标</a:t>
            </a:r>
          </a:p>
        </p:txBody>
      </p:sp>
      <p:sp>
        <p:nvSpPr>
          <p:cNvPr id="2" name="服务水平、Fill Rate与库存比回答不同问题">
            <a:extLst xmlns:a="http://schemas.openxmlformats.org/drawingml/2006/main">
              <a:ext uri="{FF2B5EF4-FFF2-40B4-BE49-F238E27FC236}">
                <a16:creationId xmlns:a16="http://schemas.microsoft.com/office/drawing/2014/main" id="{050364AA-6CE3-426E-BF6A-09AA61EA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服务水平、Fill Rate与库存比回答不同问题</a:t>
            </a:r>
          </a:p>
        </p:txBody>
      </p:sp>
      <p:sp>
        <p:nvSpPr>
          <p:cNvPr id="3" name="服务水平看有货频率，Fill Rate看数量满足">
            <a:extLst xmlns:a="http://schemas.openxmlformats.org/drawingml/2006/main">
              <a:ext uri="{FF2B5EF4-FFF2-40B4-BE49-F238E27FC236}">
                <a16:creationId xmlns:a16="http://schemas.microsoft.com/office/drawing/2014/main" id="{9172D2BF-770C-45FD-8AB5-50EF81A7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服务水平看有货频率，Fill Rate看数量满足，J看库存占用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D658A5DE-DB81-416B-BF44-DFEF1B72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共同研究">
            <a:extLst xmlns:a="http://schemas.openxmlformats.org/drawingml/2006/main">
              <a:ext uri="{FF2B5EF4-FFF2-40B4-BE49-F238E27FC236}">
                <a16:creationId xmlns:a16="http://schemas.microsoft.com/office/drawing/2014/main" id="{02A551B3-F0B4-4CC6-A82F-3EED0288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共同研究</a:t>
            </a:r>
          </a:p>
        </p:txBody>
      </p:sp>
      <p:sp>
        <p:nvSpPr>
          <p:cNvPr id="6" name="05">
            <a:extLst xmlns:a="http://schemas.openxmlformats.org/drawingml/2006/main">
              <a:ext uri="{FF2B5EF4-FFF2-40B4-BE49-F238E27FC236}">
                <a16:creationId xmlns:a16="http://schemas.microsoft.com/office/drawing/2014/main" id="{6162576B-6221-41FA-BBBF-D0F8B865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7" name="服务水平 R">
            <a:extLst xmlns:a="http://schemas.openxmlformats.org/drawingml/2006/main">
              <a:ext uri="{FF2B5EF4-FFF2-40B4-BE49-F238E27FC236}">
                <a16:creationId xmlns:a16="http://schemas.microsoft.com/office/drawing/2014/main" id="{E19ADFA6-DA96-4A4A-9D15-F8278B74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048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服务水平 R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816AA-BA1F-4C4B-A982-68B3782C22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5b20fd5304e18"/>
          <a:stretch xmlns:a="http://schemas.openxmlformats.org/drawingml/2006/main"/>
        </p:blipFill>
        <p:spPr>
          <a:xfrm xmlns:a="http://schemas.openxmlformats.org/drawingml/2006/main">
            <a:off x="612315" y="2724150"/>
            <a:ext cx="3421704" cy="914400"/>
          </a:xfrm>
          <a:prstGeom xmlns:a="http://schemas.openxmlformats.org/drawingml/2006/main" prst="rect">
            <a:avLst/>
          </a:prstGeom>
        </p:spPr>
      </p:pic>
      <p:sp>
        <p:nvSpPr>
          <p:cNvPr id="9" name="库存仍大于0的SKU周期占比">
            <a:extLst xmlns:a="http://schemas.openxmlformats.org/drawingml/2006/main">
              <a:ext uri="{FF2B5EF4-FFF2-40B4-BE49-F238E27FC236}">
                <a16:creationId xmlns:a16="http://schemas.microsoft.com/office/drawing/2014/main" id="{94C0044B-2C7A-4708-80A7-344FF51D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5191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库存仍大于0的SKU周期占比</a:t>
            </a:r>
          </a:p>
        </p:txBody>
      </p:sp>
      <p:sp>
        <p:nvSpPr>
          <p:cNvPr id="10" name="Fill Rate">
            <a:extLst xmlns:a="http://schemas.openxmlformats.org/drawingml/2006/main">
              <a:ext uri="{FF2B5EF4-FFF2-40B4-BE49-F238E27FC236}">
                <a16:creationId xmlns:a16="http://schemas.microsoft.com/office/drawing/2014/main" id="{F7119EA9-2B33-4E84-B7A8-6151C607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5010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Fill Rate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60C03-684D-4DC3-B8AB-DE6738D462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5edbf933a4412"/>
          <a:stretch xmlns:a="http://schemas.openxmlformats.org/drawingml/2006/main"/>
        </p:blipFill>
        <p:spPr>
          <a:xfrm xmlns:a="http://schemas.openxmlformats.org/drawingml/2006/main">
            <a:off x="6573826" y="2638425"/>
            <a:ext cx="2144301" cy="990600"/>
          </a:xfrm>
          <a:prstGeom xmlns:a="http://schemas.openxmlformats.org/drawingml/2006/main" prst="rect">
            <a:avLst/>
          </a:prstGeom>
        </p:spPr>
      </p:pic>
      <p:sp>
        <p:nvSpPr>
          <p:cNvPr id="12" name="总销量占总需求的比例">
            <a:extLst xmlns:a="http://schemas.openxmlformats.org/drawingml/2006/main">
              <a:ext uri="{FF2B5EF4-FFF2-40B4-BE49-F238E27FC236}">
                <a16:creationId xmlns:a16="http://schemas.microsoft.com/office/drawing/2014/main" id="{9420E693-4AEB-44F5-8CEE-22F3701D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9525"/>
            <a:ext cx="5010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总销量占总需求的比例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616C9-9FEE-4C33-AFE5-317568AF1B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77e0efbe94ece"/>
          <a:stretch xmlns:a="http://schemas.openxmlformats.org/drawingml/2006/main"/>
        </p:blipFill>
        <p:spPr>
          <a:xfrm xmlns:a="http://schemas.openxmlformats.org/drawingml/2006/main">
            <a:off x="612134" y="4648200"/>
            <a:ext cx="2195884" cy="1104900"/>
          </a:xfrm>
          <a:prstGeom xmlns:a="http://schemas.openxmlformats.org/drawingml/2006/main" prst="rect">
            <a:avLst/>
          </a:prstGeom>
        </p:spPr>
      </p:pic>
      <p:sp>
        <p:nvSpPr>
          <p:cNvPr id="14" name="总期末库存 / 总需求&#10;越小越好，同一测试需求分">
            <a:extLst xmlns:a="http://schemas.openxmlformats.org/drawingml/2006/main">
              <a:ext uri="{FF2B5EF4-FFF2-40B4-BE49-F238E27FC236}">
                <a16:creationId xmlns:a16="http://schemas.microsoft.com/office/drawing/2014/main" id="{413755B3-79C2-462C-AAD1-01196559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8058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总期末库存 / 总需求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越小越好，同一测试需求分母下可直接比较</a:t>
            </a:r>
          </a:p>
        </p:txBody>
      </p:sp>
    </p:spTree>
    <p:extLst>
      <p:ext uri="{BB962C8B-B14F-4D97-AF65-F5344CB8AC3E}">
        <p14:creationId xmlns:p14="http://schemas.microsoft.com/office/powerpoint/2010/main" val="10246163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数据与决策时点">
            <a:extLst xmlns:a="http://schemas.openxmlformats.org/drawingml/2006/main">
              <a:ext uri="{FF2B5EF4-FFF2-40B4-BE49-F238E27FC236}">
                <a16:creationId xmlns:a16="http://schemas.microsoft.com/office/drawing/2014/main" id="{25B5EDAE-640C-408D-BF15-24E7DA51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数据与决策时点</a:t>
            </a:r>
          </a:p>
        </p:txBody>
      </p:sp>
      <p:sp>
        <p:nvSpPr>
          <p:cNvPr id="2" name="统一数据与一期提前期库存回放">
            <a:extLst xmlns:a="http://schemas.openxmlformats.org/drawingml/2006/main">
              <a:ext uri="{FF2B5EF4-FFF2-40B4-BE49-F238E27FC236}">
                <a16:creationId xmlns:a16="http://schemas.microsoft.com/office/drawing/2014/main" id="{F360380A-76FC-4515-938B-7C74E74F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统一数据与一期提前期库存回放</a:t>
            </a:r>
          </a:p>
        </p:txBody>
      </p:sp>
      <p:sp>
        <p:nvSpPr>
          <p:cNvPr id="3" name="初始库存与在途一致，测试期间不能提前使用未来特征">
            <a:extLst xmlns:a="http://schemas.openxmlformats.org/drawingml/2006/main">
              <a:ext uri="{FF2B5EF4-FFF2-40B4-BE49-F238E27FC236}">
                <a16:creationId xmlns:a16="http://schemas.microsoft.com/office/drawing/2014/main" id="{A0C3CB0B-140D-4A80-8D15-F56B94C7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初始库存与在途一致，测试期间不能提前使用未来特征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94022577-AB07-48F2-9C2B-9F1DB0DB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共同研究">
            <a:extLst xmlns:a="http://schemas.openxmlformats.org/drawingml/2006/main">
              <a:ext uri="{FF2B5EF4-FFF2-40B4-BE49-F238E27FC236}">
                <a16:creationId xmlns:a16="http://schemas.microsoft.com/office/drawing/2014/main" id="{AE026CD5-38D7-4513-8A52-57FADDFE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共同研究</a:t>
            </a:r>
          </a:p>
        </p:txBody>
      </p:sp>
      <p:sp>
        <p:nvSpPr>
          <p:cNvPr id="6" name="06">
            <a:extLst xmlns:a="http://schemas.openxmlformats.org/drawingml/2006/main">
              <a:ext uri="{FF2B5EF4-FFF2-40B4-BE49-F238E27FC236}">
                <a16:creationId xmlns:a16="http://schemas.microsoft.com/office/drawing/2014/main" id="{A6945563-3061-4C22-8DE4-4ADE4637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7" name="6,000">
            <a:extLst xmlns:a="http://schemas.openxmlformats.org/drawingml/2006/main">
              <a:ext uri="{FF2B5EF4-FFF2-40B4-BE49-F238E27FC236}">
                <a16:creationId xmlns:a16="http://schemas.microsoft.com/office/drawing/2014/main" id="{596836D4-0085-4486-89C8-D297383A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49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9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6,000</a:t>
            </a:r>
          </a:p>
        </p:txBody>
      </p:sp>
      <p:sp>
        <p:nvSpPr>
          <p:cNvPr id="8" name="SKU">
            <a:extLst xmlns:a="http://schemas.openxmlformats.org/drawingml/2006/main">
              <a:ext uri="{FF2B5EF4-FFF2-40B4-BE49-F238E27FC236}">
                <a16:creationId xmlns:a16="http://schemas.microsoft.com/office/drawing/2014/main" id="{A332BF5D-BF17-4C3C-BBAA-2E0C28BE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SKU</a:t>
            </a:r>
          </a:p>
        </p:txBody>
      </p:sp>
      <p:sp>
        <p:nvSpPr>
          <p:cNvPr id="9" name="60">
            <a:extLst xmlns:a="http://schemas.openxmlformats.org/drawingml/2006/main">
              <a:ext uri="{FF2B5EF4-FFF2-40B4-BE49-F238E27FC236}">
                <a16:creationId xmlns:a16="http://schemas.microsoft.com/office/drawing/2014/main" id="{CBB963BD-CC79-4B0F-9572-5C7696EC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526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49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9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60</a:t>
            </a:r>
          </a:p>
        </p:txBody>
      </p:sp>
      <p:sp>
        <p:nvSpPr>
          <p:cNvPr id="10" name="训练周期">
            <a:extLst xmlns:a="http://schemas.openxmlformats.org/drawingml/2006/main">
              <a:ext uri="{FF2B5EF4-FFF2-40B4-BE49-F238E27FC236}">
                <a16:creationId xmlns:a16="http://schemas.microsoft.com/office/drawing/2014/main" id="{92923705-5010-4DF7-8434-D73FC5E6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95625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训练周期</a:t>
            </a:r>
          </a:p>
        </p:txBody>
      </p:sp>
      <p:sp>
        <p:nvSpPr>
          <p:cNvPr id="11" name="28">
            <a:extLst xmlns:a="http://schemas.openxmlformats.org/drawingml/2006/main">
              <a:ext uri="{FF2B5EF4-FFF2-40B4-BE49-F238E27FC236}">
                <a16:creationId xmlns:a16="http://schemas.microsoft.com/office/drawing/2014/main" id="{F16EC28D-25A8-431C-9B57-EE4B9A71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526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49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9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28</a:t>
            </a:r>
          </a:p>
        </p:txBody>
      </p:sp>
      <p:sp>
        <p:nvSpPr>
          <p:cNvPr id="12" name="测试周期">
            <a:extLst xmlns:a="http://schemas.openxmlformats.org/drawingml/2006/main">
              <a:ext uri="{FF2B5EF4-FFF2-40B4-BE49-F238E27FC236}">
                <a16:creationId xmlns:a16="http://schemas.microsoft.com/office/drawing/2014/main" id="{62D8D1B3-58D6-4337-83E0-1BDF878A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95625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测试周期</a:t>
            </a:r>
          </a:p>
        </p:txBody>
      </p:sp>
      <p:sp>
        <p:nvSpPr>
          <p:cNvPr id="13" name="需求数据：每SKU每期需求和x1至x20。未来x">
            <a:extLst xmlns:a="http://schemas.openxmlformats.org/drawingml/2006/main">
              <a:ext uri="{FF2B5EF4-FFF2-40B4-BE49-F238E27FC236}">
                <a16:creationId xmlns:a16="http://schemas.microsoft.com/office/drawing/2014/main" id="{B94ADD98-578E-493C-BE0A-6646D23B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需求数据：每SKU每期需求和x1至x20。未来x不可提前获得。</a:t>
            </a:r>
          </a:p>
        </p:txBody>
      </p:sp>
      <p:sp>
        <p:nvSpPr>
          <p:cNvPr id="14" name="初始总库存720,430件，初始在途为0。期末库">
            <a:extLst xmlns:a="http://schemas.openxmlformats.org/drawingml/2006/main">
              <a:ext uri="{FF2B5EF4-FFF2-40B4-BE49-F238E27FC236}">
                <a16:creationId xmlns:a16="http://schemas.microsoft.com/office/drawing/2014/main" id="{0FF4AAB4-FF2D-401B-B5B3-5CBB45DD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初始总库存720,430件，初始在途为0。期末库存不允许为负。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B9A78-5DFD-4E07-ABF7-35AE7A9547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5d862cf884add"/>
          <a:stretch xmlns:a="http://schemas.openxmlformats.org/drawingml/2006/main"/>
        </p:blipFill>
        <p:spPr>
          <a:xfrm xmlns:a="http://schemas.openxmlformats.org/drawingml/2006/main">
            <a:off x="639255" y="5381625"/>
            <a:ext cx="10913491" cy="4953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3619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yuan xuecheng / 特征工程">
            <a:extLst xmlns:a="http://schemas.openxmlformats.org/drawingml/2006/main">
              <a:ext uri="{FF2B5EF4-FFF2-40B4-BE49-F238E27FC236}">
                <a16:creationId xmlns:a16="http://schemas.microsoft.com/office/drawing/2014/main" id="{86C37EE6-3E88-4E55-B8F2-062F6F20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 / 特征工程</a:t>
            </a:r>
          </a:p>
        </p:txBody>
      </p:sp>
      <p:sp>
        <p:nvSpPr>
          <p:cNvPr id="2" name="共享模型保留SKU差异，输入严格滞后">
            <a:extLst xmlns:a="http://schemas.openxmlformats.org/drawingml/2006/main">
              <a:ext uri="{FF2B5EF4-FFF2-40B4-BE49-F238E27FC236}">
                <a16:creationId xmlns:a16="http://schemas.microsoft.com/office/drawing/2014/main" id="{23D2BA9D-9274-4B8D-93AF-90ED68F9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共享模型保留SKU差异，输入严格滞后</a:t>
            </a:r>
          </a:p>
        </p:txBody>
      </p:sp>
      <p:sp>
        <p:nvSpPr>
          <p:cNvPr id="3" name="历史需求、已观测x与库存状态分别承担不同作用">
            <a:extLst xmlns:a="http://schemas.openxmlformats.org/drawingml/2006/main">
              <a:ext uri="{FF2B5EF4-FFF2-40B4-BE49-F238E27FC236}">
                <a16:creationId xmlns:a16="http://schemas.microsoft.com/office/drawing/2014/main" id="{10BB0E92-1016-4BF6-8F7E-0746F202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历史需求、已观测x与库存状态分别承担不同作用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D84622A3-BD08-47C2-82DD-186E55BA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244821A0-F442-456F-9AD2-264F3830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6" name="07">
            <a:extLst xmlns:a="http://schemas.openxmlformats.org/drawingml/2006/main">
              <a:ext uri="{FF2B5EF4-FFF2-40B4-BE49-F238E27FC236}">
                <a16:creationId xmlns:a16="http://schemas.microsoft.com/office/drawing/2014/main" id="{ECAFF4D9-D75D-4F7C-B5D7-22999183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7" name="历史需求描述商品状态">
            <a:extLst xmlns:a="http://schemas.openxmlformats.org/drawingml/2006/main">
              <a:ext uri="{FF2B5EF4-FFF2-40B4-BE49-F238E27FC236}">
                <a16:creationId xmlns:a16="http://schemas.microsoft.com/office/drawing/2014/main" id="{947528FD-542B-4EF3-BC60-1542C25E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历史需求描述商品状态</a:t>
            </a:r>
          </a:p>
        </p:txBody>
      </p:sp>
      <p:sp>
        <p:nvSpPr>
          <p:cNvPr id="8" name="需求滞后、滚动均值与波动、趋势和误差尺度，按SK">
            <a:extLst xmlns:a="http://schemas.openxmlformats.org/drawingml/2006/main">
              <a:ext uri="{FF2B5EF4-FFF2-40B4-BE49-F238E27FC236}">
                <a16:creationId xmlns:a16="http://schemas.microsoft.com/office/drawing/2014/main" id="{C34AFD3C-F7D9-44E4-B73E-31DF2C63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需求滞后、滚动均值与波动、趋势和误差尺度，按SKU尺度处理</a:t>
            </a:r>
          </a:p>
        </p:txBody>
      </p:sp>
      <p:sp>
        <p:nvSpPr>
          <p:cNvPr id="9" name="x1至x20只使用已知信息">
            <a:extLst xmlns:a="http://schemas.openxmlformats.org/drawingml/2006/main">
              <a:ext uri="{FF2B5EF4-FFF2-40B4-BE49-F238E27FC236}">
                <a16:creationId xmlns:a16="http://schemas.microsoft.com/office/drawing/2014/main" id="{6F9DE660-5D25-4110-834F-A139A6F4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x1至x20只使用已知信息</a:t>
            </a:r>
          </a:p>
        </p:txBody>
      </p:sp>
      <p:sp>
        <p:nvSpPr>
          <p:cNvPr id="10" name="树模型使用59维严格滞后特征，概率网络使用38维">
            <a:extLst xmlns:a="http://schemas.openxmlformats.org/drawingml/2006/main">
              <a:ext uri="{FF2B5EF4-FFF2-40B4-BE49-F238E27FC236}">
                <a16:creationId xmlns:a16="http://schemas.microsoft.com/office/drawing/2014/main" id="{06FA161F-1DA1-4A2B-BF28-50BB7B58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树模型使用59维严格滞后特征，概率网络使用38维输入</a:t>
            </a:r>
          </a:p>
        </p:txBody>
      </p:sp>
      <p:sp>
        <p:nvSpPr>
          <p:cNvPr id="11" name="SKU身份与库存状态">
            <a:extLst xmlns:a="http://schemas.openxmlformats.org/drawingml/2006/main">
              <a:ext uri="{FF2B5EF4-FFF2-40B4-BE49-F238E27FC236}">
                <a16:creationId xmlns:a16="http://schemas.microsoft.com/office/drawing/2014/main" id="{95562CFC-8C9F-44C6-AA13-BECE45CC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SKU身份与库存状态</a:t>
            </a:r>
          </a:p>
        </p:txBody>
      </p:sp>
      <p:sp>
        <p:nvSpPr>
          <p:cNvPr id="12" name="概率网络增加8维SKU嵌入。当前库存进入决策层，">
            <a:extLst xmlns:a="http://schemas.openxmlformats.org/drawingml/2006/main">
              <a:ext uri="{FF2B5EF4-FFF2-40B4-BE49-F238E27FC236}">
                <a16:creationId xmlns:a16="http://schemas.microsoft.com/office/drawing/2014/main" id="{F43A057F-CA1C-4B0B-BE88-579742B5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概率网络增加8维SKU嵌入。当前库存进入决策层，未来真实需求仅作训练监督</a:t>
            </a:r>
          </a:p>
        </p:txBody>
      </p:sp>
    </p:spTree>
    <p:extLst>
      <p:ext uri="{BB962C8B-B14F-4D97-AF65-F5344CB8AC3E}">
        <p14:creationId xmlns:p14="http://schemas.microsoft.com/office/powerpoint/2010/main" val="19525553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yuan xuecheng / 先预测再决策">
            <a:extLst xmlns:a="http://schemas.openxmlformats.org/drawingml/2006/main">
              <a:ext uri="{FF2B5EF4-FFF2-40B4-BE49-F238E27FC236}">
                <a16:creationId xmlns:a16="http://schemas.microsoft.com/office/drawing/2014/main" id="{76D6B432-2716-483E-9440-7D6C377D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 / 先预测再决策</a:t>
            </a:r>
          </a:p>
        </p:txBody>
      </p:sp>
      <p:sp>
        <p:nvSpPr>
          <p:cNvPr id="2" name="预测模型之后仍需校准补货水位">
            <a:extLst xmlns:a="http://schemas.openxmlformats.org/drawingml/2006/main">
              <a:ext uri="{FF2B5EF4-FFF2-40B4-BE49-F238E27FC236}">
                <a16:creationId xmlns:a16="http://schemas.microsoft.com/office/drawing/2014/main" id="{7E2AE945-9C54-4A81-B4A6-9B7E9E64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预测模型之后仍需校准补货水位</a:t>
            </a:r>
          </a:p>
        </p:txBody>
      </p:sp>
      <p:sp>
        <p:nvSpPr>
          <p:cNvPr id="3" name="预测误差小，并不自动保证库存结果好">
            <a:extLst xmlns:a="http://schemas.openxmlformats.org/drawingml/2006/main">
              <a:ext uri="{FF2B5EF4-FFF2-40B4-BE49-F238E27FC236}">
                <a16:creationId xmlns:a16="http://schemas.microsoft.com/office/drawing/2014/main" id="{997A7523-502A-434D-8650-6BD5020A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预测误差小，并不自动保证库存结果好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5A3BCB68-95FF-460A-B74B-613C3B51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B82B907A-A855-464E-938D-3316A2CD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6" name="08">
            <a:extLst xmlns:a="http://schemas.openxmlformats.org/drawingml/2006/main">
              <a:ext uri="{FF2B5EF4-FFF2-40B4-BE49-F238E27FC236}">
                <a16:creationId xmlns:a16="http://schemas.microsoft.com/office/drawing/2014/main" id="{E9C80833-46E4-4713-8C6F-15C3DAA7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4625E-99D2-4718-9C00-B8C7F0B967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c4187fa5a45b1"/>
          <a:stretch xmlns:a="http://schemas.openxmlformats.org/drawingml/2006/main"/>
        </p:blipFill>
        <p:spPr>
          <a:xfrm xmlns:a="http://schemas.openxmlformats.org/drawingml/2006/main">
            <a:off x="617754" y="2219325"/>
            <a:ext cx="5115847" cy="7620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A2640-454E-4360-BE2C-790F87F784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8b07d7f7a49cf"/>
          <a:stretch xmlns:a="http://schemas.openxmlformats.org/drawingml/2006/main"/>
        </p:blipFill>
        <p:spPr>
          <a:xfrm xmlns:a="http://schemas.openxmlformats.org/drawingml/2006/main">
            <a:off x="609600" y="3219493"/>
            <a:ext cx="4982681" cy="733338"/>
          </a:xfrm>
          <a:prstGeom xmlns:a="http://schemas.openxmlformats.org/drawingml/2006/main" prst="rect">
            <a:avLst/>
          </a:prstGeom>
        </p:spPr>
      </p:pic>
      <p:sp>
        <p:nvSpPr>
          <p:cNvPr id="9" name="01  拟合预测器">
            <a:extLst xmlns:a="http://schemas.openxmlformats.org/drawingml/2006/main">
              <a:ext uri="{FF2B5EF4-FFF2-40B4-BE49-F238E27FC236}">
                <a16:creationId xmlns:a16="http://schemas.microsoft.com/office/drawing/2014/main" id="{C89E820C-E4D2-40D2-A10C-EB261B44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01  拟合预测器</a:t>
            </a:r>
          </a:p>
        </p:txBody>
      </p:sp>
      <p:sp>
        <p:nvSpPr>
          <p:cNvPr id="10" name="训练1至42期">
            <a:extLst xmlns:a="http://schemas.openxmlformats.org/drawingml/2006/main">
              <a:ext uri="{FF2B5EF4-FFF2-40B4-BE49-F238E27FC236}">
                <a16:creationId xmlns:a16="http://schemas.microsoft.com/office/drawing/2014/main" id="{20C6EADB-080D-45C6-9905-80FD9E61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320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训练1至42期</a:t>
            </a:r>
          </a:p>
        </p:txBody>
      </p:sp>
      <p:sp>
        <p:nvSpPr>
          <p:cNvPr id="11" name="02  验证策略">
            <a:extLst xmlns:a="http://schemas.openxmlformats.org/drawingml/2006/main">
              <a:ext uri="{FF2B5EF4-FFF2-40B4-BE49-F238E27FC236}">
                <a16:creationId xmlns:a16="http://schemas.microsoft.com/office/drawing/2014/main" id="{F46F4153-350B-451E-BDB5-F5D43B83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95775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02  验证策略</a:t>
            </a:r>
          </a:p>
        </p:txBody>
      </p:sp>
      <p:sp>
        <p:nvSpPr>
          <p:cNvPr id="12" name="43至60期回放选参数和z">
            <a:extLst xmlns:a="http://schemas.openxmlformats.org/drawingml/2006/main">
              <a:ext uri="{FF2B5EF4-FFF2-40B4-BE49-F238E27FC236}">
                <a16:creationId xmlns:a16="http://schemas.microsoft.com/office/drawing/2014/main" id="{BFDF31C4-83BF-436C-BF89-65BF9B9A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529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43至60期回放选参数和z</a:t>
            </a:r>
          </a:p>
        </p:txBody>
      </p:sp>
      <p:sp>
        <p:nvSpPr>
          <p:cNvPr id="13" name="03  冻结测试">
            <a:extLst xmlns:a="http://schemas.openxmlformats.org/drawingml/2006/main">
              <a:ext uri="{FF2B5EF4-FFF2-40B4-BE49-F238E27FC236}">
                <a16:creationId xmlns:a16="http://schemas.microsoft.com/office/drawing/2014/main" id="{3CE42694-94B5-4B9D-B461-E5917829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95775"/>
            <a:ext cx="340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03  冻结测试</a:t>
            </a:r>
          </a:p>
        </p:txBody>
      </p:sp>
      <p:sp>
        <p:nvSpPr>
          <p:cNvPr id="14" name="全60期重拟合后测试28期">
            <a:extLst xmlns:a="http://schemas.openxmlformats.org/drawingml/2006/main">
              <a:ext uri="{FF2B5EF4-FFF2-40B4-BE49-F238E27FC236}">
                <a16:creationId xmlns:a16="http://schemas.microsoft.com/office/drawing/2014/main" id="{C8BD53B1-5B11-4266-A0C2-285E744A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52975"/>
            <a:ext cx="3400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全60期重拟合后测试28期</a:t>
            </a:r>
          </a:p>
        </p:txBody>
      </p:sp>
      <p:sp>
        <p:nvSpPr>
          <p:cNvPr id="15" name="z由库存回放选择，不能直接把需求95%分位数等同">
            <a:extLst xmlns:a="http://schemas.openxmlformats.org/drawingml/2006/main">
              <a:ext uri="{FF2B5EF4-FFF2-40B4-BE49-F238E27FC236}">
                <a16:creationId xmlns:a16="http://schemas.microsoft.com/office/drawing/2014/main" id="{773F82AA-9A80-424A-9A76-097ACFA9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z由库存回放选择，不能直接把需求95%分位数等同于最终服务水平95%。</a:t>
            </a:r>
          </a:p>
        </p:txBody>
      </p:sp>
    </p:spTree>
    <p:extLst>
      <p:ext uri="{BB962C8B-B14F-4D97-AF65-F5344CB8AC3E}">
        <p14:creationId xmlns:p14="http://schemas.microsoft.com/office/powerpoint/2010/main" val="2971395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yuan xuecheng / 历史与时间序列">
            <a:extLst xmlns:a="http://schemas.openxmlformats.org/drawingml/2006/main">
              <a:ext uri="{FF2B5EF4-FFF2-40B4-BE49-F238E27FC236}">
                <a16:creationId xmlns:a16="http://schemas.microsoft.com/office/drawing/2014/main" id="{2E461294-D3B6-4640-8CF3-53C996E6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 / 历史与时间序列</a:t>
            </a:r>
          </a:p>
        </p:txBody>
      </p:sp>
      <p:sp>
        <p:nvSpPr>
          <p:cNvPr id="2" name="指数平滑库存较低，历史Baseline偏保守">
            <a:extLst xmlns:a="http://schemas.openxmlformats.org/drawingml/2006/main">
              <a:ext uri="{FF2B5EF4-FFF2-40B4-BE49-F238E27FC236}">
                <a16:creationId xmlns:a16="http://schemas.microsoft.com/office/drawing/2014/main" id="{2E490221-C720-47C0-AD19-28ABA939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指数平滑库存较低，历史Baseline偏保守</a:t>
            </a:r>
          </a:p>
        </p:txBody>
      </p:sp>
      <p:sp>
        <p:nvSpPr>
          <p:cNvPr id="3" name="先建立不用未来x的可复现参照">
            <a:extLst xmlns:a="http://schemas.openxmlformats.org/drawingml/2006/main">
              <a:ext uri="{FF2B5EF4-FFF2-40B4-BE49-F238E27FC236}">
                <a16:creationId xmlns:a16="http://schemas.microsoft.com/office/drawing/2014/main" id="{6FDB7E90-1694-427C-9DEF-F454DEEA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先建立不用未来x的可复现参照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9676DE41-AEC2-4CB6-81F0-D457170A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39561D38-0BA3-4DAC-842D-EEED6A1D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6" name="09">
            <a:extLst xmlns:a="http://schemas.openxmlformats.org/drawingml/2006/main">
              <a:ext uri="{FF2B5EF4-FFF2-40B4-BE49-F238E27FC236}">
                <a16:creationId xmlns:a16="http://schemas.microsoft.com/office/drawing/2014/main" id="{7A4EA3F8-A918-46F1-8658-1E4B163F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D5433024-AD9F-42AB-BC71-59117FCB8D78}"/>
              </a:ext>
            </a:extLst>
          </p:cNvPr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b32b7f04e246ad"/>
          </a:graphicData>
        </a:graphic>
      </p:graphicFrame>
      <p:sp>
        <p:nvSpPr>
          <p:cNvPr id="8" name="历史Baseline平均库存 1,750.48万">
            <a:extLst xmlns:a="http://schemas.openxmlformats.org/drawingml/2006/main">
              <a:ext uri="{FF2B5EF4-FFF2-40B4-BE49-F238E27FC236}">
                <a16:creationId xmlns:a16="http://schemas.microsoft.com/office/drawing/2014/main" id="{7D011794-5AE7-4365-9B2A-AFAB4AF3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历史Baseline平均库存 1,750.48万件</a:t>
            </a:r>
          </a:p>
        </p:txBody>
      </p:sp>
    </p:spTree>
    <p:extLst>
      <p:ext uri="{BB962C8B-B14F-4D97-AF65-F5344CB8AC3E}">
        <p14:creationId xmlns:p14="http://schemas.microsoft.com/office/powerpoint/2010/main" val="7689427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yuan xuecheng / 机器学习">
            <a:extLst xmlns:a="http://schemas.openxmlformats.org/drawingml/2006/main">
              <a:ext uri="{FF2B5EF4-FFF2-40B4-BE49-F238E27FC236}">
                <a16:creationId xmlns:a16="http://schemas.microsoft.com/office/drawing/2014/main" id="{45947095-6167-4925-8928-B6A95A7B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 / 机器学习</a:t>
            </a:r>
          </a:p>
        </p:txBody>
      </p:sp>
      <p:sp>
        <p:nvSpPr>
          <p:cNvPr id="2" name="树模型库存较低，服务水平仍需校准">
            <a:extLst xmlns:a="http://schemas.openxmlformats.org/drawingml/2006/main">
              <a:ext uri="{FF2B5EF4-FFF2-40B4-BE49-F238E27FC236}">
                <a16:creationId xmlns:a16="http://schemas.microsoft.com/office/drawing/2014/main" id="{85B8C764-3377-4561-ACEB-C6229FEC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树模型库存较低，服务水平仍需校准</a:t>
            </a:r>
          </a:p>
        </p:txBody>
      </p:sp>
      <p:sp>
        <p:nvSpPr>
          <p:cNvPr id="3" name="独立训练9类模型，代表结果展示线性模型与树模型">
            <a:extLst xmlns:a="http://schemas.openxmlformats.org/drawingml/2006/main">
              <a:ext uri="{FF2B5EF4-FFF2-40B4-BE49-F238E27FC236}">
                <a16:creationId xmlns:a16="http://schemas.microsoft.com/office/drawing/2014/main" id="{1078C1D4-C3A8-47F6-93E2-AFEF4F36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独立训练9类模型，代表结果展示线性模型与树模型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135F46A6-4716-45B7-A2E2-E271CAE2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2D1C6B68-DD77-4988-907A-99ABA901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F4C7D54A-21D1-42D0-83DD-3A0CEE72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6B39BAC7-4CE2-42A1-AC85-64FF2A4498BC}"/>
              </a:ext>
            </a:extLst>
          </p:cNvPr>
          <p:cNvGraphicFramePr/>
          <p:nvPr/>
        </p:nvGraphicFramePr>
        <p:xfrm>
          <a:off xmlns:a="http://schemas.openxmlformats.org/drawingml/2006/main" x="609600" y="2105025"/>
          <a:ext xmlns:a="http://schemas.openxmlformats.org/drawingml/2006/main" cx="547687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60422f5b3d4fb7"/>
          </a:graphicData>
        </a:graphic>
      </p:graphicFrame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D301A6BA-C24C-422A-BA54-248E09C28E7A}"/>
              </a:ext>
            </a:extLst>
          </p:cNvPr>
          <p:cNvGraphicFramePr/>
          <p:nvPr/>
        </p:nvGraphicFramePr>
        <p:xfrm>
          <a:off xmlns:a="http://schemas.openxmlformats.org/drawingml/2006/main" x="6353175" y="2105025"/>
          <a:ext xmlns:a="http://schemas.openxmlformats.org/drawingml/2006/main" cx="522922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c01ec5a8e84496"/>
          </a:graphicData>
        </a:graphic>
      </p:graphicFrame>
      <p:sp>
        <p:nvSpPr>
          <p:cNvPr id="9" name="LightGBM：服务水平93.41%，Fill">
            <a:extLst xmlns:a="http://schemas.openxmlformats.org/drawingml/2006/main">
              <a:ext uri="{FF2B5EF4-FFF2-40B4-BE49-F238E27FC236}">
                <a16:creationId xmlns:a16="http://schemas.microsoft.com/office/drawing/2014/main" id="{B570767A-CA84-4F37-9ABF-DC48BB4F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LightGBM：服务水平93.41%，Fill Rate98.61%。较高Fill不能代替服务约束达标。</a:t>
            </a:r>
          </a:p>
        </p:txBody>
      </p:sp>
    </p:spTree>
    <p:extLst>
      <p:ext uri="{BB962C8B-B14F-4D97-AF65-F5344CB8AC3E}">
        <p14:creationId xmlns:p14="http://schemas.microsoft.com/office/powerpoint/2010/main" val="5187769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yuan xuecheng / SPO成本学习">
            <a:extLst xmlns:a="http://schemas.openxmlformats.org/drawingml/2006/main">
              <a:ext uri="{FF2B5EF4-FFF2-40B4-BE49-F238E27FC236}">
                <a16:creationId xmlns:a16="http://schemas.microsoft.com/office/drawing/2014/main" id="{72FD03BC-F1F6-4807-B8C2-824A7AC4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 / SPO成本学习</a:t>
            </a:r>
          </a:p>
        </p:txBody>
      </p:sp>
      <p:sp>
        <p:nvSpPr>
          <p:cNvPr id="2" name="SPO树模型学习动作成本，而非只拟合需求">
            <a:extLst xmlns:a="http://schemas.openxmlformats.org/drawingml/2006/main">
              <a:ext uri="{FF2B5EF4-FFF2-40B4-BE49-F238E27FC236}">
                <a16:creationId xmlns:a16="http://schemas.microsoft.com/office/drawing/2014/main" id="{46BC54D2-A8B9-4353-8782-FF0BFB90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SPO树模型学习动作成本，而非只拟合需求</a:t>
            </a:r>
          </a:p>
        </p:txBody>
      </p:sp>
      <p:sp>
        <p:nvSpPr>
          <p:cNvPr id="3" name="有限动作版本，不等同于原始混合整数模型的硬求解器">
            <a:extLst xmlns:a="http://schemas.openxmlformats.org/drawingml/2006/main">
              <a:ext uri="{FF2B5EF4-FFF2-40B4-BE49-F238E27FC236}">
                <a16:creationId xmlns:a16="http://schemas.microsoft.com/office/drawing/2014/main" id="{3E7B7D2B-07CC-4543-A318-0B4AE210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有限动作版本，不等同于原始混合整数模型的硬求解器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B1E299CF-A238-4C95-B65E-55F19D48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21FA574C-3B74-439D-A109-2F0EE39E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001CDD8B-ADE2-46C5-96DB-1C9B4F7A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1F869-E26E-41BB-A89F-0CD866F451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9dd5af3f446d1"/>
          <a:stretch xmlns:a="http://schemas.openxmlformats.org/drawingml/2006/main"/>
        </p:blipFill>
        <p:spPr>
          <a:xfrm xmlns:a="http://schemas.openxmlformats.org/drawingml/2006/main">
            <a:off x="609600" y="2162345"/>
            <a:ext cx="5151353" cy="104741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B7C2C-C2BE-47E2-AF18-DB87D0C92E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56f2079bd4cf5"/>
          <a:stretch xmlns:a="http://schemas.openxmlformats.org/drawingml/2006/main"/>
        </p:blipFill>
        <p:spPr>
          <a:xfrm xmlns:a="http://schemas.openxmlformats.org/drawingml/2006/main">
            <a:off x="611169" y="3429000"/>
            <a:ext cx="6523461" cy="1009650"/>
          </a:xfrm>
          <a:prstGeom xmlns:a="http://schemas.openxmlformats.org/drawingml/2006/main" prst="rect">
            <a:avLst/>
          </a:prstGeom>
        </p:spPr>
      </p:pic>
      <p:sp>
        <p:nvSpPr>
          <p:cNvPr id="9" name="c是历史需求回放产生的真实动作成本，ĉ是树模型预">
            <a:extLst xmlns:a="http://schemas.openxmlformats.org/drawingml/2006/main">
              <a:ext uri="{FF2B5EF4-FFF2-40B4-BE49-F238E27FC236}">
                <a16:creationId xmlns:a16="http://schemas.microsoft.com/office/drawing/2014/main" id="{B1C2A9F5-646F-49E0-BDEF-EA5DC90B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c是历史需求回放产生的真实动作成本，ĉ是树模型预测成本。</a:t>
            </a:r>
          </a:p>
        </p:txBody>
      </p:sp>
      <p:sp>
        <p:nvSpPr>
          <p:cNvPr id="10" name="a*是标签成本最低的动作，τ控制平滑，α控制决策">
            <a:extLst xmlns:a="http://schemas.openxmlformats.org/drawingml/2006/main">
              <a:ext uri="{FF2B5EF4-FFF2-40B4-BE49-F238E27FC236}">
                <a16:creationId xmlns:a16="http://schemas.microsoft.com/office/drawing/2014/main" id="{3E29BA90-F19F-4AA9-8EB8-36797B44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a*是标签成本最低的动作，τ控制平滑，α控制决策损失权重。</a:t>
            </a:r>
          </a:p>
        </p:txBody>
      </p:sp>
    </p:spTree>
    <p:extLst>
      <p:ext uri="{BB962C8B-B14F-4D97-AF65-F5344CB8AC3E}">
        <p14:creationId xmlns:p14="http://schemas.microsoft.com/office/powerpoint/2010/main" val="13442725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yuan xuecheng / SPO与直接策略">
            <a:extLst xmlns:a="http://schemas.openxmlformats.org/drawingml/2006/main">
              <a:ext uri="{FF2B5EF4-FFF2-40B4-BE49-F238E27FC236}">
                <a16:creationId xmlns:a16="http://schemas.microsoft.com/office/drawing/2014/main" id="{AABEC5CB-1BCD-4A67-B36B-7C47A032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 / SPO与直接策略</a:t>
            </a:r>
          </a:p>
        </p:txBody>
      </p:sp>
      <p:sp>
        <p:nvSpPr>
          <p:cNvPr id="2" name="决策损失尚未带来更好的库存折中">
            <a:extLst xmlns:a="http://schemas.openxmlformats.org/drawingml/2006/main">
              <a:ext uri="{FF2B5EF4-FFF2-40B4-BE49-F238E27FC236}">
                <a16:creationId xmlns:a16="http://schemas.microsoft.com/office/drawing/2014/main" id="{8A5B3D93-47B9-46C3-9147-CFCB4E91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决策损失尚未带来更好的库存折中</a:t>
            </a:r>
          </a:p>
        </p:txBody>
      </p:sp>
      <p:sp>
        <p:nvSpPr>
          <p:cNvPr id="3" name="不同端到端参数化必须分别评价">
            <a:extLst xmlns:a="http://schemas.openxmlformats.org/drawingml/2006/main">
              <a:ext uri="{FF2B5EF4-FFF2-40B4-BE49-F238E27FC236}">
                <a16:creationId xmlns:a16="http://schemas.microsoft.com/office/drawing/2014/main" id="{3FCB1532-A8AF-44A0-87E4-79C42273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不同端到端参数化必须分别评价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172B858E-52F2-4830-9B2C-7EA5CFB2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B0963B59-CE26-4C47-866C-27F58808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6" name="12">
            <a:extLst xmlns:a="http://schemas.openxmlformats.org/drawingml/2006/main">
              <a:ext uri="{FF2B5EF4-FFF2-40B4-BE49-F238E27FC236}">
                <a16:creationId xmlns:a16="http://schemas.microsoft.com/office/drawing/2014/main" id="{FAA2F9C4-C90A-4080-9CF8-4F06D7E8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C77AAE60-E16E-45F9-BAEC-0819A7BBB2AC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457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01684a84f4426c"/>
          </a:graphicData>
        </a:graphic>
      </p:graphicFrame>
      <p:sp>
        <p:nvSpPr>
          <p:cNvPr id="8" name="当前SPO和直接树策略库存偏高。直接策略网络与直">
            <a:extLst xmlns:a="http://schemas.openxmlformats.org/drawingml/2006/main">
              <a:ext uri="{FF2B5EF4-FFF2-40B4-BE49-F238E27FC236}">
                <a16:creationId xmlns:a16="http://schemas.microsoft.com/office/drawing/2014/main" id="{219DFFA9-87A7-430B-8EC7-686DEE87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当前SPO和直接树策略库存偏高。直接策略网络与直接LightGBM采用不同结构。</a:t>
            </a:r>
          </a:p>
        </p:txBody>
      </p:sp>
    </p:spTree>
    <p:extLst>
      <p:ext uri="{BB962C8B-B14F-4D97-AF65-F5344CB8AC3E}">
        <p14:creationId xmlns:p14="http://schemas.microsoft.com/office/powerpoint/2010/main" val="10344603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yuan xuecheng / DFL模型结构">
            <a:extLst xmlns:a="http://schemas.openxmlformats.org/drawingml/2006/main">
              <a:ext uri="{FF2B5EF4-FFF2-40B4-BE49-F238E27FC236}">
                <a16:creationId xmlns:a16="http://schemas.microsoft.com/office/drawing/2014/main" id="{B98FB4C5-A443-4633-A798-DB815B9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 / DFL模型结构</a:t>
            </a:r>
          </a:p>
        </p:txBody>
      </p:sp>
      <p:sp>
        <p:nvSpPr>
          <p:cNvPr id="2" name="DFL把分布预测、库存优化和真实回放连接">
            <a:extLst xmlns:a="http://schemas.openxmlformats.org/drawingml/2006/main">
              <a:ext uri="{FF2B5EF4-FFF2-40B4-BE49-F238E27FC236}">
                <a16:creationId xmlns:a16="http://schemas.microsoft.com/office/drawing/2014/main" id="{3E97162B-E7C4-4D2D-B2ED-DE6E5778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DFL把分布预测、库存优化和真实回放连接</a:t>
            </a:r>
          </a:p>
        </p:txBody>
      </p:sp>
      <p:sp>
        <p:nvSpPr>
          <p:cNvPr id="3" name="决策聚焦学习（Decision-Focused ">
            <a:extLst xmlns:a="http://schemas.openxmlformats.org/drawingml/2006/main">
              <a:ext uri="{FF2B5EF4-FFF2-40B4-BE49-F238E27FC236}">
                <a16:creationId xmlns:a16="http://schemas.microsoft.com/office/drawing/2014/main" id="{3781B460-51EF-4462-98E5-72CDC7E2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决策聚焦学习（Decision-Focused Learning）：用库存结果更新预测网络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A3058146-48DC-4814-955F-93584971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D06C9D65-B939-4A80-87F1-6E129112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46E1BC6C-29F3-4853-94CA-BF9003F2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BE68CAA0-21E5-4DB5-8027-4DDF119A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74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7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共享概率网络">
            <a:extLst xmlns:a="http://schemas.openxmlformats.org/drawingml/2006/main">
              <a:ext uri="{FF2B5EF4-FFF2-40B4-BE49-F238E27FC236}">
                <a16:creationId xmlns:a16="http://schemas.microsoft.com/office/drawing/2014/main" id="{3A0CC81A-167A-46F0-B193-BEE2694C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133600"/>
            <a:ext cx="9972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共享概率网络</a:t>
            </a:r>
          </a:p>
        </p:txBody>
      </p:sp>
      <p:sp>
        <p:nvSpPr>
          <p:cNvPr id="9" name="38维历史输入与8维SKU嵌入，输出对数需求均值">
            <a:extLst xmlns:a="http://schemas.openxmlformats.org/drawingml/2006/main">
              <a:ext uri="{FF2B5EF4-FFF2-40B4-BE49-F238E27FC236}">
                <a16:creationId xmlns:a16="http://schemas.microsoft.com/office/drawing/2014/main" id="{47639B93-0254-4D4C-8919-A287B1BB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62225"/>
            <a:ext cx="9972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38维历史输入与8维SKU嵌入，输出对数需求均值μ和尺度σ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E50D0502-435A-4C8F-91A1-835C27E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74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7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场景与内层决策">
            <a:extLst xmlns:a="http://schemas.openxmlformats.org/drawingml/2006/main">
              <a:ext uri="{FF2B5EF4-FFF2-40B4-BE49-F238E27FC236}">
                <a16:creationId xmlns:a16="http://schemas.microsoft.com/office/drawing/2014/main" id="{87B14AF9-5DCC-435F-A133-894D0465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086100"/>
            <a:ext cx="9972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场景与内层决策</a:t>
            </a:r>
          </a:p>
        </p:txBody>
      </p:sp>
      <p:sp>
        <p:nvSpPr>
          <p:cNvPr id="12" name="8个相关需求场景，结合当前库存迭代优化下一期订单">
            <a:extLst xmlns:a="http://schemas.openxmlformats.org/drawingml/2006/main">
              <a:ext uri="{FF2B5EF4-FFF2-40B4-BE49-F238E27FC236}">
                <a16:creationId xmlns:a16="http://schemas.microsoft.com/office/drawing/2014/main" id="{9F83B373-6608-4EBF-9870-38B355F3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514725"/>
            <a:ext cx="9972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8个相关需求场景，结合当前库存迭代优化下一期订单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2BBD127F-FFB4-477E-B49D-0AF3D359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74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7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真实需求回放">
            <a:extLst xmlns:a="http://schemas.openxmlformats.org/drawingml/2006/main">
              <a:ext uri="{FF2B5EF4-FFF2-40B4-BE49-F238E27FC236}">
                <a16:creationId xmlns:a16="http://schemas.microsoft.com/office/drawing/2014/main" id="{6E41A015-2F5A-4110-87CF-A1500B10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038600"/>
            <a:ext cx="9972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真实需求回放</a:t>
            </a:r>
          </a:p>
        </p:txBody>
      </p:sp>
      <p:sp>
        <p:nvSpPr>
          <p:cNvPr id="15" name="用训练需求更新库存，计算库存比、服务罚与分布误差">
            <a:extLst xmlns:a="http://schemas.openxmlformats.org/drawingml/2006/main">
              <a:ext uri="{FF2B5EF4-FFF2-40B4-BE49-F238E27FC236}">
                <a16:creationId xmlns:a16="http://schemas.microsoft.com/office/drawing/2014/main" id="{F60A2852-9A31-4501-8344-B80638F4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467225"/>
            <a:ext cx="9972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用训练需求更新库存，计算库存比、服务罚与分布误差</a:t>
            </a:r>
          </a:p>
        </p:txBody>
      </p:sp>
      <p:sp>
        <p:nvSpPr>
          <p:cNvPr id="16" name="04">
            <a:extLst xmlns:a="http://schemas.openxmlformats.org/drawingml/2006/main">
              <a:ext uri="{FF2B5EF4-FFF2-40B4-BE49-F238E27FC236}">
                <a16:creationId xmlns:a16="http://schemas.microsoft.com/office/drawing/2014/main" id="{522D7335-DE3E-4D18-AD1C-3DCE4590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4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7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7" name="参数更新">
            <a:extLst xmlns:a="http://schemas.openxmlformats.org/drawingml/2006/main">
              <a:ext uri="{FF2B5EF4-FFF2-40B4-BE49-F238E27FC236}">
                <a16:creationId xmlns:a16="http://schemas.microsoft.com/office/drawing/2014/main" id="{3576744F-4D5C-4482-8F8F-F5974CB4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991100"/>
            <a:ext cx="9972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参数更新</a:t>
            </a:r>
          </a:p>
        </p:txBody>
      </p:sp>
      <p:sp>
        <p:nvSpPr>
          <p:cNvPr id="18" name="从外层损失更新分布网络，再用验证段选择配置">
            <a:extLst xmlns:a="http://schemas.openxmlformats.org/drawingml/2006/main">
              <a:ext uri="{FF2B5EF4-FFF2-40B4-BE49-F238E27FC236}">
                <a16:creationId xmlns:a16="http://schemas.microsoft.com/office/drawing/2014/main" id="{FA138FC1-DE6B-4146-AC3E-90F8ACE8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5419725"/>
            <a:ext cx="9972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从外层损失更新分布网络，再用验证段选择配置</a:t>
            </a:r>
          </a:p>
        </p:txBody>
      </p:sp>
    </p:spTree>
    <p:extLst>
      <p:ext uri="{BB962C8B-B14F-4D97-AF65-F5344CB8AC3E}">
        <p14:creationId xmlns:p14="http://schemas.microsoft.com/office/powerpoint/2010/main" val="6962283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yuan xuecheng / DFL目标">
            <a:extLst xmlns:a="http://schemas.openxmlformats.org/drawingml/2006/main">
              <a:ext uri="{FF2B5EF4-FFF2-40B4-BE49-F238E27FC236}">
                <a16:creationId xmlns:a16="http://schemas.microsoft.com/office/drawing/2014/main" id="{B4F6E9FD-3668-4AF5-8727-0EE9BE1C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 / DFL目标</a:t>
            </a:r>
          </a:p>
        </p:txBody>
      </p:sp>
      <p:sp>
        <p:nvSpPr>
          <p:cNvPr id="2" name="DFL损失同时考虑库存和服务偏离">
            <a:extLst xmlns:a="http://schemas.openxmlformats.org/drawingml/2006/main">
              <a:ext uri="{FF2B5EF4-FFF2-40B4-BE49-F238E27FC236}">
                <a16:creationId xmlns:a16="http://schemas.microsoft.com/office/drawing/2014/main" id="{2ABEDF15-7BB5-4A5C-A0C9-0903AA1C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DFL损失同时考虑库存和服务偏离</a:t>
            </a:r>
          </a:p>
        </p:txBody>
      </p:sp>
      <p:sp>
        <p:nvSpPr>
          <p:cNvPr id="3" name="真实训练轨迹评价库存，平滑服务代理用于梯度更新">
            <a:extLst xmlns:a="http://schemas.openxmlformats.org/drawingml/2006/main">
              <a:ext uri="{FF2B5EF4-FFF2-40B4-BE49-F238E27FC236}">
                <a16:creationId xmlns:a16="http://schemas.microsoft.com/office/drawing/2014/main" id="{DEC691E2-F027-4241-B4C4-6FF7B5C7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真实训练轨迹评价库存，平滑服务代理用于梯度更新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C1CDB2BD-6704-4EBA-BCE8-8F97EB74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F2DE4FC8-7509-4474-AF5F-F0F620E7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6" name="14">
            <a:extLst xmlns:a="http://schemas.openxmlformats.org/drawingml/2006/main">
              <a:ext uri="{FF2B5EF4-FFF2-40B4-BE49-F238E27FC236}">
                <a16:creationId xmlns:a16="http://schemas.microsoft.com/office/drawing/2014/main" id="{60B17CCC-CAF3-4AD9-924A-81D440F0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98AD8-51E6-4DC5-AE03-1DDFFBDF5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dab410d5f46fb"/>
          <a:stretch xmlns:a="http://schemas.openxmlformats.org/drawingml/2006/main"/>
        </p:blipFill>
        <p:spPr>
          <a:xfrm xmlns:a="http://schemas.openxmlformats.org/drawingml/2006/main">
            <a:off x="613722" y="2124075"/>
            <a:ext cx="6460705" cy="828675"/>
          </a:xfrm>
          <a:prstGeom xmlns:a="http://schemas.openxmlformats.org/drawingml/2006/main" prst="rect">
            <a:avLst/>
          </a:prstGeom>
        </p:spPr>
      </p:pic>
      <p:sp>
        <p:nvSpPr>
          <p:cNvPr id="8" name="J：减少期末库存占用">
            <a:extLst xmlns:a="http://schemas.openxmlformats.org/drawingml/2006/main">
              <a:ext uri="{FF2B5EF4-FFF2-40B4-BE49-F238E27FC236}">
                <a16:creationId xmlns:a16="http://schemas.microsoft.com/office/drawing/2014/main" id="{F47E2798-205E-4D11-9436-6E4AE12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J：减少期末库存占用</a:t>
            </a:r>
          </a:p>
        </p:txBody>
      </p:sp>
      <p:sp>
        <p:nvSpPr>
          <p:cNvPr id="9" name="以总期末库存 / 总需求计量，和最终展示口径一致">
            <a:extLst xmlns:a="http://schemas.openxmlformats.org/drawingml/2006/main">
              <a:ext uri="{FF2B5EF4-FFF2-40B4-BE49-F238E27FC236}">
                <a16:creationId xmlns:a16="http://schemas.microsoft.com/office/drawing/2014/main" id="{ACB7B404-E73F-4F56-895C-C63AC0FA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以总期末库存 / 总需求计量，和最终展示口径一致</a:t>
            </a:r>
          </a:p>
        </p:txBody>
      </p:sp>
      <p:sp>
        <p:nvSpPr>
          <p:cNvPr id="10" name="ρP：控制服务偏离">
            <a:extLst xmlns:a="http://schemas.openxmlformats.org/drawingml/2006/main">
              <a:ext uri="{FF2B5EF4-FFF2-40B4-BE49-F238E27FC236}">
                <a16:creationId xmlns:a16="http://schemas.microsoft.com/office/drawing/2014/main" id="{5122CF0F-03A2-47B0-87EF-E191C5E6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ρP：控制服务偏离</a:t>
            </a:r>
          </a:p>
        </p:txBody>
      </p:sp>
      <p:sp>
        <p:nvSpPr>
          <p:cNvPr id="11" name="训练采用平滑有货比例，目标区间为本轮研究的95%">
            <a:extLst xmlns:a="http://schemas.openxmlformats.org/drawingml/2006/main">
              <a:ext uri="{FF2B5EF4-FFF2-40B4-BE49-F238E27FC236}">
                <a16:creationId xmlns:a16="http://schemas.microsoft.com/office/drawing/2014/main" id="{2EC25EDB-D0D4-43A9-9BEB-1DE3B3BB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训练采用平滑有货比例，目标区间为本轮研究的95%至96%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56150-1924-4761-B8BB-E9A637C2D7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13979749f416e"/>
          <a:stretch xmlns:a="http://schemas.openxmlformats.org/drawingml/2006/main"/>
        </p:blipFill>
        <p:spPr>
          <a:xfrm xmlns:a="http://schemas.openxmlformats.org/drawingml/2006/main">
            <a:off x="609600" y="5095889"/>
            <a:ext cx="5036100" cy="571472"/>
          </a:xfrm>
          <a:prstGeom xmlns:a="http://schemas.openxmlformats.org/drawingml/2006/main" prst="rect">
            <a:avLst/>
          </a:prstGeom>
        </p:spPr>
      </p:pic>
      <p:sp>
        <p:nvSpPr>
          <p:cNvPr id="13" name="NLL项保持预测分布贴近历史需求。有限罚项不保证">
            <a:extLst xmlns:a="http://schemas.openxmlformats.org/drawingml/2006/main">
              <a:ext uri="{FF2B5EF4-FFF2-40B4-BE49-F238E27FC236}">
                <a16:creationId xmlns:a16="http://schemas.microsoft.com/office/drawing/2014/main" id="{9DD27061-0760-48A1-8E64-930ECC6B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NLL项保持预测分布贴近历史需求。有限罚项不保证测试硬服务约束。</a:t>
            </a:r>
          </a:p>
        </p:txBody>
      </p:sp>
    </p:spTree>
    <p:extLst>
      <p:ext uri="{BB962C8B-B14F-4D97-AF65-F5344CB8AC3E}">
        <p14:creationId xmlns:p14="http://schemas.microsoft.com/office/powerpoint/2010/main" val="9547364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yuan xuecheng / DFL训练步骤">
            <a:extLst xmlns:a="http://schemas.openxmlformats.org/drawingml/2006/main">
              <a:ext uri="{FF2B5EF4-FFF2-40B4-BE49-F238E27FC236}">
                <a16:creationId xmlns:a16="http://schemas.microsoft.com/office/drawing/2014/main" id="{1826F24A-03EC-4E72-AE54-6D2D99CC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 / DFL训练步骤</a:t>
            </a:r>
          </a:p>
        </p:txBody>
      </p:sp>
      <p:sp>
        <p:nvSpPr>
          <p:cNvPr id="2" name="10轮预训练后，进行2轮库存微调">
            <a:extLst xmlns:a="http://schemas.openxmlformats.org/drawingml/2006/main">
              <a:ext uri="{FF2B5EF4-FFF2-40B4-BE49-F238E27FC236}">
                <a16:creationId xmlns:a16="http://schemas.microsoft.com/office/drawing/2014/main" id="{5B242807-5E7B-4DAD-9425-9933B2BC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10轮预训练后，进行2轮库存微调</a:t>
            </a:r>
          </a:p>
        </p:txBody>
      </p:sp>
      <p:sp>
        <p:nvSpPr>
          <p:cNvPr id="3" name="参数选择只使用训练内部验证，最终冻结测试">
            <a:extLst xmlns:a="http://schemas.openxmlformats.org/drawingml/2006/main">
              <a:ext uri="{FF2B5EF4-FFF2-40B4-BE49-F238E27FC236}">
                <a16:creationId xmlns:a16="http://schemas.microsoft.com/office/drawing/2014/main" id="{46A995F0-B276-4F47-AF6A-2D836A93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参数选择只使用训练内部验证，最终冻结测试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4190425A-CF05-40A9-966E-93DE24CC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35408F33-7D23-409B-887A-AB4FF233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6" name="15">
            <a:extLst xmlns:a="http://schemas.openxmlformats.org/drawingml/2006/main">
              <a:ext uri="{FF2B5EF4-FFF2-40B4-BE49-F238E27FC236}">
                <a16:creationId xmlns:a16="http://schemas.microsoft.com/office/drawing/2014/main" id="{3999F9F5-9610-4759-96A4-AAA2601B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7" name="01  概率预训练">
            <a:extLst xmlns:a="http://schemas.openxmlformats.org/drawingml/2006/main">
              <a:ext uri="{FF2B5EF4-FFF2-40B4-BE49-F238E27FC236}">
                <a16:creationId xmlns:a16="http://schemas.microsoft.com/office/drawing/2014/main" id="{75344836-EEE2-4CD3-AE4B-DCAC8AD1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23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01  概率预训练</a:t>
            </a:r>
          </a:p>
        </p:txBody>
      </p:sp>
      <p:sp>
        <p:nvSpPr>
          <p:cNvPr id="8" name="Adam学习率0.001，批量4096，拟合历史">
            <a:extLst xmlns:a="http://schemas.openxmlformats.org/drawingml/2006/main">
              <a:ext uri="{FF2B5EF4-FFF2-40B4-BE49-F238E27FC236}">
                <a16:creationId xmlns:a16="http://schemas.microsoft.com/office/drawing/2014/main" id="{5C8636D7-62E8-49EC-A5D2-0FBB2AD2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14550"/>
            <a:ext cx="7581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Adam学习率0.001，批量4096，拟合历史需求分布</a:t>
            </a:r>
          </a:p>
        </p:txBody>
      </p:sp>
      <p:sp>
        <p:nvSpPr>
          <p:cNvPr id="9" name="02  预热库存状态">
            <a:extLst xmlns:a="http://schemas.openxmlformats.org/drawingml/2006/main">
              <a:ext uri="{FF2B5EF4-FFF2-40B4-BE49-F238E27FC236}">
                <a16:creationId xmlns:a16="http://schemas.microsoft.com/office/drawing/2014/main" id="{708A9850-84F7-4394-A158-DA76A6C3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23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02  预热库存状态</a:t>
            </a:r>
          </a:p>
        </p:txBody>
      </p:sp>
      <p:sp>
        <p:nvSpPr>
          <p:cNvPr id="10" name="从当前政策历史回放取初始库存与在途，生成8个需求">
            <a:extLst xmlns:a="http://schemas.openxmlformats.org/drawingml/2006/main">
              <a:ext uri="{FF2B5EF4-FFF2-40B4-BE49-F238E27FC236}">
                <a16:creationId xmlns:a16="http://schemas.microsoft.com/office/drawing/2014/main" id="{8C7F17E8-6F88-4D59-BC4A-78D8125C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7581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从当前政策历史回放取初始库存与在途，生成8个需求场景</a:t>
            </a:r>
          </a:p>
        </p:txBody>
      </p:sp>
      <p:sp>
        <p:nvSpPr>
          <p:cNvPr id="11" name="03  内层展开">
            <a:extLst xmlns:a="http://schemas.openxmlformats.org/drawingml/2006/main">
              <a:ext uri="{FF2B5EF4-FFF2-40B4-BE49-F238E27FC236}">
                <a16:creationId xmlns:a16="http://schemas.microsoft.com/office/drawing/2014/main" id="{87384A49-69AF-4F0C-B85B-84CB60F9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23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03  内层展开</a:t>
            </a:r>
          </a:p>
        </p:txBody>
      </p:sp>
      <p:sp>
        <p:nvSpPr>
          <p:cNvPr id="12" name="训练4步投影，测试8步。保留一阶近似梯度路径">
            <a:extLst xmlns:a="http://schemas.openxmlformats.org/drawingml/2006/main">
              <a:ext uri="{FF2B5EF4-FFF2-40B4-BE49-F238E27FC236}">
                <a16:creationId xmlns:a16="http://schemas.microsoft.com/office/drawing/2014/main" id="{0F97EC5F-9FF9-4498-8BB3-F14E7F08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76650"/>
            <a:ext cx="7581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训练4步投影，测试8步。保留一阶近似梯度路径</a:t>
            </a:r>
          </a:p>
        </p:txBody>
      </p:sp>
      <p:sp>
        <p:nvSpPr>
          <p:cNvPr id="13" name="04  外层微调">
            <a:extLst xmlns:a="http://schemas.openxmlformats.org/drawingml/2006/main">
              <a:ext uri="{FF2B5EF4-FFF2-40B4-BE49-F238E27FC236}">
                <a16:creationId xmlns:a16="http://schemas.microsoft.com/office/drawing/2014/main" id="{9C094A59-CC47-4408-BE5B-691C8EA5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23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04  外层微调</a:t>
            </a:r>
          </a:p>
        </p:txBody>
      </p:sp>
      <p:sp>
        <p:nvSpPr>
          <p:cNvPr id="14" name="按4期或7期真实需求回放，Adam学习率0.00">
            <a:extLst xmlns:a="http://schemas.openxmlformats.org/drawingml/2006/main">
              <a:ext uri="{FF2B5EF4-FFF2-40B4-BE49-F238E27FC236}">
                <a16:creationId xmlns:a16="http://schemas.microsoft.com/office/drawing/2014/main" id="{91419CCD-16E7-49FC-ADED-FA174782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57700"/>
            <a:ext cx="7581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按4期或7期真实需求回放，Adam学习率0.0001，批量1000</a:t>
            </a:r>
          </a:p>
        </p:txBody>
      </p:sp>
      <p:sp>
        <p:nvSpPr>
          <p:cNvPr id="15" name="05  验证与重拟合">
            <a:extLst xmlns:a="http://schemas.openxmlformats.org/drawingml/2006/main">
              <a:ext uri="{FF2B5EF4-FFF2-40B4-BE49-F238E27FC236}">
                <a16:creationId xmlns:a16="http://schemas.microsoft.com/office/drawing/2014/main" id="{E8279462-7EC5-4258-ABDE-4646DD25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23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05  验证与重拟合</a:t>
            </a:r>
          </a:p>
        </p:txBody>
      </p:sp>
      <p:sp>
        <p:nvSpPr>
          <p:cNvPr id="16" name="验证选择风险和罚项，使用全60期重拟合后测试28">
            <a:extLst xmlns:a="http://schemas.openxmlformats.org/drawingml/2006/main">
              <a:ext uri="{FF2B5EF4-FFF2-40B4-BE49-F238E27FC236}">
                <a16:creationId xmlns:a16="http://schemas.microsoft.com/office/drawing/2014/main" id="{2E0ADE07-9D68-4EB9-A934-791F0606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7581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验证选择风险和罚项，使用全60期重拟合后测试28期</a:t>
            </a:r>
          </a:p>
        </p:txBody>
      </p:sp>
    </p:spTree>
    <p:extLst>
      <p:ext uri="{BB962C8B-B14F-4D97-AF65-F5344CB8AC3E}">
        <p14:creationId xmlns:p14="http://schemas.microsoft.com/office/powerpoint/2010/main" val="4111969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yuan xuecheng / DFL实验结果">
            <a:extLst xmlns:a="http://schemas.openxmlformats.org/drawingml/2006/main">
              <a:ext uri="{FF2B5EF4-FFF2-40B4-BE49-F238E27FC236}">
                <a16:creationId xmlns:a16="http://schemas.microsoft.com/office/drawing/2014/main" id="{4AC07B43-78F7-48C6-9A03-5DA67062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 / DFL实验结果</a:t>
            </a:r>
          </a:p>
        </p:txBody>
      </p:sp>
      <p:sp>
        <p:nvSpPr>
          <p:cNvPr id="2" name="两种DFL候选约90万库存，差异很小">
            <a:extLst xmlns:a="http://schemas.openxmlformats.org/drawingml/2006/main">
              <a:ext uri="{FF2B5EF4-FFF2-40B4-BE49-F238E27FC236}">
                <a16:creationId xmlns:a16="http://schemas.microsoft.com/office/drawing/2014/main" id="{796F0F19-3880-4F9F-8CA8-E6CFE43F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两种DFL候选约90万库存，差异很小</a:t>
            </a:r>
          </a:p>
        </p:txBody>
      </p:sp>
      <p:sp>
        <p:nvSpPr>
          <p:cNvPr id="3" name="未微调内层模型提供参照，但不是严格同参数消融">
            <a:extLst xmlns:a="http://schemas.openxmlformats.org/drawingml/2006/main">
              <a:ext uri="{FF2B5EF4-FFF2-40B4-BE49-F238E27FC236}">
                <a16:creationId xmlns:a16="http://schemas.microsoft.com/office/drawing/2014/main" id="{74F45CEB-2EE7-458D-A4EC-163F3256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未微调内层模型提供参照，但不是严格同参数消融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82968AF5-E74E-4A9A-A355-C6B82125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5175BC94-0333-4A38-841F-21B3CDF7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6" name="16">
            <a:extLst xmlns:a="http://schemas.openxmlformats.org/drawingml/2006/main">
              <a:ext uri="{FF2B5EF4-FFF2-40B4-BE49-F238E27FC236}">
                <a16:creationId xmlns:a16="http://schemas.microsoft.com/office/drawing/2014/main" id="{03070F67-4B05-4200-8B83-58AFC384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B766AD07-8177-41C8-BE1E-7D6AB880C0B2}"/>
              </a:ext>
            </a:extLst>
          </p:cNvPr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c08373ec2343b4"/>
          </a:graphicData>
        </a:graphic>
      </p:graphicFrame>
      <p:sp>
        <p:nvSpPr>
          <p:cNvPr id="8" name="0.64%">
            <a:extLst xmlns:a="http://schemas.openxmlformats.org/drawingml/2006/main">
              <a:ext uri="{FF2B5EF4-FFF2-40B4-BE49-F238E27FC236}">
                <a16:creationId xmlns:a16="http://schemas.microsoft.com/office/drawing/2014/main" id="{9F23D672-F773-4DAA-BDEF-6943C22A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8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0.64%</a:t>
            </a:r>
          </a:p>
        </p:txBody>
      </p:sp>
      <p:sp>
        <p:nvSpPr>
          <p:cNvPr id="9" name="两个DFL候选的库存差异。尚无显著性验证。">
            <a:extLst xmlns:a="http://schemas.openxmlformats.org/drawingml/2006/main">
              <a:ext uri="{FF2B5EF4-FFF2-40B4-BE49-F238E27FC236}">
                <a16:creationId xmlns:a16="http://schemas.microsoft.com/office/drawing/2014/main" id="{CDEB04AE-AA94-45B2-B8A2-706CC877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705475"/>
            <a:ext cx="8705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两个DFL候选的库存差异。尚无显著性验证。</a:t>
            </a:r>
          </a:p>
        </p:txBody>
      </p:sp>
    </p:spTree>
    <p:extLst>
      <p:ext uri="{BB962C8B-B14F-4D97-AF65-F5344CB8AC3E}">
        <p14:creationId xmlns:p14="http://schemas.microsoft.com/office/powerpoint/2010/main" val="18169785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yuan xuecheng / 滚动与在线学习">
            <a:extLst xmlns:a="http://schemas.openxmlformats.org/drawingml/2006/main">
              <a:ext uri="{FF2B5EF4-FFF2-40B4-BE49-F238E27FC236}">
                <a16:creationId xmlns:a16="http://schemas.microsoft.com/office/drawing/2014/main" id="{3888FAB6-7F0C-4F8E-AD91-FAFAB8A0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 / 滚动与在线学习</a:t>
            </a:r>
          </a:p>
        </p:txBody>
      </p:sp>
      <p:sp>
        <p:nvSpPr>
          <p:cNvPr id="2" name="在线更新和MPC降低库存，但服务不足">
            <a:extLst xmlns:a="http://schemas.openxmlformats.org/drawingml/2006/main">
              <a:ext uri="{FF2B5EF4-FFF2-40B4-BE49-F238E27FC236}">
                <a16:creationId xmlns:a16="http://schemas.microsoft.com/office/drawing/2014/main" id="{E730F419-2EB1-44AA-89FA-DAAB5E1E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在线更新和MPC降低库存，但服务不足</a:t>
            </a:r>
          </a:p>
        </p:txBody>
      </p:sp>
      <p:sp>
        <p:nvSpPr>
          <p:cNvPr id="3" name="当天需求只在观察之后用于修正模型">
            <a:extLst xmlns:a="http://schemas.openxmlformats.org/drawingml/2006/main">
              <a:ext uri="{FF2B5EF4-FFF2-40B4-BE49-F238E27FC236}">
                <a16:creationId xmlns:a16="http://schemas.microsoft.com/office/drawing/2014/main" id="{A7B20870-2506-43E4-9312-04926EC2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当天需求只在观察之后用于修正模型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ADAFC66B-B73D-4201-84EC-D0A9B4C3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D381F66A-4B30-4EA3-AAB8-72B1A994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6" name="17">
            <a:extLst xmlns:a="http://schemas.openxmlformats.org/drawingml/2006/main">
              <a:ext uri="{FF2B5EF4-FFF2-40B4-BE49-F238E27FC236}">
                <a16:creationId xmlns:a16="http://schemas.microsoft.com/office/drawing/2014/main" id="{C6514CC3-DC97-48E3-AEB8-792809D6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FFCF98BD-FF7B-4D48-B415-80D9C77AF11D}"/>
              </a:ext>
            </a:extLst>
          </p:cNvPr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200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d3f0056ffe4d1f"/>
          </a:graphicData>
        </a:graphic>
      </p:graphicFrame>
      <p:sp>
        <p:nvSpPr>
          <p:cNvPr id="8" name="在线更新使用EMA偏差和NLL单步更新。四期MP">
            <a:extLst xmlns:a="http://schemas.openxmlformats.org/drawingml/2006/main">
              <a:ext uri="{FF2B5EF4-FFF2-40B4-BE49-F238E27FC236}">
                <a16:creationId xmlns:a16="http://schemas.microsoft.com/office/drawing/2014/main" id="{25BDA0E3-03A2-42D6-B32C-05416DF4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在线更新使用EMA偏差和NLL单步更新。四期MPC每次只执行第一期订单。</a:t>
            </a:r>
          </a:p>
        </p:txBody>
      </p:sp>
    </p:spTree>
    <p:extLst>
      <p:ext uri="{BB962C8B-B14F-4D97-AF65-F5344CB8AC3E}">
        <p14:creationId xmlns:p14="http://schemas.microsoft.com/office/powerpoint/2010/main" val="17827530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yuan xuecheng / 模型融合">
            <a:extLst xmlns:a="http://schemas.openxmlformats.org/drawingml/2006/main">
              <a:ext uri="{FF2B5EF4-FFF2-40B4-BE49-F238E27FC236}">
                <a16:creationId xmlns:a16="http://schemas.microsoft.com/office/drawing/2014/main" id="{E90F2ACC-09EB-4870-9698-9677CEA5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 / 模型融合</a:t>
            </a:r>
          </a:p>
        </p:txBody>
      </p:sp>
      <p:sp>
        <p:nvSpPr>
          <p:cNvPr id="2" name="逐SKU硬选择未超过软融合">
            <a:extLst xmlns:a="http://schemas.openxmlformats.org/drawingml/2006/main">
              <a:ext uri="{FF2B5EF4-FFF2-40B4-BE49-F238E27FC236}">
                <a16:creationId xmlns:a16="http://schemas.microsoft.com/office/drawing/2014/main" id="{A0B80386-5708-4E84-AF86-D8130951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逐SKU硬选择未超过软融合</a:t>
            </a:r>
          </a:p>
        </p:txBody>
      </p:sp>
      <p:sp>
        <p:nvSpPr>
          <p:cNvPr id="3" name="短验证窗口的最优选择，不能保证测试阶段最优">
            <a:extLst xmlns:a="http://schemas.openxmlformats.org/drawingml/2006/main">
              <a:ext uri="{FF2B5EF4-FFF2-40B4-BE49-F238E27FC236}">
                <a16:creationId xmlns:a16="http://schemas.microsoft.com/office/drawing/2014/main" id="{1E410123-21E8-4EB0-AE0E-539E47F0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短验证窗口的最优选择，不能保证测试阶段最优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F484E0D9-1258-4983-96B7-A52EA80F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1106432E-D35C-4A65-B284-5DF50F94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6" name="18">
            <a:extLst xmlns:a="http://schemas.openxmlformats.org/drawingml/2006/main">
              <a:ext uri="{FF2B5EF4-FFF2-40B4-BE49-F238E27FC236}">
                <a16:creationId xmlns:a16="http://schemas.microsoft.com/office/drawing/2014/main" id="{5FF5D609-FFBA-42E0-9BFD-91CCDFCF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4A0045D6-0379-468A-B1C7-3387AFC63082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448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3e9f1ca09b4070"/>
          </a:graphicData>
        </a:graphic>
      </p:graphicFrame>
      <p:sp>
        <p:nvSpPr>
          <p:cNvPr id="8" name="融合权重在验证段学习，逐SKU权重向全局收缩。测">
            <a:extLst xmlns:a="http://schemas.openxmlformats.org/drawingml/2006/main">
              <a:ext uri="{FF2B5EF4-FFF2-40B4-BE49-F238E27FC236}">
                <a16:creationId xmlns:a16="http://schemas.microsoft.com/office/drawing/2014/main" id="{7616D543-4F2A-4728-97CF-2E0EBF91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融合权重在验证段学习，逐SKU权重向全局收缩。测试真值不能用来选择模型。</a:t>
            </a:r>
          </a:p>
        </p:txBody>
      </p:sp>
    </p:spTree>
    <p:extLst>
      <p:ext uri="{BB962C8B-B14F-4D97-AF65-F5344CB8AC3E}">
        <p14:creationId xmlns:p14="http://schemas.microsoft.com/office/powerpoint/2010/main" val="14018396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yuan xuecheng / 动态证据">
            <a:extLst xmlns:a="http://schemas.openxmlformats.org/drawingml/2006/main">
              <a:ext uri="{FF2B5EF4-FFF2-40B4-BE49-F238E27FC236}">
                <a16:creationId xmlns:a16="http://schemas.microsoft.com/office/drawing/2014/main" id="{37C77731-F1B9-4CFB-9695-1528DCDE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 / 动态证据</a:t>
            </a:r>
          </a:p>
        </p:txBody>
      </p:sp>
      <p:sp>
        <p:nvSpPr>
          <p:cNvPr id="2" name="DFL指标随着测试周期逐步累积">
            <a:extLst xmlns:a="http://schemas.openxmlformats.org/drawingml/2006/main">
              <a:ext uri="{FF2B5EF4-FFF2-40B4-BE49-F238E27FC236}">
                <a16:creationId xmlns:a16="http://schemas.microsoft.com/office/drawing/2014/main" id="{2D777837-DB6B-4995-BAAB-5E026AC2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DFL指标随着测试周期逐步累积</a:t>
            </a:r>
          </a:p>
        </p:txBody>
      </p:sp>
      <p:sp>
        <p:nvSpPr>
          <p:cNvPr id="3" name="从首期开始累计，首期供给限制对所有模型相同">
            <a:extLst xmlns:a="http://schemas.openxmlformats.org/drawingml/2006/main">
              <a:ext uri="{FF2B5EF4-FFF2-40B4-BE49-F238E27FC236}">
                <a16:creationId xmlns:a16="http://schemas.microsoft.com/office/drawing/2014/main" id="{5677F164-6FE7-498B-BBC1-9707166B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从首期开始累计，首期供给限制对所有模型相同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5DEBFA6B-7832-43BC-BD3E-393A624E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A9C12531-F0F2-41AA-BF7A-1B6654CA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6" name="19">
            <a:extLst xmlns:a="http://schemas.openxmlformats.org/drawingml/2006/main">
              <a:ext uri="{FF2B5EF4-FFF2-40B4-BE49-F238E27FC236}">
                <a16:creationId xmlns:a16="http://schemas.microsoft.com/office/drawing/2014/main" id="{2F9CE2BD-AA5A-444A-A9D4-F72E1C30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4F7A30E3-2C62-427B-9628-EA84CACDE223}"/>
              </a:ext>
            </a:extLst>
          </p:cNvPr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539115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698be04125499d"/>
          </a:graphicData>
        </a:graphic>
      </p:graphicFrame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D9C04565-8BCC-42B0-AEA4-3B6C5CE999E0}"/>
              </a:ext>
            </a:extLst>
          </p:cNvPr>
          <p:cNvGraphicFramePr/>
          <p:nvPr/>
        </p:nvGraphicFramePr>
        <p:xfrm>
          <a:off xmlns:a="http://schemas.openxmlformats.org/drawingml/2006/main" x="6191250" y="2152650"/>
          <a:ext xmlns:a="http://schemas.openxmlformats.org/drawingml/2006/main" cx="539115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5d02b0f38f4eb1"/>
          </a:graphicData>
        </a:graphic>
      </p:graphicFrame>
      <p:sp>
        <p:nvSpPr>
          <p:cNvPr id="9" name="服务水平图保留95%参考线。Fill Rate图">
            <a:extLst xmlns:a="http://schemas.openxmlformats.org/drawingml/2006/main">
              <a:ext uri="{FF2B5EF4-FFF2-40B4-BE49-F238E27FC236}">
                <a16:creationId xmlns:a16="http://schemas.microsoft.com/office/drawing/2014/main" id="{208518ED-5564-4853-802D-3B8EBADA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服务水平图保留95%参考线。Fill Rate图保留首期25.63%的实际观测。</a:t>
            </a:r>
          </a:p>
        </p:txBody>
      </p:sp>
    </p:spTree>
    <p:extLst>
      <p:ext uri="{BB962C8B-B14F-4D97-AF65-F5344CB8AC3E}">
        <p14:creationId xmlns:p14="http://schemas.microsoft.com/office/powerpoint/2010/main" val="7658144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ristina / 鲁棒优化">
            <a:extLst xmlns:a="http://schemas.openxmlformats.org/drawingml/2006/main">
              <a:ext uri="{FF2B5EF4-FFF2-40B4-BE49-F238E27FC236}">
                <a16:creationId xmlns:a16="http://schemas.microsoft.com/office/drawing/2014/main" id="{9DF89830-915D-44B6-B3F8-9DCA817F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 / 鲁棒优化</a:t>
            </a:r>
          </a:p>
        </p:txBody>
      </p:sp>
      <p:sp>
        <p:nvSpPr>
          <p:cNvPr id="2" name="滚动DRO分为预测、风险水位和执行">
            <a:extLst xmlns:a="http://schemas.openxmlformats.org/drawingml/2006/main">
              <a:ext uri="{FF2B5EF4-FFF2-40B4-BE49-F238E27FC236}">
                <a16:creationId xmlns:a16="http://schemas.microsoft.com/office/drawing/2014/main" id="{5C9142F3-1F39-41C4-A560-209ADA26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滚动DRO分为预测、风险水位和执行</a:t>
            </a:r>
          </a:p>
        </p:txBody>
      </p:sp>
      <p:sp>
        <p:nvSpPr>
          <p:cNvPr id="3" name="同一预测供五类补货策略使用，风险层决定订单水位">
            <a:extLst xmlns:a="http://schemas.openxmlformats.org/drawingml/2006/main">
              <a:ext uri="{FF2B5EF4-FFF2-40B4-BE49-F238E27FC236}">
                <a16:creationId xmlns:a16="http://schemas.microsoft.com/office/drawing/2014/main" id="{1BEEF49A-FF49-4285-B13D-A304DB8F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同一预测供五类补货策略使用，风险层决定订单水位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F99BB4F8-DF6F-4E43-9D30-14D852A0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kristina">
            <a:extLst xmlns:a="http://schemas.openxmlformats.org/drawingml/2006/main">
              <a:ext uri="{FF2B5EF4-FFF2-40B4-BE49-F238E27FC236}">
                <a16:creationId xmlns:a16="http://schemas.microsoft.com/office/drawing/2014/main" id="{3F4F89D1-194B-406B-9346-34581B85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</a:t>
            </a:r>
          </a:p>
        </p:txBody>
      </p:sp>
      <p:sp>
        <p:nvSpPr>
          <p:cNvPr id="6" name="预测层：每个SKU的需求水平">
            <a:extLst xmlns:a="http://schemas.openxmlformats.org/drawingml/2006/main">
              <a:ext uri="{FF2B5EF4-FFF2-40B4-BE49-F238E27FC236}">
                <a16:creationId xmlns:a16="http://schemas.microsoft.com/office/drawing/2014/main" id="{FA5A9B7E-05A0-4E03-99B8-34D9C4A9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预测层：每个SKU的需求水平</a:t>
            </a:r>
          </a:p>
        </p:txBody>
      </p:sp>
      <p:sp>
        <p:nvSpPr>
          <p:cNvPr id="7" name="训练趋势加最近3期已观测偏差，同一预测提供给各补货策">
            <a:extLst xmlns:a="http://schemas.openxmlformats.org/drawingml/2006/main">
              <a:ext uri="{FF2B5EF4-FFF2-40B4-BE49-F238E27FC236}">
                <a16:creationId xmlns:a16="http://schemas.microsoft.com/office/drawing/2014/main" id="{64F9B507-CBA8-48F0-9C86-BEBDC700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训练趋势加最近3期已观测偏差，同一预测提供给各补货策略</a:t>
            </a:r>
          </a:p>
        </p:txBody>
      </p:sp>
      <p:sp>
        <p:nvSpPr>
          <p:cNvPr id="8" name="风险层：分组残差校准水位">
            <a:extLst xmlns:a="http://schemas.openxmlformats.org/drawingml/2006/main">
              <a:ext uri="{FF2B5EF4-FFF2-40B4-BE49-F238E27FC236}">
                <a16:creationId xmlns:a16="http://schemas.microsoft.com/office/drawing/2014/main" id="{7C360FEE-7BC5-489D-BC49-BF2690BD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风险层：分组残差校准水位</a:t>
            </a:r>
          </a:p>
        </p:txBody>
      </p:sp>
      <p:sp>
        <p:nvSpPr>
          <p:cNvPr id="9" name="构造倍率残差和W∞歧义集，选择满足风险约束的补货倍率">
            <a:extLst xmlns:a="http://schemas.openxmlformats.org/drawingml/2006/main">
              <a:ext uri="{FF2B5EF4-FFF2-40B4-BE49-F238E27FC236}">
                <a16:creationId xmlns:a16="http://schemas.microsoft.com/office/drawing/2014/main" id="{DEAF5CB9-F8B7-472F-9DE5-54359F53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构造倍率残差和W∞歧义集，选择满足风险约束的补货倍率</a:t>
            </a:r>
          </a:p>
        </p:txBody>
      </p:sp>
      <p:sp>
        <p:nvSpPr>
          <p:cNvPr id="10" name="执行层：四期规划，只执行第一笔">
            <a:extLst xmlns:a="http://schemas.openxmlformats.org/drawingml/2006/main">
              <a:ext uri="{FF2B5EF4-FFF2-40B4-BE49-F238E27FC236}">
                <a16:creationId xmlns:a16="http://schemas.microsoft.com/office/drawing/2014/main" id="{F44983FF-B329-48C8-9133-07611297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执行层：四期规划，只执行第一笔</a:t>
            </a:r>
          </a:p>
        </p:txBody>
      </p:sp>
      <p:sp>
        <p:nvSpPr>
          <p:cNvPr id="11" name="今天观察需求后为未来四期计划，下一期更新状态并重新规">
            <a:extLst xmlns:a="http://schemas.openxmlformats.org/drawingml/2006/main">
              <a:ext uri="{FF2B5EF4-FFF2-40B4-BE49-F238E27FC236}">
                <a16:creationId xmlns:a16="http://schemas.microsoft.com/office/drawing/2014/main" id="{D722C048-0D49-4CD4-BF7B-7FA7C587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今天观察需求后为未来四期计划，下一期更新状态并重新规划</a:t>
            </a:r>
          </a:p>
        </p:txBody>
      </p:sp>
      <p:sp>
        <p:nvSpPr>
          <p:cNvPr id="12" name="20">
            <a:extLst xmlns:a="http://schemas.openxmlformats.org/drawingml/2006/main">
              <a:ext uri="{FF2B5EF4-FFF2-40B4-BE49-F238E27FC236}">
                <a16:creationId xmlns:a16="http://schemas.microsoft.com/office/drawing/2014/main" id="{A2843534-9DB1-420C-9FF6-89F527DB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797173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ristina / 鲁棒优化">
            <a:extLst xmlns:a="http://schemas.openxmlformats.org/drawingml/2006/main">
              <a:ext uri="{FF2B5EF4-FFF2-40B4-BE49-F238E27FC236}">
                <a16:creationId xmlns:a16="http://schemas.microsoft.com/office/drawing/2014/main" id="{3061C269-7039-4791-BB18-4DE8CFAF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 / 鲁棒优化</a:t>
            </a:r>
          </a:p>
        </p:txBody>
      </p:sp>
      <p:sp>
        <p:nvSpPr>
          <p:cNvPr id="2" name="预测层：趋势加近期观测偏差">
            <a:extLst xmlns:a="http://schemas.openxmlformats.org/drawingml/2006/main">
              <a:ext uri="{FF2B5EF4-FFF2-40B4-BE49-F238E27FC236}">
                <a16:creationId xmlns:a16="http://schemas.microsoft.com/office/drawing/2014/main" id="{BCCD60D3-C998-493D-B8AB-1C0CAB62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预测层：趋势加近期观测偏差</a:t>
            </a:r>
          </a:p>
        </p:txBody>
      </p:sp>
      <p:sp>
        <p:nvSpPr>
          <p:cNvPr id="3" name="不提前使用未来x，四步预测用于滚动计划">
            <a:extLst xmlns:a="http://schemas.openxmlformats.org/drawingml/2006/main">
              <a:ext uri="{FF2B5EF4-FFF2-40B4-BE49-F238E27FC236}">
                <a16:creationId xmlns:a16="http://schemas.microsoft.com/office/drawing/2014/main" id="{A9786C50-1EED-4C5D-A606-A2443299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不提前使用未来x，四步预测用于滚动计划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AA334721-E3FB-480C-BDC4-B0E81821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kristina">
            <a:extLst xmlns:a="http://schemas.openxmlformats.org/drawingml/2006/main">
              <a:ext uri="{FF2B5EF4-FFF2-40B4-BE49-F238E27FC236}">
                <a16:creationId xmlns:a16="http://schemas.microsoft.com/office/drawing/2014/main" id="{F0CDB04C-1288-49D6-8E48-952B0825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F0CBE-09F9-4462-9F5F-5A6DE997F5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dbdf034dd4eb8"/>
          <a:stretch xmlns:a="http://schemas.openxmlformats.org/drawingml/2006/main"/>
        </p:blipFill>
        <p:spPr>
          <a:xfrm xmlns:a="http://schemas.openxmlformats.org/drawingml/2006/main">
            <a:off x="609600" y="2076544"/>
            <a:ext cx="5382642" cy="580837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E5C6E-82FD-4777-9FC5-B3589F93DE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4e37fd34a436c"/>
          <a:stretch xmlns:a="http://schemas.openxmlformats.org/drawingml/2006/main"/>
        </p:blipFill>
        <p:spPr>
          <a:xfrm xmlns:a="http://schemas.openxmlformats.org/drawingml/2006/main">
            <a:off x="610276" y="2876550"/>
            <a:ext cx="7785927" cy="9048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495E188F-F378-450A-A32D-E1EE1E00501E}"/>
              </a:ext>
            </a:extLst>
          </p:cNvPr>
          <p:cNvGraphicFramePr/>
          <p:nvPr/>
        </p:nvGraphicFramePr>
        <p:xfrm>
          <a:off xmlns:a="http://schemas.openxmlformats.org/drawingml/2006/main" x="609600" y="4162425"/>
          <a:ext xmlns:a="http://schemas.openxmlformats.org/drawingml/2006/main" cx="7124700" cy="1695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2125389cd94c97"/>
          </a:graphicData>
        </a:graphic>
      </p:graphicFrame>
      <p:sp>
        <p:nvSpPr>
          <p:cNvPr id="9" name="一步 14.12%&#10;四步 22.59%">
            <a:extLst xmlns:a="http://schemas.openxmlformats.org/drawingml/2006/main">
              <a:ext uri="{FF2B5EF4-FFF2-40B4-BE49-F238E27FC236}">
                <a16:creationId xmlns:a16="http://schemas.microsoft.com/office/drawing/2014/main" id="{A1173F7B-7DCA-4F0D-9884-D779A439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38650"/>
            <a:ext cx="3257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一步 14.12%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四步 22.59%</a:t>
            </a:r>
          </a:p>
        </p:txBody>
      </p:sp>
      <p:sp>
        <p:nvSpPr>
          <p:cNvPr id="10" name="跨度增加，误差增大">
            <a:extLst xmlns:a="http://schemas.openxmlformats.org/drawingml/2006/main">
              <a:ext uri="{FF2B5EF4-FFF2-40B4-BE49-F238E27FC236}">
                <a16:creationId xmlns:a16="http://schemas.microsoft.com/office/drawing/2014/main" id="{30D2822D-05A2-4716-98CC-2A1DF4BD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816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跨度增加，误差增大</a:t>
            </a:r>
          </a:p>
        </p:txBody>
      </p:sp>
      <p:sp>
        <p:nvSpPr>
          <p:cNvPr id="11" name="21">
            <a:extLst xmlns:a="http://schemas.openxmlformats.org/drawingml/2006/main">
              <a:ext uri="{FF2B5EF4-FFF2-40B4-BE49-F238E27FC236}">
                <a16:creationId xmlns:a16="http://schemas.microsoft.com/office/drawing/2014/main" id="{1039874D-C44E-457C-85A4-00C9973A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596165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ristina / 鲁棒优化">
            <a:extLst xmlns:a="http://schemas.openxmlformats.org/drawingml/2006/main">
              <a:ext uri="{FF2B5EF4-FFF2-40B4-BE49-F238E27FC236}">
                <a16:creationId xmlns:a16="http://schemas.microsoft.com/office/drawing/2014/main" id="{3E0778EE-2EE1-496B-95FC-13699D75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 / 鲁棒优化</a:t>
            </a:r>
          </a:p>
        </p:txBody>
      </p:sp>
      <p:sp>
        <p:nvSpPr>
          <p:cNvPr id="2" name="分组是为了分别估计需求风险">
            <a:extLst xmlns:a="http://schemas.openxmlformats.org/drawingml/2006/main">
              <a:ext uri="{FF2B5EF4-FFF2-40B4-BE49-F238E27FC236}">
                <a16:creationId xmlns:a16="http://schemas.microsoft.com/office/drawing/2014/main" id="{484743FB-A9A9-4B91-9E4A-9477A388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分组是为了分别估计需求风险</a:t>
            </a:r>
          </a:p>
        </p:txBody>
      </p:sp>
      <p:sp>
        <p:nvSpPr>
          <p:cNvPr id="3" name="业务分组与特征聚类分别构造组内风险样本">
            <a:extLst xmlns:a="http://schemas.openxmlformats.org/drawingml/2006/main">
              <a:ext uri="{FF2B5EF4-FFF2-40B4-BE49-F238E27FC236}">
                <a16:creationId xmlns:a16="http://schemas.microsoft.com/office/drawing/2014/main" id="{0F4FCE4F-0F5A-4705-86FA-39AB60D9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业务分组与特征聚类分别构造组内风险样本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26CF86D5-C2B6-468C-A263-E5DF87AB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kristina">
            <a:extLst xmlns:a="http://schemas.openxmlformats.org/drawingml/2006/main">
              <a:ext uri="{FF2B5EF4-FFF2-40B4-BE49-F238E27FC236}">
                <a16:creationId xmlns:a16="http://schemas.microsoft.com/office/drawing/2014/main" id="{0559E23B-6AA2-407D-B546-D7E933B9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688F072-1255-4FD2-A2A7-A0251A81E818}"/>
              </a:ext>
            </a:extLst>
          </p:cNvPr>
          <p:cNvGraphicFramePr/>
          <p:nvPr/>
        </p:nvGraphicFramePr>
        <p:xfrm>
          <a:off xmlns:a="http://schemas.openxmlformats.org/drawingml/2006/main" x="609600" y="2105025"/>
          <a:ext xmlns:a="http://schemas.openxmlformats.org/drawingml/2006/main" cx="5543550" cy="3152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8b5df09f8841fc"/>
          </a:graphicData>
        </a:graphic>
      </p:graphicFrame>
      <p:sp>
        <p:nvSpPr>
          <p:cNvPr id="7" name="爆品 / 长尾：2组">
            <a:extLst xmlns:a="http://schemas.openxmlformats.org/drawingml/2006/main">
              <a:ext uri="{FF2B5EF4-FFF2-40B4-BE49-F238E27FC236}">
                <a16:creationId xmlns:a16="http://schemas.microsoft.com/office/drawing/2014/main" id="{39C22C94-A37C-4CE6-B97C-5B71916B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4914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爆品 / 长尾：2组</a:t>
            </a:r>
          </a:p>
        </p:txBody>
      </p:sp>
      <p:sp>
        <p:nvSpPr>
          <p:cNvPr id="8" name="480个爆品，5,520个长尾&#10;爆品约8%，贡献约8">
            <a:extLst xmlns:a="http://schemas.openxmlformats.org/drawingml/2006/main">
              <a:ext uri="{FF2B5EF4-FFF2-40B4-BE49-F238E27FC236}">
                <a16:creationId xmlns:a16="http://schemas.microsoft.com/office/drawing/2014/main" id="{DF30464F-327D-4AD4-B9A6-51A6F799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4914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480个爆品，5,520个长尾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爆品约8%，贡献约80%测试需求</a:t>
            </a:r>
          </a:p>
        </p:txBody>
      </p:sp>
      <p:sp>
        <p:nvSpPr>
          <p:cNvPr id="9" name="特征聚类：6组">
            <a:extLst xmlns:a="http://schemas.openxmlformats.org/drawingml/2006/main">
              <a:ext uri="{FF2B5EF4-FFF2-40B4-BE49-F238E27FC236}">
                <a16:creationId xmlns:a16="http://schemas.microsoft.com/office/drawing/2014/main" id="{24F341A4-E786-4B94-86C0-892388EB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76675"/>
            <a:ext cx="4914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特征聚类：6组</a:t>
            </a:r>
          </a:p>
        </p:txBody>
      </p:sp>
      <p:sp>
        <p:nvSpPr>
          <p:cNvPr id="10" name="5个需求描述量 + 20个x训练均值&#10;标准化、PCA">
            <a:extLst xmlns:a="http://schemas.openxmlformats.org/drawingml/2006/main">
              <a:ext uri="{FF2B5EF4-FFF2-40B4-BE49-F238E27FC236}">
                <a16:creationId xmlns:a16="http://schemas.microsoft.com/office/drawing/2014/main" id="{F850F373-776A-4EC9-8C56-31017B27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914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5个需求描述量 + 20个x训练均值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标准化、PCA取3维、K-means分组</a:t>
            </a:r>
          </a:p>
        </p:txBody>
      </p:sp>
      <p:sp>
        <p:nvSpPr>
          <p:cNvPr id="11" name="x用于训练期商品画像和风险分组，不作为提前已知的未来">
            <a:extLst xmlns:a="http://schemas.openxmlformats.org/drawingml/2006/main">
              <a:ext uri="{FF2B5EF4-FFF2-40B4-BE49-F238E27FC236}">
                <a16:creationId xmlns:a16="http://schemas.microsoft.com/office/drawing/2014/main" id="{C5B29C6B-38E5-4F81-B31E-D713C225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x用于训练期商品画像和风险分组，不作为提前已知的未来需求特征。</a:t>
            </a:r>
          </a:p>
        </p:txBody>
      </p:sp>
      <p:sp>
        <p:nvSpPr>
          <p:cNvPr id="12" name="22">
            <a:extLst xmlns:a="http://schemas.openxmlformats.org/drawingml/2006/main">
              <a:ext uri="{FF2B5EF4-FFF2-40B4-BE49-F238E27FC236}">
                <a16:creationId xmlns:a16="http://schemas.microsoft.com/office/drawing/2014/main" id="{1A0E3B0F-91E3-4DD9-B3A2-7E4CE5B9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424343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ristina / 鲁棒优化">
            <a:extLst xmlns:a="http://schemas.openxmlformats.org/drawingml/2006/main">
              <a:ext uri="{FF2B5EF4-FFF2-40B4-BE49-F238E27FC236}">
                <a16:creationId xmlns:a16="http://schemas.microsoft.com/office/drawing/2014/main" id="{86677676-659B-444F-8083-59C4A427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 / 鲁棒优化</a:t>
            </a:r>
          </a:p>
        </p:txBody>
      </p:sp>
      <p:sp>
        <p:nvSpPr>
          <p:cNvPr id="2" name="原始W∞模型控制最坏缺货数量">
            <a:extLst xmlns:a="http://schemas.openxmlformats.org/drawingml/2006/main">
              <a:ext uri="{FF2B5EF4-FFF2-40B4-BE49-F238E27FC236}">
                <a16:creationId xmlns:a16="http://schemas.microsoft.com/office/drawing/2014/main" id="{8351BB79-3066-429C-9DCC-0714CE86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原始W∞模型控制最坏缺货数量</a:t>
            </a:r>
          </a:p>
        </p:txBody>
      </p:sp>
      <p:sp>
        <p:nvSpPr>
          <p:cNvPr id="3" name="历史Fill Rate约束：使用倍率残差的最坏端点">
            <a:extLst xmlns:a="http://schemas.openxmlformats.org/drawingml/2006/main">
              <a:ext uri="{FF2B5EF4-FFF2-40B4-BE49-F238E27FC236}">
                <a16:creationId xmlns:a16="http://schemas.microsoft.com/office/drawing/2014/main" id="{B00BC80D-11E7-470E-A189-044138E2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历史Fill Rate约束：使用倍率残差的最坏端点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8BA67A39-DEC8-48D8-8872-F6909A3F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kristina">
            <a:extLst xmlns:a="http://schemas.openxmlformats.org/drawingml/2006/main">
              <a:ext uri="{FF2B5EF4-FFF2-40B4-BE49-F238E27FC236}">
                <a16:creationId xmlns:a16="http://schemas.microsoft.com/office/drawing/2014/main" id="{65F87482-0D99-43E7-90C8-2B4274CF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026FA-4DA6-4D8D-B047-39429D31E8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156b3b929478e"/>
          <a:stretch xmlns:a="http://schemas.openxmlformats.org/drawingml/2006/main"/>
        </p:blipFill>
        <p:spPr>
          <a:xfrm xmlns:a="http://schemas.openxmlformats.org/drawingml/2006/main">
            <a:off x="615892" y="2047875"/>
            <a:ext cx="7020948" cy="857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7054F-B36C-431B-A194-B225F7E5D8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2c9e3572943a9"/>
          <a:stretch xmlns:a="http://schemas.openxmlformats.org/drawingml/2006/main"/>
        </p:blipFill>
        <p:spPr>
          <a:xfrm xmlns:a="http://schemas.openxmlformats.org/drawingml/2006/main">
            <a:off x="610412" y="3133725"/>
            <a:ext cx="6285427" cy="88582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AB540-3EC1-4280-BAD6-720E7D7160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af4e5a4be4a6e"/>
          <a:stretch xmlns:a="http://schemas.openxmlformats.org/drawingml/2006/main"/>
        </p:blipFill>
        <p:spPr>
          <a:xfrm xmlns:a="http://schemas.openxmlformats.org/drawingml/2006/main">
            <a:off x="613582" y="4295775"/>
            <a:ext cx="8059942" cy="847725"/>
          </a:xfrm>
          <a:prstGeom xmlns:a="http://schemas.openxmlformats.org/drawingml/2006/main" prst="rect">
            <a:avLst/>
          </a:prstGeom>
        </p:spPr>
      </p:pic>
      <p:sp>
        <p:nvSpPr>
          <p:cNvPr id="9" name="凸分段线性函数在区间端点取最坏值。这个数量约束与服务">
            <a:extLst xmlns:a="http://schemas.openxmlformats.org/drawingml/2006/main">
              <a:ext uri="{FF2B5EF4-FFF2-40B4-BE49-F238E27FC236}">
                <a16:creationId xmlns:a16="http://schemas.microsoft.com/office/drawing/2014/main" id="{9B71D783-014A-42D4-8A6E-A6BA32A4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凸分段线性函数在区间端点取最坏值。这个数量约束与服务水平概率约束不同。</a:t>
            </a:r>
          </a:p>
        </p:txBody>
      </p:sp>
      <p:sp>
        <p:nvSpPr>
          <p:cNvPr id="10" name="23">
            <a:extLst xmlns:a="http://schemas.openxmlformats.org/drawingml/2006/main">
              <a:ext uri="{FF2B5EF4-FFF2-40B4-BE49-F238E27FC236}">
                <a16:creationId xmlns:a16="http://schemas.microsoft.com/office/drawing/2014/main" id="{48ECC49B-35C5-49E1-B5F1-C64B32F7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1036914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ristina / 鲁棒优化">
            <a:extLst xmlns:a="http://schemas.openxmlformats.org/drawingml/2006/main">
              <a:ext uri="{FF2B5EF4-FFF2-40B4-BE49-F238E27FC236}">
                <a16:creationId xmlns:a16="http://schemas.microsoft.com/office/drawing/2014/main" id="{350BB508-4803-495B-B606-7C06B0F4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 / 鲁棒优化</a:t>
            </a:r>
          </a:p>
        </p:txBody>
      </p:sp>
      <p:sp>
        <p:nvSpPr>
          <p:cNvPr id="2" name="原始最小水位：二分搜索与LP核对">
            <a:extLst xmlns:a="http://schemas.openxmlformats.org/drawingml/2006/main">
              <a:ext uri="{FF2B5EF4-FFF2-40B4-BE49-F238E27FC236}">
                <a16:creationId xmlns:a16="http://schemas.microsoft.com/office/drawing/2014/main" id="{A83F52B9-F478-4697-B2D5-8B9B7CE8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原始最小水位：二分搜索与LP核对</a:t>
            </a:r>
          </a:p>
        </p:txBody>
      </p:sp>
      <p:sp>
        <p:nvSpPr>
          <p:cNvPr id="3" name="二分搜索求最小可行倍率，独立LP核对数值一致性">
            <a:extLst xmlns:a="http://schemas.openxmlformats.org/drawingml/2006/main">
              <a:ext uri="{FF2B5EF4-FFF2-40B4-BE49-F238E27FC236}">
                <a16:creationId xmlns:a16="http://schemas.microsoft.com/office/drawing/2014/main" id="{58E4D215-E5FC-4C30-9EF2-2FBE7BFC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二分搜索求最小可行倍率，独立LP核对数值一致性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937F6040-175A-4531-BCCC-E039D21E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kristina">
            <a:extLst xmlns:a="http://schemas.openxmlformats.org/drawingml/2006/main">
              <a:ext uri="{FF2B5EF4-FFF2-40B4-BE49-F238E27FC236}">
                <a16:creationId xmlns:a16="http://schemas.microsoft.com/office/drawing/2014/main" id="{93A898A0-B70E-4564-A2D5-68685F4D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</a:t>
            </a:r>
          </a:p>
        </p:txBody>
      </p:sp>
      <p:sp>
        <p:nvSpPr>
          <p:cNvPr id="6" name="G(z)单调不增">
            <a:extLst xmlns:a="http://schemas.openxmlformats.org/drawingml/2006/main">
              <a:ext uri="{FF2B5EF4-FFF2-40B4-BE49-F238E27FC236}">
                <a16:creationId xmlns:a16="http://schemas.microsoft.com/office/drawing/2014/main" id="{241195BE-F1EF-4BF9-B066-74C9E53E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32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G(z)单调不增</a:t>
            </a:r>
          </a:p>
        </p:txBody>
      </p:sp>
      <p:sp>
        <p:nvSpPr>
          <p:cNvPr id="7" name="01  取区间左右边界&#10;02  计算中点的最坏缺货函">
            <a:extLst xmlns:a="http://schemas.openxmlformats.org/drawingml/2006/main">
              <a:ext uri="{FF2B5EF4-FFF2-40B4-BE49-F238E27FC236}">
                <a16:creationId xmlns:a16="http://schemas.microsoft.com/office/drawing/2014/main" id="{B7B5718C-0284-41A1-8D50-8605878B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60960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01  取区间左右边界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02  计算中点的最坏缺货函数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03  不可行则提高左边界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04  可行则降低右边界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05  收敛到最小可行水位</a:t>
            </a:r>
          </a:p>
        </p:txBody>
      </p:sp>
      <p:sp>
        <p:nvSpPr>
          <p:cNvPr id="8" name="1.12682993">
            <a:extLst xmlns:a="http://schemas.openxmlformats.org/drawingml/2006/main">
              <a:ext uri="{FF2B5EF4-FFF2-40B4-BE49-F238E27FC236}">
                <a16:creationId xmlns:a16="http://schemas.microsoft.com/office/drawing/2014/main" id="{F3C97B43-31D5-440A-9D69-8F5A7328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86000"/>
            <a:ext cx="3914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22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1.12682993</a:t>
            </a:r>
          </a:p>
        </p:txBody>
      </p:sp>
      <p:sp>
        <p:nvSpPr>
          <p:cNvPr id="9" name="原始爆品鲁棒倍率&#10;20,160个真实训练残差">
            <a:extLst xmlns:a="http://schemas.openxmlformats.org/drawingml/2006/main">
              <a:ext uri="{FF2B5EF4-FFF2-40B4-BE49-F238E27FC236}">
                <a16:creationId xmlns:a16="http://schemas.microsoft.com/office/drawing/2014/main" id="{ABCAEC44-0CAA-4069-9AD3-0217492D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19425"/>
            <a:ext cx="39147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原始爆品鲁棒倍率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20,160个真实训练残差</a:t>
            </a:r>
          </a:p>
        </p:txBody>
      </p:sp>
      <p:sp>
        <p:nvSpPr>
          <p:cNvPr id="10" name="4.63 × 10⁻¹¹">
            <a:extLst xmlns:a="http://schemas.openxmlformats.org/drawingml/2006/main">
              <a:ext uri="{FF2B5EF4-FFF2-40B4-BE49-F238E27FC236}">
                <a16:creationId xmlns:a16="http://schemas.microsoft.com/office/drawing/2014/main" id="{99A5C5FB-680B-4BB6-9DFF-D8422CE4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33875"/>
            <a:ext cx="39147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7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4.63 × 10⁻¹¹</a:t>
            </a:r>
          </a:p>
        </p:txBody>
      </p:sp>
      <p:sp>
        <p:nvSpPr>
          <p:cNvPr id="11" name="200样本二分与LP的绝对差">
            <a:extLst xmlns:a="http://schemas.openxmlformats.org/drawingml/2006/main">
              <a:ext uri="{FF2B5EF4-FFF2-40B4-BE49-F238E27FC236}">
                <a16:creationId xmlns:a16="http://schemas.microsoft.com/office/drawing/2014/main" id="{ECB4F266-AD9E-4239-AB79-593C4ED2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48250"/>
            <a:ext cx="3914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200样本二分与LP的绝对差</a:t>
            </a:r>
          </a:p>
        </p:txBody>
      </p:sp>
      <p:sp>
        <p:nvSpPr>
          <p:cNvPr id="12" name="数值核对支持求解实现一致性，不构成未知测试需求下的服">
            <a:extLst xmlns:a="http://schemas.openxmlformats.org/drawingml/2006/main">
              <a:ext uri="{FF2B5EF4-FFF2-40B4-BE49-F238E27FC236}">
                <a16:creationId xmlns:a16="http://schemas.microsoft.com/office/drawing/2014/main" id="{DEF4BE12-61EE-4F6D-A0D0-4D3A27FF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数值核对支持求解实现一致性，不构成未知测试需求下的服务保证。</a:t>
            </a:r>
          </a:p>
        </p:txBody>
      </p:sp>
      <p:sp>
        <p:nvSpPr>
          <p:cNvPr id="13" name="24">
            <a:extLst xmlns:a="http://schemas.openxmlformats.org/drawingml/2006/main">
              <a:ext uri="{FF2B5EF4-FFF2-40B4-BE49-F238E27FC236}">
                <a16:creationId xmlns:a16="http://schemas.microsoft.com/office/drawing/2014/main" id="{05F7109B-E7EF-4B3E-AC9F-51C707C1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5570352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ristina / 鲁棒优化">
            <a:extLst xmlns:a="http://schemas.openxmlformats.org/drawingml/2006/main">
              <a:ext uri="{FF2B5EF4-FFF2-40B4-BE49-F238E27FC236}">
                <a16:creationId xmlns:a16="http://schemas.microsoft.com/office/drawing/2014/main" id="{DACB8861-33D0-42AE-8869-F3D76B30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 / 鲁棒优化</a:t>
            </a:r>
          </a:p>
        </p:txBody>
      </p:sp>
      <p:sp>
        <p:nvSpPr>
          <p:cNvPr id="2" name="新版约束直接控制需求后仍有库存的概率">
            <a:extLst xmlns:a="http://schemas.openxmlformats.org/drawingml/2006/main">
              <a:ext uri="{FF2B5EF4-FFF2-40B4-BE49-F238E27FC236}">
                <a16:creationId xmlns:a16="http://schemas.microsoft.com/office/drawing/2014/main" id="{76DF3575-766B-4C04-B4F7-307834FA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新版约束直接控制需求后仍有库存的概率</a:t>
            </a:r>
          </a:p>
        </p:txBody>
      </p:sp>
      <p:sp>
        <p:nvSpPr>
          <p:cNvPr id="3" name="整数水位处理相等端点，和旧版缺货数量约束明确区分">
            <a:extLst xmlns:a="http://schemas.openxmlformats.org/drawingml/2006/main">
              <a:ext uri="{FF2B5EF4-FFF2-40B4-BE49-F238E27FC236}">
                <a16:creationId xmlns:a16="http://schemas.microsoft.com/office/drawing/2014/main" id="{7BEB0E94-1A99-41B9-8AF4-37956D44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整数水位处理相等端点，和旧版缺货数量约束明确区分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9EF7FA38-E7F6-4574-A98A-7A8A268F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kristina">
            <a:extLst xmlns:a="http://schemas.openxmlformats.org/drawingml/2006/main">
              <a:ext uri="{FF2B5EF4-FFF2-40B4-BE49-F238E27FC236}">
                <a16:creationId xmlns:a16="http://schemas.microsoft.com/office/drawing/2014/main" id="{6E0C8469-1A05-4750-B72B-A0411F24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1F0EC-5F71-4764-8D39-56A3453C4E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75ccdec694584"/>
          <a:stretch xmlns:a="http://schemas.openxmlformats.org/drawingml/2006/main"/>
        </p:blipFill>
        <p:spPr>
          <a:xfrm xmlns:a="http://schemas.openxmlformats.org/drawingml/2006/main">
            <a:off x="609600" y="2076615"/>
            <a:ext cx="5499398" cy="904546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58648-3D25-4900-857C-0467D361E5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e9d4923804056"/>
          <a:stretch xmlns:a="http://schemas.openxmlformats.org/drawingml/2006/main"/>
        </p:blipFill>
        <p:spPr>
          <a:xfrm xmlns:a="http://schemas.openxmlformats.org/drawingml/2006/main">
            <a:off x="614141" y="3267075"/>
            <a:ext cx="10963717" cy="527432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DC80F-9EFB-4C63-97B3-A327DC6C8D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02af1defa4111"/>
          <a:stretch xmlns:a="http://schemas.openxmlformats.org/drawingml/2006/main"/>
        </p:blipFill>
        <p:spPr>
          <a:xfrm xmlns:a="http://schemas.openxmlformats.org/drawingml/2006/main">
            <a:off x="612715" y="4371975"/>
            <a:ext cx="6025784" cy="609600"/>
          </a:xfrm>
          <a:prstGeom xmlns:a="http://schemas.openxmlformats.org/drawingml/2006/main" prst="rect">
            <a:avLst/>
          </a:prstGeom>
        </p:spPr>
      </p:pic>
      <p:sp>
        <p:nvSpPr>
          <p:cNvPr id="9" name="β控制残差歧义集中的概率。最终测试服务水平仍按真实库">
            <a:extLst xmlns:a="http://schemas.openxmlformats.org/drawingml/2006/main">
              <a:ext uri="{FF2B5EF4-FFF2-40B4-BE49-F238E27FC236}">
                <a16:creationId xmlns:a16="http://schemas.microsoft.com/office/drawing/2014/main" id="{70DA1279-57F2-49DC-8DA8-C43943B8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β控制残差歧义集中的概率。最终测试服务水平仍按真实库存轨迹重新计算。</a:t>
            </a:r>
          </a:p>
        </p:txBody>
      </p:sp>
      <p:sp>
        <p:nvSpPr>
          <p:cNvPr id="10" name="25">
            <a:extLst xmlns:a="http://schemas.openxmlformats.org/drawingml/2006/main">
              <a:ext uri="{FF2B5EF4-FFF2-40B4-BE49-F238E27FC236}">
                <a16:creationId xmlns:a16="http://schemas.microsoft.com/office/drawing/2014/main" id="{774A6740-AC91-488F-8339-677E4792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171575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ristina / 鲁棒优化">
            <a:extLst xmlns:a="http://schemas.openxmlformats.org/drawingml/2006/main">
              <a:ext uri="{FF2B5EF4-FFF2-40B4-BE49-F238E27FC236}">
                <a16:creationId xmlns:a16="http://schemas.microsoft.com/office/drawing/2014/main" id="{6067EC14-93D1-4C41-9BA0-28EC35BF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 / 鲁棒优化</a:t>
            </a:r>
          </a:p>
        </p:txBody>
      </p:sp>
      <p:sp>
        <p:nvSpPr>
          <p:cNvPr id="2" name="参数校准与测试冻结流程">
            <a:extLst xmlns:a="http://schemas.openxmlformats.org/drawingml/2006/main">
              <a:ext uri="{FF2B5EF4-FFF2-40B4-BE49-F238E27FC236}">
                <a16:creationId xmlns:a16="http://schemas.microsoft.com/office/drawing/2014/main" id="{5AF1F0C6-9530-4171-A91D-216E4FBA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参数校准与测试冻结流程</a:t>
            </a:r>
          </a:p>
        </p:txBody>
      </p:sp>
      <p:sp>
        <p:nvSpPr>
          <p:cNvPr id="3" name="同一测试指标并不意味着相同的训练协议">
            <a:extLst xmlns:a="http://schemas.openxmlformats.org/drawingml/2006/main">
              <a:ext uri="{FF2B5EF4-FFF2-40B4-BE49-F238E27FC236}">
                <a16:creationId xmlns:a16="http://schemas.microsoft.com/office/drawing/2014/main" id="{927061A3-273C-4FFD-8550-7F92E374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同一测试指标并不意味着相同的训练协议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21C3166A-C2EC-4AF9-B167-9AEFF767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kristina">
            <a:extLst xmlns:a="http://schemas.openxmlformats.org/drawingml/2006/main">
              <a:ext uri="{FF2B5EF4-FFF2-40B4-BE49-F238E27FC236}">
                <a16:creationId xmlns:a16="http://schemas.microsoft.com/office/drawing/2014/main" id="{718C5CC7-4D3A-43D7-BF3C-6F9A7623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</a:t>
            </a:r>
          </a:p>
        </p:txBody>
      </p:sp>
      <p:sp>
        <p:nvSpPr>
          <p:cNvPr id="6" name="拟合与残差估计：29至60期">
            <a:extLst xmlns:a="http://schemas.openxmlformats.org/drawingml/2006/main">
              <a:ext uri="{FF2B5EF4-FFF2-40B4-BE49-F238E27FC236}">
                <a16:creationId xmlns:a16="http://schemas.microsoft.com/office/drawing/2014/main" id="{B93E05CD-D065-4F24-9DF1-A4D99650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拟合与残差估计：29至60期</a:t>
            </a:r>
          </a:p>
        </p:txBody>
      </p:sp>
      <p:sp>
        <p:nvSpPr>
          <p:cNvPr id="7" name="训练趋势与分组，用扩展窗口样本外一步倍率估计风险">
            <a:extLst xmlns:a="http://schemas.openxmlformats.org/drawingml/2006/main">
              <a:ext uri="{FF2B5EF4-FFF2-40B4-BE49-F238E27FC236}">
                <a16:creationId xmlns:a16="http://schemas.microsoft.com/office/drawing/2014/main" id="{B8B2B435-D27F-4E68-9FB1-7A6F73D7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训练趋势与分组，用扩展窗口样本外一步倍率估计风险</a:t>
            </a:r>
          </a:p>
        </p:txBody>
      </p:sp>
      <p:sp>
        <p:nvSpPr>
          <p:cNvPr id="8" name="重启校准：1至28期">
            <a:extLst xmlns:a="http://schemas.openxmlformats.org/drawingml/2006/main">
              <a:ext uri="{FF2B5EF4-FFF2-40B4-BE49-F238E27FC236}">
                <a16:creationId xmlns:a16="http://schemas.microsoft.com/office/drawing/2014/main" id="{8E0B678A-6D53-4A4D-9F52-5DE54894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重启校准：1至28期</a:t>
            </a:r>
          </a:p>
        </p:txBody>
      </p:sp>
      <p:sp>
        <p:nvSpPr>
          <p:cNvPr id="9" name="选择服务水平接近95%的参数，校准后不再全60期重拟">
            <a:extLst xmlns:a="http://schemas.openxmlformats.org/drawingml/2006/main">
              <a:ext uri="{FF2B5EF4-FFF2-40B4-BE49-F238E27FC236}">
                <a16:creationId xmlns:a16="http://schemas.microsoft.com/office/drawing/2014/main" id="{6FC60542-8A72-49B6-AEC0-0D6BD939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选择服务水平接近95%的参数，校准后不再全60期重拟合</a:t>
            </a:r>
          </a:p>
        </p:txBody>
      </p:sp>
      <p:sp>
        <p:nvSpPr>
          <p:cNvPr id="10" name="前向诊断：1至36期拟合，37至60期评价">
            <a:extLst xmlns:a="http://schemas.openxmlformats.org/drawingml/2006/main">
              <a:ext uri="{FF2B5EF4-FFF2-40B4-BE49-F238E27FC236}">
                <a16:creationId xmlns:a16="http://schemas.microsoft.com/office/drawing/2014/main" id="{56225F58-AE3B-47F6-B257-FBF3502A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前向诊断：1至36期拟合，37至60期评价</a:t>
            </a:r>
          </a:p>
        </p:txBody>
      </p:sp>
      <p:sp>
        <p:nvSpPr>
          <p:cNvPr id="11" name="冻结文件中服务约99.97%至99.99%，提示跨时">
            <a:extLst xmlns:a="http://schemas.openxmlformats.org/drawingml/2006/main">
              <a:ext uri="{FF2B5EF4-FFF2-40B4-BE49-F238E27FC236}">
                <a16:creationId xmlns:a16="http://schemas.microsoft.com/office/drawing/2014/main" id="{2C1C2961-B7E5-4BE0-B7CA-E497B597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冻结文件中服务约99.97%至99.99%，提示跨时段校准风险</a:t>
            </a:r>
          </a:p>
        </p:txBody>
      </p:sp>
      <p:sp>
        <p:nvSpPr>
          <p:cNvPr id="12" name="最新DRO：β=0.98、ε=0.3。重启校准属于离">
            <a:extLst xmlns:a="http://schemas.openxmlformats.org/drawingml/2006/main">
              <a:ext uri="{FF2B5EF4-FFF2-40B4-BE49-F238E27FC236}">
                <a16:creationId xmlns:a16="http://schemas.microsoft.com/office/drawing/2014/main" id="{C992980B-626F-4A2B-973A-E955C38C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最新DRO：β=0.98、ε=0.3。重启校准属于离线分块，不是严格前向验证。</a:t>
            </a:r>
          </a:p>
        </p:txBody>
      </p:sp>
      <p:sp>
        <p:nvSpPr>
          <p:cNvPr id="13" name="26">
            <a:extLst xmlns:a="http://schemas.openxmlformats.org/drawingml/2006/main">
              <a:ext uri="{FF2B5EF4-FFF2-40B4-BE49-F238E27FC236}">
                <a16:creationId xmlns:a16="http://schemas.microsoft.com/office/drawing/2014/main" id="{940E1E78-649E-47F8-B0D4-D4A72E2A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944866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ristina / 鲁棒优化结果">
            <a:extLst xmlns:a="http://schemas.openxmlformats.org/drawingml/2006/main">
              <a:ext uri="{FF2B5EF4-FFF2-40B4-BE49-F238E27FC236}">
                <a16:creationId xmlns:a16="http://schemas.microsoft.com/office/drawing/2014/main" id="{60FEF646-1D6C-4626-BEF7-D41A3DC2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 / 鲁棒优化结果</a:t>
            </a:r>
          </a:p>
        </p:txBody>
      </p:sp>
      <p:sp>
        <p:nvSpPr>
          <p:cNvPr id="2" name="鲁棒策略服务约95%，Fill Rate约99%">
            <a:extLst xmlns:a="http://schemas.openxmlformats.org/drawingml/2006/main">
              <a:ext uri="{FF2B5EF4-FFF2-40B4-BE49-F238E27FC236}">
                <a16:creationId xmlns:a16="http://schemas.microsoft.com/office/drawing/2014/main" id="{7262DCFA-0A61-4327-9489-035845E4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鲁棒策略服务约95%，Fill Rate约99%</a:t>
            </a:r>
          </a:p>
        </p:txBody>
      </p:sp>
      <p:sp>
        <p:nvSpPr>
          <p:cNvPr id="3" name="同一测试口径下，传统(s,S)的库存较少">
            <a:extLst xmlns:a="http://schemas.openxmlformats.org/drawingml/2006/main">
              <a:ext uri="{FF2B5EF4-FFF2-40B4-BE49-F238E27FC236}">
                <a16:creationId xmlns:a16="http://schemas.microsoft.com/office/drawing/2014/main" id="{F588EFF3-D18C-499D-9F43-673F2139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同一测试口径下，传统(s,S)的库存较少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0BA6779F-65A9-47EF-A468-273C00A4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kristina">
            <a:extLst xmlns:a="http://schemas.openxmlformats.org/drawingml/2006/main">
              <a:ext uri="{FF2B5EF4-FFF2-40B4-BE49-F238E27FC236}">
                <a16:creationId xmlns:a16="http://schemas.microsoft.com/office/drawing/2014/main" id="{E63FB4D1-8A98-4D6A-BFC8-A207A2C6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</a:t>
            </a:r>
          </a:p>
        </p:txBody>
      </p:sp>
      <p:sp>
        <p:nvSpPr>
          <p:cNvPr id="6" name="21">
            <a:extLst xmlns:a="http://schemas.openxmlformats.org/drawingml/2006/main">
              <a:ext uri="{FF2B5EF4-FFF2-40B4-BE49-F238E27FC236}">
                <a16:creationId xmlns:a16="http://schemas.microsoft.com/office/drawing/2014/main" id="{73B34C67-10BE-443D-A66C-B66013FA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27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7CA5C5F2-58F6-4386-A47A-43BA65EDB1ED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4520b1148a4a15"/>
          </a:graphicData>
        </a:graphic>
      </p:graphicFrame>
      <p:sp>
        <p:nvSpPr>
          <p:cNvPr id="8" name="这5个方案采用重启校准，训练协议与主要模型不同，">
            <a:extLst xmlns:a="http://schemas.openxmlformats.org/drawingml/2006/main">
              <a:ext uri="{FF2B5EF4-FFF2-40B4-BE49-F238E27FC236}">
                <a16:creationId xmlns:a16="http://schemas.microsoft.com/office/drawing/2014/main" id="{556D67A0-1BE9-45FC-9AF1-045386A5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这5个方案采用重启校准，训练协议与主要模型不同，不能只归因于算法。</a:t>
            </a:r>
          </a:p>
        </p:txBody>
      </p:sp>
    </p:spTree>
    <p:extLst>
      <p:ext uri="{BB962C8B-B14F-4D97-AF65-F5344CB8AC3E}">
        <p14:creationId xmlns:p14="http://schemas.microsoft.com/office/powerpoint/2010/main" val="73121216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ristina / 鲁棒优化">
            <a:extLst xmlns:a="http://schemas.openxmlformats.org/drawingml/2006/main">
              <a:ext uri="{FF2B5EF4-FFF2-40B4-BE49-F238E27FC236}">
                <a16:creationId xmlns:a16="http://schemas.microsoft.com/office/drawing/2014/main" id="{B15BB1BA-9480-481A-B8E4-4EA5437D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 / 鲁棒优化</a:t>
            </a:r>
          </a:p>
        </p:txBody>
      </p:sp>
      <p:sp>
        <p:nvSpPr>
          <p:cNvPr id="2" name="鲁棒策略的服务水平与Fill逐期累积">
            <a:extLst xmlns:a="http://schemas.openxmlformats.org/drawingml/2006/main">
              <a:ext uri="{FF2B5EF4-FFF2-40B4-BE49-F238E27FC236}">
                <a16:creationId xmlns:a16="http://schemas.microsoft.com/office/drawing/2014/main" id="{F198EF09-BFEE-46FE-9E30-AA749A63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鲁棒策略的服务水平与Fill逐期累积</a:t>
            </a:r>
          </a:p>
        </p:txBody>
      </p:sp>
      <p:sp>
        <p:nvSpPr>
          <p:cNvPr id="3" name="最新冻结结果，保留首期供给约束的影响">
            <a:extLst xmlns:a="http://schemas.openxmlformats.org/drawingml/2006/main">
              <a:ext uri="{FF2B5EF4-FFF2-40B4-BE49-F238E27FC236}">
                <a16:creationId xmlns:a16="http://schemas.microsoft.com/office/drawing/2014/main" id="{CA242AC0-902F-4A83-B92A-FE07E92B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最新冻结结果，保留首期供给约束的影响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B7C24481-D0F7-420E-8594-92993369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kristina">
            <a:extLst xmlns:a="http://schemas.openxmlformats.org/drawingml/2006/main">
              <a:ext uri="{FF2B5EF4-FFF2-40B4-BE49-F238E27FC236}">
                <a16:creationId xmlns:a16="http://schemas.microsoft.com/office/drawing/2014/main" id="{015A2C62-C09A-45A8-9E40-ED28F906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26F1452-792B-4393-BCDB-D4DFD8955F14}"/>
              </a:ext>
            </a:extLst>
          </p:cNvPr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5391150" cy="3590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ff8f15ace84052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677743CE-3A4C-4E6F-AE29-BBAC82AAEEB5}"/>
              </a:ext>
            </a:extLst>
          </p:cNvPr>
          <p:cNvGraphicFramePr/>
          <p:nvPr/>
        </p:nvGraphicFramePr>
        <p:xfrm>
          <a:off xmlns:a="http://schemas.openxmlformats.org/drawingml/2006/main" x="6191250" y="2085975"/>
          <a:ext xmlns:a="http://schemas.openxmlformats.org/drawingml/2006/main" cx="5391150" cy="3590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44a518f25a435c"/>
          </a:graphicData>
        </a:graphic>
      </p:graphicFrame>
      <p:sp>
        <p:nvSpPr>
          <p:cNvPr id="8" name="服务水平与Fill Rate分别展示。曲线来自实际逐">
            <a:extLst xmlns:a="http://schemas.openxmlformats.org/drawingml/2006/main">
              <a:ext uri="{FF2B5EF4-FFF2-40B4-BE49-F238E27FC236}">
                <a16:creationId xmlns:a16="http://schemas.microsoft.com/office/drawing/2014/main" id="{F0168FBF-C0CC-4A66-9F36-FC4156A6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服务水平与Fill Rate分别展示。曲线来自实际逐期回放，没有用终值插值。</a:t>
            </a:r>
          </a:p>
        </p:txBody>
      </p:sp>
      <p:sp>
        <p:nvSpPr>
          <p:cNvPr id="9" name="28">
            <a:extLst xmlns:a="http://schemas.openxmlformats.org/drawingml/2006/main">
              <a:ext uri="{FF2B5EF4-FFF2-40B4-BE49-F238E27FC236}">
                <a16:creationId xmlns:a16="http://schemas.microsoft.com/office/drawing/2014/main" id="{35B7E9AC-20C2-4410-A289-C9F79E80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86547283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综合结论">
            <a:extLst xmlns:a="http://schemas.openxmlformats.org/drawingml/2006/main">
              <a:ext uri="{FF2B5EF4-FFF2-40B4-BE49-F238E27FC236}">
                <a16:creationId xmlns:a16="http://schemas.microsoft.com/office/drawing/2014/main" id="{F48F7DDE-35DE-48BC-B4BC-F9F790E1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综合结论</a:t>
            </a:r>
          </a:p>
        </p:txBody>
      </p:sp>
      <p:sp>
        <p:nvSpPr>
          <p:cNvPr id="2" name="低库存与高Fill是当前两类不同取舍">
            <a:extLst xmlns:a="http://schemas.openxmlformats.org/drawingml/2006/main">
              <a:ext uri="{FF2B5EF4-FFF2-40B4-BE49-F238E27FC236}">
                <a16:creationId xmlns:a16="http://schemas.microsoft.com/office/drawing/2014/main" id="{055E5639-B783-46AB-A4F9-68176309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低库存与高Fill是当前两类不同取舍</a:t>
            </a:r>
          </a:p>
        </p:txBody>
      </p:sp>
      <p:sp>
        <p:nvSpPr>
          <p:cNvPr id="3" name="共同评价能比较现有结果，严格归因仍需同协议新实验">
            <a:extLst xmlns:a="http://schemas.openxmlformats.org/drawingml/2006/main">
              <a:ext uri="{FF2B5EF4-FFF2-40B4-BE49-F238E27FC236}">
                <a16:creationId xmlns:a16="http://schemas.microsoft.com/office/drawing/2014/main" id="{08308E02-477A-46D0-A1C5-E582DC29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共同评价能比较现有结果，严格归因仍需同协议新实验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0CD57790-3FAE-4A69-BA0C-FBD52F99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yuan xuecheng / kristina">
            <a:extLst xmlns:a="http://schemas.openxmlformats.org/drawingml/2006/main">
              <a:ext uri="{FF2B5EF4-FFF2-40B4-BE49-F238E27FC236}">
                <a16:creationId xmlns:a16="http://schemas.microsoft.com/office/drawing/2014/main" id="{296D4A76-28AB-4865-9F44-7984EB13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 / kristina</a:t>
            </a:r>
          </a:p>
        </p:txBody>
      </p:sp>
      <p:sp>
        <p:nvSpPr>
          <p:cNvPr id="6" name="22">
            <a:extLst xmlns:a="http://schemas.openxmlformats.org/drawingml/2006/main">
              <a:ext uri="{FF2B5EF4-FFF2-40B4-BE49-F238E27FC236}">
                <a16:creationId xmlns:a16="http://schemas.microsoft.com/office/drawing/2014/main" id="{5F1B8AD4-5BD8-45E5-91CA-61171AB2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29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6954E902-21B2-4484-9E13-0C20EC620530}"/>
              </a:ext>
            </a:extLst>
          </p:cNvPr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7381875" cy="3648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1cedd4f41640c1"/>
          </a:graphicData>
        </a:graphic>
      </p:graphicFrame>
      <p:sp>
        <p:nvSpPr>
          <p:cNvPr id="8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9FAC056A-7548-4F37-AE16-47F575A8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7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9" name="DFL库存约90万件&#10;Fill约91%至93%">
            <a:extLst xmlns:a="http://schemas.openxmlformats.org/drawingml/2006/main">
              <a:ext uri="{FF2B5EF4-FFF2-40B4-BE49-F238E27FC236}">
                <a16:creationId xmlns:a16="http://schemas.microsoft.com/office/drawing/2014/main" id="{B8672DFB-A0F7-4DAC-B448-71BD5997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314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DFL库存约90万件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Fill约91%至93%</a:t>
            </a:r>
          </a:p>
        </p:txBody>
      </p:sp>
      <p:sp>
        <p:nvSpPr>
          <p:cNvPr id="10" name="kristina">
            <a:extLst xmlns:a="http://schemas.openxmlformats.org/drawingml/2006/main">
              <a:ext uri="{FF2B5EF4-FFF2-40B4-BE49-F238E27FC236}">
                <a16:creationId xmlns:a16="http://schemas.microsoft.com/office/drawing/2014/main" id="{C3560B7A-C05A-4C0A-977D-F853C8A3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</a:t>
            </a:r>
          </a:p>
        </p:txBody>
      </p:sp>
      <p:sp>
        <p:nvSpPr>
          <p:cNvPr id="11" name="鲁棒与基准策略&#10;Fill约99%">
            <a:extLst xmlns:a="http://schemas.openxmlformats.org/drawingml/2006/main">
              <a:ext uri="{FF2B5EF4-FFF2-40B4-BE49-F238E27FC236}">
                <a16:creationId xmlns:a16="http://schemas.microsoft.com/office/drawing/2014/main" id="{AAA7070D-814F-46AD-8D5F-67C8EDDC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529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鲁棒与基准策略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Fill约99%</a:t>
            </a:r>
          </a:p>
        </p:txBody>
      </p:sp>
      <p:sp>
        <p:nvSpPr>
          <p:cNvPr id="12" name="下一步：统一前向训练划分，新增独立留出集，控制D">
            <a:extLst xmlns:a="http://schemas.openxmlformats.org/drawingml/2006/main">
              <a:ext uri="{FF2B5EF4-FFF2-40B4-BE49-F238E27FC236}">
                <a16:creationId xmlns:a16="http://schemas.microsoft.com/office/drawing/2014/main" id="{81755568-BA31-4ACF-BFFC-6CF69A48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下一步：统一前向训练划分，新增独立留出集，控制DFL消融并做多随机种子检验。</a:t>
            </a:r>
          </a:p>
        </p:txBody>
      </p:sp>
    </p:spTree>
    <p:extLst>
      <p:ext uri="{BB962C8B-B14F-4D97-AF65-F5344CB8AC3E}">
        <p14:creationId xmlns:p14="http://schemas.microsoft.com/office/powerpoint/2010/main" val="576644595"/>
      </p:ext>
    </p:extLst>
  </p:cSld>
</p:sld>
</file>

<file path=ppt/slides/slide3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备份 / 37个代表方案">
            <a:extLst xmlns:a="http://schemas.openxmlformats.org/drawingml/2006/main">
              <a:ext uri="{FF2B5EF4-FFF2-40B4-BE49-F238E27FC236}">
                <a16:creationId xmlns:a16="http://schemas.microsoft.com/office/drawing/2014/main" id="{53C56A2B-F5C4-4419-BF27-8C16E8FF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备份 / 37个代表方案</a:t>
            </a:r>
          </a:p>
        </p:txBody>
      </p:sp>
      <p:sp>
        <p:nvSpPr>
          <p:cNvPr id="2" name="完整结果 1 / 5">
            <a:extLst xmlns:a="http://schemas.openxmlformats.org/drawingml/2006/main">
              <a:ext uri="{FF2B5EF4-FFF2-40B4-BE49-F238E27FC236}">
                <a16:creationId xmlns:a16="http://schemas.microsoft.com/office/drawing/2014/main" id="{8B388790-ADA3-4427-B53C-F779BDA7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完整结果 1 / 5</a:t>
            </a:r>
          </a:p>
        </p:txBody>
      </p:sp>
      <p:sp>
        <p:nvSpPr>
          <p:cNvPr id="3" name="精确数值供答辩查阅，主讲使用图表">
            <a:extLst xmlns:a="http://schemas.openxmlformats.org/drawingml/2006/main">
              <a:ext uri="{FF2B5EF4-FFF2-40B4-BE49-F238E27FC236}">
                <a16:creationId xmlns:a16="http://schemas.microsoft.com/office/drawing/2014/main" id="{9FBA274B-C816-429D-A8B3-E565B3D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精确数值供答辩查阅，主讲使用图表</a:t>
            </a:r>
          </a:p>
        </p:txBody>
      </p:sp>
      <p:sp>
        <p:nvSpPr>
          <p:cNvPr id="4" name="答辩备份">
            <a:extLst xmlns:a="http://schemas.openxmlformats.org/drawingml/2006/main">
              <a:ext uri="{FF2B5EF4-FFF2-40B4-BE49-F238E27FC236}">
                <a16:creationId xmlns:a16="http://schemas.microsoft.com/office/drawing/2014/main" id="{9CD134C5-137B-4F9A-AC3E-CDE1DA15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答辩备份</a:t>
            </a:r>
          </a:p>
        </p:txBody>
      </p:sp>
      <p:sp>
        <p:nvSpPr>
          <p:cNvPr id="5" name="项目历史对照">
            <a:extLst xmlns:a="http://schemas.openxmlformats.org/drawingml/2006/main">
              <a:ext uri="{FF2B5EF4-FFF2-40B4-BE49-F238E27FC236}">
                <a16:creationId xmlns:a16="http://schemas.microsoft.com/office/drawing/2014/main" id="{34A89C6B-3903-4EC0-9D4F-852398F8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项目历史对照</a:t>
            </a:r>
          </a:p>
        </p:txBody>
      </p:sp>
      <p:sp>
        <p:nvSpPr>
          <p:cNvPr id="6" name="B01">
            <a:extLst xmlns:a="http://schemas.openxmlformats.org/drawingml/2006/main">
              <a:ext uri="{FF2B5EF4-FFF2-40B4-BE49-F238E27FC236}">
                <a16:creationId xmlns:a16="http://schemas.microsoft.com/office/drawing/2014/main" id="{FDE7C606-4094-4E03-8B19-DA6045E2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B01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63892-4A9D-4AAE-B91D-11219EA2403D}"/>
              </a:ext>
            </a:extLst>
          </p:cNvPr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81375"/>
                <a:gridCol w="1619250"/>
                <a:gridCol w="1619250"/>
                <a:gridCol w="1524000"/>
                <a:gridCol w="2828925"/>
              </a:tblGrid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服务水平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Fill Rate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库存比 J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平均库存 / 万件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历史Baseline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99.46%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99.09%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5.418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1750.48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Naive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98.26%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99.00%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0.442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142.65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移动平均MA3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98.55%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98.97%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0.802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259.20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指数平滑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96.44%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98.82%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0.377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121.78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ARIMA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98.17%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99.00%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0.446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144.00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线性回归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85.01%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96.48%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0.531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171.51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Ridge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85.04%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96.48%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0.523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168.99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Lasso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85.32%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96.61%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0.536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173.31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8" name="J越小越好。淡色行为本轮95%至96%参考区间内">
            <a:extLst xmlns:a="http://schemas.openxmlformats.org/drawingml/2006/main">
              <a:ext uri="{FF2B5EF4-FFF2-40B4-BE49-F238E27FC236}">
                <a16:creationId xmlns:a16="http://schemas.microsoft.com/office/drawing/2014/main" id="{AB39C420-6390-47FD-A554-1BFDADD7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J越小越好。淡色行为本轮95%至96%参考区间内方案。</a:t>
            </a:r>
          </a:p>
        </p:txBody>
      </p:sp>
    </p:spTree>
    <p:extLst>
      <p:ext uri="{BB962C8B-B14F-4D97-AF65-F5344CB8AC3E}">
        <p14:creationId xmlns:p14="http://schemas.microsoft.com/office/powerpoint/2010/main" val="1062946710"/>
      </p:ext>
    </p:extLst>
  </p:cSld>
</p:sld>
</file>

<file path=ppt/slides/slide3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备份 / 37个代表方案">
            <a:extLst xmlns:a="http://schemas.openxmlformats.org/drawingml/2006/main">
              <a:ext uri="{FF2B5EF4-FFF2-40B4-BE49-F238E27FC236}">
                <a16:creationId xmlns:a16="http://schemas.microsoft.com/office/drawing/2014/main" id="{9B0C5CE9-6AEA-4DFA-B949-5576E182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备份 / 37个代表方案</a:t>
            </a:r>
          </a:p>
        </p:txBody>
      </p:sp>
      <p:sp>
        <p:nvSpPr>
          <p:cNvPr id="2" name="完整结果 2 / 5">
            <a:extLst xmlns:a="http://schemas.openxmlformats.org/drawingml/2006/main">
              <a:ext uri="{FF2B5EF4-FFF2-40B4-BE49-F238E27FC236}">
                <a16:creationId xmlns:a16="http://schemas.microsoft.com/office/drawing/2014/main" id="{D6B750F6-FF29-430D-A0C9-BB972231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完整结果 2 / 5</a:t>
            </a:r>
          </a:p>
        </p:txBody>
      </p:sp>
      <p:sp>
        <p:nvSpPr>
          <p:cNvPr id="3" name="精确数值供答辩查阅，主讲使用图表">
            <a:extLst xmlns:a="http://schemas.openxmlformats.org/drawingml/2006/main">
              <a:ext uri="{FF2B5EF4-FFF2-40B4-BE49-F238E27FC236}">
                <a16:creationId xmlns:a16="http://schemas.microsoft.com/office/drawing/2014/main" id="{E4D13B7A-C4F1-49B7-B11C-92EE7C0D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精确数值供答辩查阅，主讲使用图表</a:t>
            </a:r>
          </a:p>
        </p:txBody>
      </p:sp>
      <p:sp>
        <p:nvSpPr>
          <p:cNvPr id="4" name="答辩备份">
            <a:extLst xmlns:a="http://schemas.openxmlformats.org/drawingml/2006/main">
              <a:ext uri="{FF2B5EF4-FFF2-40B4-BE49-F238E27FC236}">
                <a16:creationId xmlns:a16="http://schemas.microsoft.com/office/drawing/2014/main" id="{45552A57-5BEA-41BF-A3A6-EE544ACB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答辩备份</a:t>
            </a:r>
          </a:p>
        </p:txBody>
      </p:sp>
      <p:sp>
        <p:nvSpPr>
          <p:cNvPr id="5" name="项目历史对照">
            <a:extLst xmlns:a="http://schemas.openxmlformats.org/drawingml/2006/main">
              <a:ext uri="{FF2B5EF4-FFF2-40B4-BE49-F238E27FC236}">
                <a16:creationId xmlns:a16="http://schemas.microsoft.com/office/drawing/2014/main" id="{16F32B4A-D5BE-484C-A286-AB0336D8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项目历史对照</a:t>
            </a:r>
          </a:p>
        </p:txBody>
      </p:sp>
      <p:sp>
        <p:nvSpPr>
          <p:cNvPr id="6" name="B02">
            <a:extLst xmlns:a="http://schemas.openxmlformats.org/drawingml/2006/main">
              <a:ext uri="{FF2B5EF4-FFF2-40B4-BE49-F238E27FC236}">
                <a16:creationId xmlns:a16="http://schemas.microsoft.com/office/drawing/2014/main" id="{87ECAFA9-41AB-4752-89B5-FD0488A5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B02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6723F-6792-4DC0-BC93-D745B9CAA43C}"/>
              </a:ext>
            </a:extLst>
          </p:cNvPr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81375"/>
                <a:gridCol w="1619250"/>
                <a:gridCol w="1619250"/>
                <a:gridCol w="1524000"/>
                <a:gridCol w="2828925"/>
              </a:tblGrid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服务水平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Fill Rate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库存比 J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平均库存 / 万件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弹性网络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85.23%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96.55%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0.539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174.26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SVR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99.53%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99.09%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2.764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893.08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随机森林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85.44%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97.89%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0.304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98.28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XGBoost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90.14%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98.38%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0.329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106.18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LightGBM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93.41%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98.61%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0.375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121.03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CatBoost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91.09%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98.29%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0.361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116.53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矩信息DRO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98.36%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98.96%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0.801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258.83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Wasserstein DRO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97.84%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98.92%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0.752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242.93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8" name="J越小越好。淡色行为本轮95%至96%参考区间内">
            <a:extLst xmlns:a="http://schemas.openxmlformats.org/drawingml/2006/main">
              <a:ext uri="{FF2B5EF4-FFF2-40B4-BE49-F238E27FC236}">
                <a16:creationId xmlns:a16="http://schemas.microsoft.com/office/drawing/2014/main" id="{D2D9F58F-3481-47AB-9F2B-21FE2EC2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J越小越好。淡色行为本轮95%至96%参考区间内方案。</a:t>
            </a:r>
          </a:p>
        </p:txBody>
      </p:sp>
    </p:spTree>
    <p:extLst>
      <p:ext uri="{BB962C8B-B14F-4D97-AF65-F5344CB8AC3E}">
        <p14:creationId xmlns:p14="http://schemas.microsoft.com/office/powerpoint/2010/main" val="1098306084"/>
      </p:ext>
    </p:extLst>
  </p:cSld>
</p:sld>
</file>

<file path=ppt/slides/slide3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备份 / 37个代表方案">
            <a:extLst xmlns:a="http://schemas.openxmlformats.org/drawingml/2006/main">
              <a:ext uri="{FF2B5EF4-FFF2-40B4-BE49-F238E27FC236}">
                <a16:creationId xmlns:a16="http://schemas.microsoft.com/office/drawing/2014/main" id="{E44D8395-13F1-4BDA-ABB9-51D751C1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备份 / 37个代表方案</a:t>
            </a:r>
          </a:p>
        </p:txBody>
      </p:sp>
      <p:sp>
        <p:nvSpPr>
          <p:cNvPr id="2" name="完整结果 3 / 5">
            <a:extLst xmlns:a="http://schemas.openxmlformats.org/drawingml/2006/main">
              <a:ext uri="{FF2B5EF4-FFF2-40B4-BE49-F238E27FC236}">
                <a16:creationId xmlns:a16="http://schemas.microsoft.com/office/drawing/2014/main" id="{8B570855-B347-4754-8626-CACF0A04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完整结果 3 / 5</a:t>
            </a:r>
          </a:p>
        </p:txBody>
      </p:sp>
      <p:sp>
        <p:nvSpPr>
          <p:cNvPr id="3" name="精确数值供答辩查阅，主讲使用图表">
            <a:extLst xmlns:a="http://schemas.openxmlformats.org/drawingml/2006/main">
              <a:ext uri="{FF2B5EF4-FFF2-40B4-BE49-F238E27FC236}">
                <a16:creationId xmlns:a16="http://schemas.microsoft.com/office/drawing/2014/main" id="{0BE6521A-9DB3-42E5-87DE-669DEE7F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精确数值供答辩查阅，主讲使用图表</a:t>
            </a:r>
          </a:p>
        </p:txBody>
      </p:sp>
      <p:sp>
        <p:nvSpPr>
          <p:cNvPr id="4" name="答辩备份">
            <a:extLst xmlns:a="http://schemas.openxmlformats.org/drawingml/2006/main">
              <a:ext uri="{FF2B5EF4-FFF2-40B4-BE49-F238E27FC236}">
                <a16:creationId xmlns:a16="http://schemas.microsoft.com/office/drawing/2014/main" id="{FB426B95-7431-4625-A45F-73A7D6ED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答辩备份</a:t>
            </a:r>
          </a:p>
        </p:txBody>
      </p:sp>
      <p:sp>
        <p:nvSpPr>
          <p:cNvPr id="5" name="项目历史对照">
            <a:extLst xmlns:a="http://schemas.openxmlformats.org/drawingml/2006/main">
              <a:ext uri="{FF2B5EF4-FFF2-40B4-BE49-F238E27FC236}">
                <a16:creationId xmlns:a16="http://schemas.microsoft.com/office/drawing/2014/main" id="{FED61AA8-5B06-49AE-86B7-2FE2ED22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项目历史对照</a:t>
            </a:r>
          </a:p>
        </p:txBody>
      </p:sp>
      <p:sp>
        <p:nvSpPr>
          <p:cNvPr id="6" name="B03">
            <a:extLst xmlns:a="http://schemas.openxmlformats.org/drawingml/2006/main">
              <a:ext uri="{FF2B5EF4-FFF2-40B4-BE49-F238E27FC236}">
                <a16:creationId xmlns:a16="http://schemas.microsoft.com/office/drawing/2014/main" id="{470AA182-B6A7-42BB-98A7-399F4115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B03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BC85B-8870-4E97-82C7-0EDAD448598A}"/>
              </a:ext>
            </a:extLst>
          </p:cNvPr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81375"/>
                <a:gridCol w="1619250"/>
                <a:gridCol w="1619250"/>
                <a:gridCol w="1524000"/>
                <a:gridCol w="2828925"/>
              </a:tblGrid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服务水平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Fill Rate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库存比 J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平均库存 / 万件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卡方DRO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97.96%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98.94%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0.771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249.04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线性SPO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99.38%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99.13%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1.282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414.24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XGBoost–SPO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99.10%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98.97%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0.980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316.61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LightGBM–SPO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99.20%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98.93%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0.873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281.92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直接决策XGBoost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99.52%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99.10%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3.646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1177.91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直接决策LightGBM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99.46%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99.04%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3.569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1153.18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NN内层（未DFL微调）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96.09%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93.51%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0.334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108.03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改进DFL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95.26%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91.39%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0.280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90.39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</a:tr>
            </a:tbl>
          </a:graphicData>
        </a:graphic>
      </p:graphicFrame>
      <p:sp>
        <p:nvSpPr>
          <p:cNvPr id="8" name="J越小越好。淡色行为本轮95%至96%参考区间内">
            <a:extLst xmlns:a="http://schemas.openxmlformats.org/drawingml/2006/main">
              <a:ext uri="{FF2B5EF4-FFF2-40B4-BE49-F238E27FC236}">
                <a16:creationId xmlns:a16="http://schemas.microsoft.com/office/drawing/2014/main" id="{0ADE9EEA-0B86-4A48-AC83-135ADC19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J越小越好。淡色行为本轮95%至96%参考区间内方案。</a:t>
            </a:r>
          </a:p>
        </p:txBody>
      </p:sp>
    </p:spTree>
    <p:extLst>
      <p:ext uri="{BB962C8B-B14F-4D97-AF65-F5344CB8AC3E}">
        <p14:creationId xmlns:p14="http://schemas.microsoft.com/office/powerpoint/2010/main" val="1304404582"/>
      </p:ext>
    </p:extLst>
  </p:cSld>
</p:sld>
</file>

<file path=ppt/slides/slide3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备份 / 37个代表方案">
            <a:extLst xmlns:a="http://schemas.openxmlformats.org/drawingml/2006/main">
              <a:ext uri="{FF2B5EF4-FFF2-40B4-BE49-F238E27FC236}">
                <a16:creationId xmlns:a16="http://schemas.microsoft.com/office/drawing/2014/main" id="{0D39210D-6BDC-4C2F-8A16-E19FDAA9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备份 / 37个代表方案</a:t>
            </a:r>
          </a:p>
        </p:txBody>
      </p:sp>
      <p:sp>
        <p:nvSpPr>
          <p:cNvPr id="2" name="完整结果 4 / 5">
            <a:extLst xmlns:a="http://schemas.openxmlformats.org/drawingml/2006/main">
              <a:ext uri="{FF2B5EF4-FFF2-40B4-BE49-F238E27FC236}">
                <a16:creationId xmlns:a16="http://schemas.microsoft.com/office/drawing/2014/main" id="{7B7BA6F2-5146-4808-92B6-47256094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完整结果 4 / 5</a:t>
            </a:r>
          </a:p>
        </p:txBody>
      </p:sp>
      <p:sp>
        <p:nvSpPr>
          <p:cNvPr id="3" name="精确数值供答辩查阅，主讲使用图表">
            <a:extLst xmlns:a="http://schemas.openxmlformats.org/drawingml/2006/main">
              <a:ext uri="{FF2B5EF4-FFF2-40B4-BE49-F238E27FC236}">
                <a16:creationId xmlns:a16="http://schemas.microsoft.com/office/drawing/2014/main" id="{B8D05437-FC7C-4E1F-AB96-6C24315F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精确数值供答辩查阅，主讲使用图表</a:t>
            </a:r>
          </a:p>
        </p:txBody>
      </p:sp>
      <p:sp>
        <p:nvSpPr>
          <p:cNvPr id="4" name="答辩备份">
            <a:extLst xmlns:a="http://schemas.openxmlformats.org/drawingml/2006/main">
              <a:ext uri="{FF2B5EF4-FFF2-40B4-BE49-F238E27FC236}">
                <a16:creationId xmlns:a16="http://schemas.microsoft.com/office/drawing/2014/main" id="{B339E97D-9FB7-4FF6-87B5-B67BAAD0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答辩备份</a:t>
            </a:r>
          </a:p>
        </p:txBody>
      </p:sp>
      <p:sp>
        <p:nvSpPr>
          <p:cNvPr id="5" name="项目历史对照">
            <a:extLst xmlns:a="http://schemas.openxmlformats.org/drawingml/2006/main">
              <a:ext uri="{FF2B5EF4-FFF2-40B4-BE49-F238E27FC236}">
                <a16:creationId xmlns:a16="http://schemas.microsoft.com/office/drawing/2014/main" id="{36E8859F-C3E7-405B-BAF2-5B6D93B9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项目历史对照</a:t>
            </a:r>
          </a:p>
        </p:txBody>
      </p:sp>
      <p:sp>
        <p:nvSpPr>
          <p:cNvPr id="6" name="B04">
            <a:extLst xmlns:a="http://schemas.openxmlformats.org/drawingml/2006/main">
              <a:ext uri="{FF2B5EF4-FFF2-40B4-BE49-F238E27FC236}">
                <a16:creationId xmlns:a16="http://schemas.microsoft.com/office/drawing/2014/main" id="{45DFB30D-49AE-4D84-9D2C-F8F99B0E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B04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E7D7D-C50D-4E78-86B3-62F74C1DE784}"/>
              </a:ext>
            </a:extLst>
          </p:cNvPr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81375"/>
                <a:gridCol w="1619250"/>
                <a:gridCol w="1619250"/>
                <a:gridCol w="1524000"/>
                <a:gridCol w="2828925"/>
              </a:tblGrid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服务水平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Fill Rate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库存比 J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平均库存 / 万件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服务约束直接策略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97.53%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97.42%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0.489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157.92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在线学习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92.65%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92.95%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0.228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73.59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周转目标DFL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95.67%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92.97%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0.278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89.81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自适应场景MPC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92.18%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90.45%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0.263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84.94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等权平均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96.42%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98.55%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0.628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202.86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全局Stacking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96.62%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98.73%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0.450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145.25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逐SKU收缩Stacking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96.63%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98.73%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0.450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145.30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逐SKU硬选择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98.95%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97.61%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1.405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453.82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8" name="J越小越好。淡色行为本轮95%至96%参考区间内">
            <a:extLst xmlns:a="http://schemas.openxmlformats.org/drawingml/2006/main">
              <a:ext uri="{FF2B5EF4-FFF2-40B4-BE49-F238E27FC236}">
                <a16:creationId xmlns:a16="http://schemas.microsoft.com/office/drawing/2014/main" id="{378F07C9-FA26-465B-B4CF-6B9CFD7C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J越小越好。淡色行为本轮95%至96%参考区间内方案。</a:t>
            </a:r>
          </a:p>
        </p:txBody>
      </p:sp>
    </p:spTree>
    <p:extLst>
      <p:ext uri="{BB962C8B-B14F-4D97-AF65-F5344CB8AC3E}">
        <p14:creationId xmlns:p14="http://schemas.microsoft.com/office/powerpoint/2010/main" val="135356169"/>
      </p:ext>
    </p:extLst>
  </p:cSld>
</p:sld>
</file>

<file path=ppt/slides/slide34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备份 / 37个代表方案">
            <a:extLst xmlns:a="http://schemas.openxmlformats.org/drawingml/2006/main">
              <a:ext uri="{FF2B5EF4-FFF2-40B4-BE49-F238E27FC236}">
                <a16:creationId xmlns:a16="http://schemas.microsoft.com/office/drawing/2014/main" id="{F5BE36C5-DB28-459A-B849-7C4E8013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备份 / 37个代表方案</a:t>
            </a:r>
          </a:p>
        </p:txBody>
      </p:sp>
      <p:sp>
        <p:nvSpPr>
          <p:cNvPr id="2" name="完整结果 5 / 5">
            <a:extLst xmlns:a="http://schemas.openxmlformats.org/drawingml/2006/main">
              <a:ext uri="{FF2B5EF4-FFF2-40B4-BE49-F238E27FC236}">
                <a16:creationId xmlns:a16="http://schemas.microsoft.com/office/drawing/2014/main" id="{966B8DBF-52D1-4033-940C-1DF89087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完整结果 5 / 5</a:t>
            </a:r>
          </a:p>
        </p:txBody>
      </p:sp>
      <p:sp>
        <p:nvSpPr>
          <p:cNvPr id="3" name="精确数值供答辩查阅，主讲使用图表">
            <a:extLst xmlns:a="http://schemas.openxmlformats.org/drawingml/2006/main">
              <a:ext uri="{FF2B5EF4-FFF2-40B4-BE49-F238E27FC236}">
                <a16:creationId xmlns:a16="http://schemas.microsoft.com/office/drawing/2014/main" id="{8E91F494-0FC7-42CD-BDE1-878EB552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精确数值供答辩查阅，主讲使用图表</a:t>
            </a:r>
          </a:p>
        </p:txBody>
      </p:sp>
      <p:sp>
        <p:nvSpPr>
          <p:cNvPr id="4" name="答辩备份">
            <a:extLst xmlns:a="http://schemas.openxmlformats.org/drawingml/2006/main">
              <a:ext uri="{FF2B5EF4-FFF2-40B4-BE49-F238E27FC236}">
                <a16:creationId xmlns:a16="http://schemas.microsoft.com/office/drawing/2014/main" id="{0171D814-6522-45A3-AE72-16013CA9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答辩备份</a:t>
            </a:r>
          </a:p>
        </p:txBody>
      </p:sp>
      <p:sp>
        <p:nvSpPr>
          <p:cNvPr id="5" name="项目历史对照">
            <a:extLst xmlns:a="http://schemas.openxmlformats.org/drawingml/2006/main">
              <a:ext uri="{FF2B5EF4-FFF2-40B4-BE49-F238E27FC236}">
                <a16:creationId xmlns:a16="http://schemas.microsoft.com/office/drawing/2014/main" id="{9B9931C6-7187-4E75-84BA-6EA7200D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项目历史对照</a:t>
            </a:r>
          </a:p>
        </p:txBody>
      </p:sp>
      <p:sp>
        <p:nvSpPr>
          <p:cNvPr id="6" name="B05">
            <a:extLst xmlns:a="http://schemas.openxmlformats.org/drawingml/2006/main">
              <a:ext uri="{FF2B5EF4-FFF2-40B4-BE49-F238E27FC236}">
                <a16:creationId xmlns:a16="http://schemas.microsoft.com/office/drawing/2014/main" id="{14D6949A-5C1D-4580-A683-9F3536B2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B05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22175-AFA1-4CD5-A11F-5CB699E4385C}"/>
              </a:ext>
            </a:extLst>
          </p:cNvPr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81375"/>
                <a:gridCol w="1619250"/>
                <a:gridCol w="1619250"/>
                <a:gridCol w="1524000"/>
                <a:gridCol w="2828925"/>
              </a:tblGrid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服务水平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Fill Rate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库存比 J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DF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平均库存 / 万件</a:t>
                      </a:r>
                    </a:p>
                  </a:txBody>
                  <a:tcPr marL="91440" marR="91440" marT="45720" marB="45720" anchor="ctr">
                    <a:solidFill>
                      <a:srgbClr val="27243E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特征聚类DRO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95.07%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98.94%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0.551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178.01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不分组DRO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95.09%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98.98%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0.594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191.96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爆品/长尾DRO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95.14%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98.95%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0.556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179.56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传统(s,S)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95.23%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98.90%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0.516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166.68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</a:tr>
              <a:tr h="419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零半径经验模型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95.34%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98.93%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0.533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292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172.28</a:t>
                      </a:r>
                    </a:p>
                  </a:txBody>
                  <a:tcPr marL="91440" marR="91440" marT="45720" marB="45720" anchor="ctr">
                    <a:solidFill>
                      <a:srgbClr val="F0EDF9"/>
                    </a:solidFill>
                  </a:tcPr>
                </a:tc>
              </a:tr>
            </a:tbl>
          </a:graphicData>
        </a:graphic>
      </p:graphicFrame>
      <p:sp>
        <p:nvSpPr>
          <p:cNvPr id="8" name="J越小越好。淡色行为本轮95%至96%参考区间内">
            <a:extLst xmlns:a="http://schemas.openxmlformats.org/drawingml/2006/main">
              <a:ext uri="{FF2B5EF4-FFF2-40B4-BE49-F238E27FC236}">
                <a16:creationId xmlns:a16="http://schemas.microsoft.com/office/drawing/2014/main" id="{FE662EBE-DC86-43FD-9BA6-EFE627DA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J越小越好。淡色行为本轮95%至96%参考区间内方案。</a:t>
            </a:r>
          </a:p>
        </p:txBody>
      </p:sp>
    </p:spTree>
    <p:extLst>
      <p:ext uri="{BB962C8B-B14F-4D97-AF65-F5344CB8AC3E}">
        <p14:creationId xmlns:p14="http://schemas.microsoft.com/office/powerpoint/2010/main" val="1624308554"/>
      </p:ext>
    </p:extLst>
  </p:cSld>
</p:sld>
</file>

<file path=ppt/slides/slide35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备份 / DFL数学">
            <a:extLst xmlns:a="http://schemas.openxmlformats.org/drawingml/2006/main">
              <a:ext uri="{FF2B5EF4-FFF2-40B4-BE49-F238E27FC236}">
                <a16:creationId xmlns:a16="http://schemas.microsoft.com/office/drawing/2014/main" id="{07ADE007-42B8-45B8-93EA-67A1251E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备份 / DFL数学</a:t>
            </a:r>
          </a:p>
        </p:txBody>
      </p:sp>
      <p:sp>
        <p:nvSpPr>
          <p:cNvPr id="2" name="概率分布、场景和内层损失">
            <a:extLst xmlns:a="http://schemas.openxmlformats.org/drawingml/2006/main">
              <a:ext uri="{FF2B5EF4-FFF2-40B4-BE49-F238E27FC236}">
                <a16:creationId xmlns:a16="http://schemas.microsoft.com/office/drawing/2014/main" id="{F0770CA3-3A5E-4D3E-9A62-2B013CDE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概率分布、场景和内层损失</a:t>
            </a:r>
          </a:p>
        </p:txBody>
      </p:sp>
      <p:sp>
        <p:nvSpPr>
          <p:cNvPr id="3" name="μ与σ描述log(1+d)，不能直接当作原始需求">
            <a:extLst xmlns:a="http://schemas.openxmlformats.org/drawingml/2006/main">
              <a:ext uri="{FF2B5EF4-FFF2-40B4-BE49-F238E27FC236}">
                <a16:creationId xmlns:a16="http://schemas.microsoft.com/office/drawing/2014/main" id="{9A0A4708-426C-48A4-BD71-116208EF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μ与σ描述log(1+d)，不能直接当作原始需求均值和标准差</a:t>
            </a:r>
          </a:p>
        </p:txBody>
      </p:sp>
      <p:sp>
        <p:nvSpPr>
          <p:cNvPr id="4" name="答辩备份">
            <a:extLst xmlns:a="http://schemas.openxmlformats.org/drawingml/2006/main">
              <a:ext uri="{FF2B5EF4-FFF2-40B4-BE49-F238E27FC236}">
                <a16:creationId xmlns:a16="http://schemas.microsoft.com/office/drawing/2014/main" id="{80C754C9-4702-4C26-94E8-DD1BE3F2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答辩备份</a:t>
            </a:r>
          </a:p>
        </p:txBody>
      </p:sp>
      <p:sp>
        <p:nvSpPr>
          <p:cNvPr id="5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E715E926-4FC0-4EA2-BC82-58ACD6BA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6" name="B06">
            <a:extLst xmlns:a="http://schemas.openxmlformats.org/drawingml/2006/main">
              <a:ext uri="{FF2B5EF4-FFF2-40B4-BE49-F238E27FC236}">
                <a16:creationId xmlns:a16="http://schemas.microsoft.com/office/drawing/2014/main" id="{9FC663A5-A1F8-40B5-95FB-6B96A12E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B06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EF1E4-667E-4E9B-A2B3-3F7A2FE473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bd96e9356499b"/>
          <a:stretch xmlns:a="http://schemas.openxmlformats.org/drawingml/2006/main"/>
        </p:blipFill>
        <p:spPr>
          <a:xfrm xmlns:a="http://schemas.openxmlformats.org/drawingml/2006/main">
            <a:off x="609600" y="2067034"/>
            <a:ext cx="5700074" cy="980857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BE470-A6BF-42A8-9582-85A17F7BF7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11148ceae4382"/>
          <a:stretch xmlns:a="http://schemas.openxmlformats.org/drawingml/2006/main"/>
        </p:blipFill>
        <p:spPr>
          <a:xfrm xmlns:a="http://schemas.openxmlformats.org/drawingml/2006/main">
            <a:off x="613048" y="3333750"/>
            <a:ext cx="5710518" cy="9525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5AC50-7EEE-4DF7-B336-16F0E15A1C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59cd2a7d54beb"/>
          <a:stretch xmlns:a="http://schemas.openxmlformats.org/drawingml/2006/main"/>
        </p:blipFill>
        <p:spPr>
          <a:xfrm xmlns:a="http://schemas.openxmlformats.org/drawingml/2006/main">
            <a:off x="611573" y="4562475"/>
            <a:ext cx="6148363" cy="1247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84625"/>
      </p:ext>
    </p:extLst>
  </p:cSld>
</p:sld>
</file>

<file path=ppt/slides/slide36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备份 / DFL求解与参数">
            <a:extLst xmlns:a="http://schemas.openxmlformats.org/drawingml/2006/main">
              <a:ext uri="{FF2B5EF4-FFF2-40B4-BE49-F238E27FC236}">
                <a16:creationId xmlns:a16="http://schemas.microsoft.com/office/drawing/2014/main" id="{4B5389F7-F379-4057-9AE8-6F7A3D9F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备份 / DFL求解与参数</a:t>
            </a:r>
          </a:p>
        </p:txBody>
      </p:sp>
      <p:sp>
        <p:nvSpPr>
          <p:cNvPr id="2" name="内层使用投影迭代，外层采用一阶近似">
            <a:extLst xmlns:a="http://schemas.openxmlformats.org/drawingml/2006/main">
              <a:ext uri="{FF2B5EF4-FFF2-40B4-BE49-F238E27FC236}">
                <a16:creationId xmlns:a16="http://schemas.microsoft.com/office/drawing/2014/main" id="{E390F3C9-3182-4F77-B9B8-72EA8EC8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内层使用投影迭代，外层采用一阶近似</a:t>
            </a:r>
          </a:p>
        </p:txBody>
      </p:sp>
      <p:sp>
        <p:nvSpPr>
          <p:cNvPr id="3" name="固定训练协议后才能判断微调损失本身的贡献">
            <a:extLst xmlns:a="http://schemas.openxmlformats.org/drawingml/2006/main">
              <a:ext uri="{FF2B5EF4-FFF2-40B4-BE49-F238E27FC236}">
                <a16:creationId xmlns:a16="http://schemas.microsoft.com/office/drawing/2014/main" id="{F7C7D7C3-03D3-43D0-B7F4-084C70DD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固定训练协议后才能判断微调损失本身的贡献</a:t>
            </a:r>
          </a:p>
        </p:txBody>
      </p:sp>
      <p:sp>
        <p:nvSpPr>
          <p:cNvPr id="4" name="答辩备份">
            <a:extLst xmlns:a="http://schemas.openxmlformats.org/drawingml/2006/main">
              <a:ext uri="{FF2B5EF4-FFF2-40B4-BE49-F238E27FC236}">
                <a16:creationId xmlns:a16="http://schemas.microsoft.com/office/drawing/2014/main" id="{AE426142-5772-4D56-A019-CE94D82A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答辩备份</a:t>
            </a:r>
          </a:p>
        </p:txBody>
      </p:sp>
      <p:sp>
        <p:nvSpPr>
          <p:cNvPr id="5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3C074468-6F77-4E1C-B9AF-73366048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6" name="B07">
            <a:extLst xmlns:a="http://schemas.openxmlformats.org/drawingml/2006/main">
              <a:ext uri="{FF2B5EF4-FFF2-40B4-BE49-F238E27FC236}">
                <a16:creationId xmlns:a16="http://schemas.microsoft.com/office/drawing/2014/main" id="{9D4E1C1E-135F-4B15-9568-5F74EA96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B07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90324-DEFA-423D-B917-A77100A746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7fdf8381b4476"/>
          <a:stretch xmlns:a="http://schemas.openxmlformats.org/drawingml/2006/main"/>
        </p:blipFill>
        <p:spPr>
          <a:xfrm xmlns:a="http://schemas.openxmlformats.org/drawingml/2006/main">
            <a:off x="613084" y="2009775"/>
            <a:ext cx="4455459" cy="67627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E6587-D423-4550-90B8-115D5E1EA9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e722b192347ae"/>
          <a:stretch xmlns:a="http://schemas.openxmlformats.org/drawingml/2006/main"/>
        </p:blipFill>
        <p:spPr>
          <a:xfrm xmlns:a="http://schemas.openxmlformats.org/drawingml/2006/main">
            <a:off x="8524875" y="2010377"/>
            <a:ext cx="1142797" cy="67507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09E10-135C-4126-B751-FA24A2E833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985648f3b48e8"/>
          <a:stretch xmlns:a="http://schemas.openxmlformats.org/drawingml/2006/main"/>
        </p:blipFill>
        <p:spPr>
          <a:xfrm xmlns:a="http://schemas.openxmlformats.org/drawingml/2006/main">
            <a:off x="609600" y="2914693"/>
            <a:ext cx="5545884" cy="638088"/>
          </a:xfrm>
          <a:prstGeom xmlns:a="http://schemas.openxmlformats.org/drawingml/2006/main" prst="rect">
            <a:avLst/>
          </a:prstGeom>
        </p:spPr>
      </p:pic>
      <p:sp>
        <p:nvSpPr>
          <p:cNvPr id="10" name="改进DFL">
            <a:extLst xmlns:a="http://schemas.openxmlformats.org/drawingml/2006/main">
              <a:ext uri="{FF2B5EF4-FFF2-40B4-BE49-F238E27FC236}">
                <a16:creationId xmlns:a16="http://schemas.microsoft.com/office/drawing/2014/main" id="{881966CB-CEE5-43EE-B7EB-E2B4E1AA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改进DFL</a:t>
            </a:r>
          </a:p>
        </p:txBody>
      </p:sp>
      <p:sp>
        <p:nvSpPr>
          <p:cNvPr id="11" name="4期窗口    ρ=240    γ=0.1&#10;z">
            <a:extLst xmlns:a="http://schemas.openxmlformats.org/drawingml/2006/main">
              <a:ext uri="{FF2B5EF4-FFF2-40B4-BE49-F238E27FC236}">
                <a16:creationId xmlns:a16="http://schemas.microsoft.com/office/drawing/2014/main" id="{4EBE631C-305C-443B-BC08-12604B53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095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4期窗口    ρ=240    γ=0.1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z=1.75</a:t>
            </a:r>
          </a:p>
        </p:txBody>
      </p:sp>
      <p:sp>
        <p:nvSpPr>
          <p:cNvPr id="12" name="周转目标DFL">
            <a:extLst xmlns:a="http://schemas.openxmlformats.org/drawingml/2006/main">
              <a:ext uri="{FF2B5EF4-FFF2-40B4-BE49-F238E27FC236}">
                <a16:creationId xmlns:a16="http://schemas.microsoft.com/office/drawing/2014/main" id="{57F9160B-6ADE-49FC-965F-FF5B77FF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90975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周转目标DFL</a:t>
            </a:r>
          </a:p>
        </p:txBody>
      </p:sp>
      <p:sp>
        <p:nvSpPr>
          <p:cNvPr id="13" name="7期窗口    ρ=80    γ=0.2&#10;z=">
            <a:extLst xmlns:a="http://schemas.openxmlformats.org/drawingml/2006/main">
              <a:ext uri="{FF2B5EF4-FFF2-40B4-BE49-F238E27FC236}">
                <a16:creationId xmlns:a16="http://schemas.microsoft.com/office/drawing/2014/main" id="{80DB0B9D-D59F-4B05-B1B4-CA157A82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95800"/>
            <a:ext cx="5010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7期窗口    ρ=80    γ=0.2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z=2.15625</a:t>
            </a:r>
          </a:p>
        </p:txBody>
      </p:sp>
      <p:sp>
        <p:nvSpPr>
          <p:cNvPr id="14" name="两者均为10轮预训练、2轮微调，训练内层4步，测">
            <a:extLst xmlns:a="http://schemas.openxmlformats.org/drawingml/2006/main">
              <a:ext uri="{FF2B5EF4-FFF2-40B4-BE49-F238E27FC236}">
                <a16:creationId xmlns:a16="http://schemas.microsoft.com/office/drawing/2014/main" id="{93190B83-C695-4750-AE8E-72DC0907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两者均为10轮预训练、2轮微调，训练内层4步，测试8步。</a:t>
            </a:r>
          </a:p>
        </p:txBody>
      </p:sp>
    </p:spTree>
    <p:extLst>
      <p:ext uri="{BB962C8B-B14F-4D97-AF65-F5344CB8AC3E}">
        <p14:creationId xmlns:p14="http://schemas.microsoft.com/office/powerpoint/2010/main" val="2126301598"/>
      </p:ext>
    </p:extLst>
  </p:cSld>
</p:sld>
</file>

<file path=ppt/slides/slide37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备份 / 目标定义与硬求解器">
            <a:extLst xmlns:a="http://schemas.openxmlformats.org/drawingml/2006/main">
              <a:ext uri="{FF2B5EF4-FFF2-40B4-BE49-F238E27FC236}">
                <a16:creationId xmlns:a16="http://schemas.microsoft.com/office/drawing/2014/main" id="{CFE26296-B346-4F67-A5C8-4141C6D5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备份 / 目标定义与硬求解器</a:t>
            </a:r>
          </a:p>
        </p:txBody>
      </p:sp>
      <p:sp>
        <p:nvSpPr>
          <p:cNvPr id="2" name="原始分式目标与当前库存比的关系">
            <a:extLst xmlns:a="http://schemas.openxmlformats.org/drawingml/2006/main">
              <a:ext uri="{FF2B5EF4-FFF2-40B4-BE49-F238E27FC236}">
                <a16:creationId xmlns:a16="http://schemas.microsoft.com/office/drawing/2014/main" id="{263FDBFE-B3FE-4BB5-8B28-D9A02A88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原始分式目标与当前库存比的关系</a:t>
            </a:r>
          </a:p>
        </p:txBody>
      </p:sp>
      <p:sp>
        <p:nvSpPr>
          <p:cNvPr id="3" name="只有库存分母定义一致，才可以直接换算">
            <a:extLst xmlns:a="http://schemas.openxmlformats.org/drawingml/2006/main">
              <a:ext uri="{FF2B5EF4-FFF2-40B4-BE49-F238E27FC236}">
                <a16:creationId xmlns:a16="http://schemas.microsoft.com/office/drawing/2014/main" id="{60313F5A-60D2-408E-BCDF-5F28B7C2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只有库存分母定义一致，才可以直接换算</a:t>
            </a:r>
          </a:p>
        </p:txBody>
      </p:sp>
      <p:sp>
        <p:nvSpPr>
          <p:cNvPr id="4" name="答辩备份">
            <a:extLst xmlns:a="http://schemas.openxmlformats.org/drawingml/2006/main">
              <a:ext uri="{FF2B5EF4-FFF2-40B4-BE49-F238E27FC236}">
                <a16:creationId xmlns:a16="http://schemas.microsoft.com/office/drawing/2014/main" id="{CB68A1C0-F546-40E4-B6D1-37782EE7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答辩备份</a:t>
            </a:r>
          </a:p>
        </p:txBody>
      </p:sp>
      <p:sp>
        <p:nvSpPr>
          <p:cNvPr id="5" name="共同研究">
            <a:extLst xmlns:a="http://schemas.openxmlformats.org/drawingml/2006/main">
              <a:ext uri="{FF2B5EF4-FFF2-40B4-BE49-F238E27FC236}">
                <a16:creationId xmlns:a16="http://schemas.microsoft.com/office/drawing/2014/main" id="{AE0C05D2-5E26-409E-8645-0816DF27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共同研究</a:t>
            </a:r>
          </a:p>
        </p:txBody>
      </p:sp>
      <p:sp>
        <p:nvSpPr>
          <p:cNvPr id="6" name="B08">
            <a:extLst xmlns:a="http://schemas.openxmlformats.org/drawingml/2006/main">
              <a:ext uri="{FF2B5EF4-FFF2-40B4-BE49-F238E27FC236}">
                <a16:creationId xmlns:a16="http://schemas.microsoft.com/office/drawing/2014/main" id="{03396F1F-B855-4FDB-BF43-88EDF2AD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B08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CE7AE-B10C-4DE2-A366-49B96449C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30d1fb7d24b65"/>
          <a:stretch xmlns:a="http://schemas.openxmlformats.org/drawingml/2006/main"/>
        </p:blipFill>
        <p:spPr>
          <a:xfrm xmlns:a="http://schemas.openxmlformats.org/drawingml/2006/main">
            <a:off x="614411" y="2114550"/>
            <a:ext cx="4024732" cy="11620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D3B36-0FF1-4BB6-8E92-B492EB2458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6dbe9393846ee"/>
          <a:stretch xmlns:a="http://schemas.openxmlformats.org/drawingml/2006/main"/>
        </p:blipFill>
        <p:spPr>
          <a:xfrm xmlns:a="http://schemas.openxmlformats.org/drawingml/2006/main">
            <a:off x="7384541" y="2114550"/>
            <a:ext cx="2309465" cy="11620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BF0E6-F2A2-4190-9E2A-E322D85F67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fd8cdac8d4d86"/>
          <a:stretch xmlns:a="http://schemas.openxmlformats.org/drawingml/2006/main"/>
        </p:blipFill>
        <p:spPr>
          <a:xfrm xmlns:a="http://schemas.openxmlformats.org/drawingml/2006/main">
            <a:off x="614908" y="3952875"/>
            <a:ext cx="7510318" cy="857250"/>
          </a:xfrm>
          <a:prstGeom xmlns:a="http://schemas.openxmlformats.org/drawingml/2006/main" prst="rect">
            <a:avLst/>
          </a:prstGeom>
        </p:spPr>
      </p:pic>
      <p:sp>
        <p:nvSpPr>
          <p:cNvPr id="10" name="原始硬求解器方案仍是诊断实验，尚未形成完整训练的">
            <a:extLst xmlns:a="http://schemas.openxmlformats.org/drawingml/2006/main">
              <a:ext uri="{FF2B5EF4-FFF2-40B4-BE49-F238E27FC236}">
                <a16:creationId xmlns:a16="http://schemas.microsoft.com/office/drawing/2014/main" id="{77678014-5FB6-48CF-9C6F-01B1942C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原始硬求解器方案仍是诊断实验，尚未形成完整训练的可比模型。</a:t>
            </a:r>
          </a:p>
        </p:txBody>
      </p:sp>
    </p:spTree>
    <p:extLst>
      <p:ext uri="{BB962C8B-B14F-4D97-AF65-F5344CB8AC3E}">
        <p14:creationId xmlns:p14="http://schemas.microsoft.com/office/powerpoint/2010/main" val="840823289"/>
      </p:ext>
    </p:extLst>
  </p:cSld>
</p:sld>
</file>

<file path=ppt/slides/slide38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备份 / 实验设计">
            <a:extLst xmlns:a="http://schemas.openxmlformats.org/drawingml/2006/main">
              <a:ext uri="{FF2B5EF4-FFF2-40B4-BE49-F238E27FC236}">
                <a16:creationId xmlns:a16="http://schemas.microsoft.com/office/drawing/2014/main" id="{B157647F-1FE4-4D4F-B119-E0A3E533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备份 / 实验设计</a:t>
            </a:r>
          </a:p>
        </p:txBody>
      </p:sp>
      <p:sp>
        <p:nvSpPr>
          <p:cNvPr id="2" name="当前比较的可信度边界与下一步验证">
            <a:extLst xmlns:a="http://schemas.openxmlformats.org/drawingml/2006/main">
              <a:ext uri="{FF2B5EF4-FFF2-40B4-BE49-F238E27FC236}">
                <a16:creationId xmlns:a16="http://schemas.microsoft.com/office/drawing/2014/main" id="{FC30980B-6830-442D-8D07-A1A870CB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当前比较的可信度边界与下一步验证</a:t>
            </a:r>
          </a:p>
        </p:txBody>
      </p:sp>
      <p:sp>
        <p:nvSpPr>
          <p:cNvPr id="3" name="复现固定结果，不等同于证明未来泛化或学术创新">
            <a:extLst xmlns:a="http://schemas.openxmlformats.org/drawingml/2006/main">
              <a:ext uri="{FF2B5EF4-FFF2-40B4-BE49-F238E27FC236}">
                <a16:creationId xmlns:a16="http://schemas.microsoft.com/office/drawing/2014/main" id="{3389550E-3CDB-4486-BBB4-D0BFD3A7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复现固定结果，不等同于证明未来泛化或学术创新</a:t>
            </a:r>
          </a:p>
        </p:txBody>
      </p:sp>
      <p:sp>
        <p:nvSpPr>
          <p:cNvPr id="4" name="答辩备份">
            <a:extLst xmlns:a="http://schemas.openxmlformats.org/drawingml/2006/main">
              <a:ext uri="{FF2B5EF4-FFF2-40B4-BE49-F238E27FC236}">
                <a16:creationId xmlns:a16="http://schemas.microsoft.com/office/drawing/2014/main" id="{0445E1F0-139A-40FE-A65D-0E4EF0F9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答辩备份</a:t>
            </a:r>
          </a:p>
        </p:txBody>
      </p:sp>
      <p:sp>
        <p:nvSpPr>
          <p:cNvPr id="5" name="共同研究">
            <a:extLst xmlns:a="http://schemas.openxmlformats.org/drawingml/2006/main">
              <a:ext uri="{FF2B5EF4-FFF2-40B4-BE49-F238E27FC236}">
                <a16:creationId xmlns:a16="http://schemas.microsoft.com/office/drawing/2014/main" id="{F5C5E71A-5AF8-42FC-A6F5-AF58AEE7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共同研究</a:t>
            </a:r>
          </a:p>
        </p:txBody>
      </p:sp>
      <p:sp>
        <p:nvSpPr>
          <p:cNvPr id="6" name="B09">
            <a:extLst xmlns:a="http://schemas.openxmlformats.org/drawingml/2006/main">
              <a:ext uri="{FF2B5EF4-FFF2-40B4-BE49-F238E27FC236}">
                <a16:creationId xmlns:a16="http://schemas.microsoft.com/office/drawing/2014/main" id="{F83140CC-28C5-49A9-A88C-9F826E8C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B09</a:t>
            </a:r>
          </a:p>
        </p:txBody>
      </p:sp>
      <p:sp>
        <p:nvSpPr>
          <p:cNvPr id="7" name="共同测试，不同训练协议">
            <a:extLst xmlns:a="http://schemas.openxmlformats.org/drawingml/2006/main">
              <a:ext uri="{FF2B5EF4-FFF2-40B4-BE49-F238E27FC236}">
                <a16:creationId xmlns:a16="http://schemas.microsoft.com/office/drawing/2014/main" id="{C50D0086-27B9-490C-824B-B259C7F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共同测试，不同训练协议</a:t>
            </a:r>
          </a:p>
        </p:txBody>
      </p:sp>
      <p:sp>
        <p:nvSpPr>
          <p:cNvPr id="8" name="主要模型前向42/18验证并全量重拟合，最新鲁棒">
            <a:extLst xmlns:a="http://schemas.openxmlformats.org/drawingml/2006/main">
              <a:ext uri="{FF2B5EF4-FFF2-40B4-BE49-F238E27FC236}">
                <a16:creationId xmlns:a16="http://schemas.microsoft.com/office/drawing/2014/main" id="{783A7186-4B95-41E1-8027-A32C09A5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主要模型前向42/18验证并全量重拟合，最新鲁棒方案重启校准</a:t>
            </a:r>
          </a:p>
        </p:txBody>
      </p:sp>
      <p:sp>
        <p:nvSpPr>
          <p:cNvPr id="9" name="新留出集与控制消融">
            <a:extLst xmlns:a="http://schemas.openxmlformats.org/drawingml/2006/main">
              <a:ext uri="{FF2B5EF4-FFF2-40B4-BE49-F238E27FC236}">
                <a16:creationId xmlns:a16="http://schemas.microsoft.com/office/drawing/2014/main" id="{B98D33D5-8497-4CE1-9E90-B26E3485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新留出集与控制消融</a:t>
            </a:r>
          </a:p>
        </p:txBody>
      </p:sp>
      <p:sp>
        <p:nvSpPr>
          <p:cNvPr id="10" name="测试集曾参与开发，需统一训练切分，固定网络和内层">
            <a:extLst xmlns:a="http://schemas.openxmlformats.org/drawingml/2006/main">
              <a:ext uri="{FF2B5EF4-FFF2-40B4-BE49-F238E27FC236}">
                <a16:creationId xmlns:a16="http://schemas.microsoft.com/office/drawing/2014/main" id="{4AA718D3-AAA6-431C-B760-5D845117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测试集曾参与开发，需统一训练切分，固定网络和内层只改变微调</a:t>
            </a:r>
          </a:p>
        </p:txBody>
      </p:sp>
      <p:sp>
        <p:nvSpPr>
          <p:cNvPr id="11" name="统计与业务取舍">
            <a:extLst xmlns:a="http://schemas.openxmlformats.org/drawingml/2006/main">
              <a:ext uri="{FF2B5EF4-FFF2-40B4-BE49-F238E27FC236}">
                <a16:creationId xmlns:a16="http://schemas.microsoft.com/office/drawing/2014/main" id="{246B0C0B-1DE0-418A-A143-916A2918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统计与业务取舍</a:t>
            </a:r>
          </a:p>
        </p:txBody>
      </p:sp>
      <p:sp>
        <p:nvSpPr>
          <p:cNvPr id="12" name="补充多种子配对检验。如需要Fill下限，应明确加">
            <a:extLst xmlns:a="http://schemas.openxmlformats.org/drawingml/2006/main">
              <a:ext uri="{FF2B5EF4-FFF2-40B4-BE49-F238E27FC236}">
                <a16:creationId xmlns:a16="http://schemas.microsoft.com/office/drawing/2014/main" id="{C1905970-BBB5-47F5-A2E1-145298A1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补充多种子配对检验。如需要Fill下限，应明确加入约束后重训</a:t>
            </a:r>
          </a:p>
        </p:txBody>
      </p:sp>
    </p:spTree>
    <p:extLst>
      <p:ext uri="{BB962C8B-B14F-4D97-AF65-F5344CB8AC3E}">
        <p14:creationId xmlns:p14="http://schemas.microsoft.com/office/powerpoint/2010/main" val="57020277"/>
      </p:ext>
    </p:extLst>
  </p:cSld>
</p:sld>
</file>

<file path=ppt/slides/slide39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ristina / 鲁棒优化备份">
            <a:extLst xmlns:a="http://schemas.openxmlformats.org/drawingml/2006/main">
              <a:ext uri="{FF2B5EF4-FFF2-40B4-BE49-F238E27FC236}">
                <a16:creationId xmlns:a16="http://schemas.microsoft.com/office/drawing/2014/main" id="{C1A6670F-B115-4FC6-AF53-0715E251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 / 鲁棒优化备份</a:t>
            </a:r>
          </a:p>
        </p:txBody>
      </p:sp>
      <p:sp>
        <p:nvSpPr>
          <p:cNvPr id="2" name="原始实验：两类业务分组的库存比较">
            <a:extLst xmlns:a="http://schemas.openxmlformats.org/drawingml/2006/main">
              <a:ext uri="{FF2B5EF4-FFF2-40B4-BE49-F238E27FC236}">
                <a16:creationId xmlns:a16="http://schemas.microsoft.com/office/drawing/2014/main" id="{2EEA53C4-D5B5-47E4-BC51-B4EAB826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原始实验：两类业务分组的库存比较</a:t>
            </a:r>
          </a:p>
        </p:txBody>
      </p:sp>
      <p:sp>
        <p:nvSpPr>
          <p:cNvPr id="3" name="历史Fill约束结果，仅用于追溯原始研究结论">
            <a:extLst xmlns:a="http://schemas.openxmlformats.org/drawingml/2006/main">
              <a:ext uri="{FF2B5EF4-FFF2-40B4-BE49-F238E27FC236}">
                <a16:creationId xmlns:a16="http://schemas.microsoft.com/office/drawing/2014/main" id="{A978FAAF-12EA-4579-87B7-0B9E9B21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历史Fill约束结果，仅用于追溯原始研究结论</a:t>
            </a:r>
          </a:p>
        </p:txBody>
      </p:sp>
      <p:sp>
        <p:nvSpPr>
          <p:cNvPr id="4" name="答辩备份">
            <a:extLst xmlns:a="http://schemas.openxmlformats.org/drawingml/2006/main">
              <a:ext uri="{FF2B5EF4-FFF2-40B4-BE49-F238E27FC236}">
                <a16:creationId xmlns:a16="http://schemas.microsoft.com/office/drawing/2014/main" id="{5602AFE6-19E0-46F0-89C7-A421D7ED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答辩备份</a:t>
            </a:r>
          </a:p>
        </p:txBody>
      </p:sp>
      <p:sp>
        <p:nvSpPr>
          <p:cNvPr id="5" name="kristina">
            <a:extLst xmlns:a="http://schemas.openxmlformats.org/drawingml/2006/main">
              <a:ext uri="{FF2B5EF4-FFF2-40B4-BE49-F238E27FC236}">
                <a16:creationId xmlns:a16="http://schemas.microsoft.com/office/drawing/2014/main" id="{EBC09251-893D-406B-BFA1-61F98746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3944822-29CB-4CD4-8C8D-5659681FC367}"/>
              </a:ext>
            </a:extLst>
          </p:cNvPr>
          <p:cNvGraphicFramePr/>
          <p:nvPr/>
        </p:nvGraphicFramePr>
        <p:xfrm>
          <a:off xmlns:a="http://schemas.openxmlformats.org/drawingml/2006/main" x="609600" y="2105025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97ac64b2c54fa9"/>
          </a:graphicData>
        </a:graphic>
      </p:graphicFrame>
      <p:sp>
        <p:nvSpPr>
          <p:cNvPr id="7" name="历史两组DRO：Fill Rate96.56%，J较">
            <a:extLst xmlns:a="http://schemas.openxmlformats.org/drawingml/2006/main">
              <a:ext uri="{FF2B5EF4-FFF2-40B4-BE49-F238E27FC236}">
                <a16:creationId xmlns:a16="http://schemas.microsoft.com/office/drawing/2014/main" id="{CB63438B-5809-4D21-B7F9-EB2B9F55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历史两组DRO：Fill Rate96.56%，J较传统(s,S)低2.18%。不是新版服务约束成绩。</a:t>
            </a:r>
          </a:p>
        </p:txBody>
      </p:sp>
      <p:sp>
        <p:nvSpPr>
          <p:cNvPr id="8" name="B10">
            <a:extLst xmlns:a="http://schemas.openxmlformats.org/drawingml/2006/main">
              <a:ext uri="{FF2B5EF4-FFF2-40B4-BE49-F238E27FC236}">
                <a16:creationId xmlns:a16="http://schemas.microsoft.com/office/drawing/2014/main" id="{A2BB6BFE-0617-4E17-82E4-54185B96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B10</a:t>
            </a:r>
          </a:p>
        </p:txBody>
      </p:sp>
    </p:spTree>
    <p:extLst>
      <p:ext uri="{BB962C8B-B14F-4D97-AF65-F5344CB8AC3E}">
        <p14:creationId xmlns:p14="http://schemas.microsoft.com/office/powerpoint/2010/main" val="717344551"/>
      </p:ext>
    </p:extLst>
  </p:cSld>
</p:sld>
</file>

<file path=ppt/slides/slide4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ristina / 鲁棒优化备份">
            <a:extLst xmlns:a="http://schemas.openxmlformats.org/drawingml/2006/main">
              <a:ext uri="{FF2B5EF4-FFF2-40B4-BE49-F238E27FC236}">
                <a16:creationId xmlns:a16="http://schemas.microsoft.com/office/drawing/2014/main" id="{A4E1CC15-69A3-4A25-B8CA-1E27B62B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 / 鲁棒优化备份</a:t>
            </a:r>
          </a:p>
        </p:txBody>
      </p:sp>
      <p:sp>
        <p:nvSpPr>
          <p:cNvPr id="2" name="原始实验：逐期Fill Rate仍可能低于95%">
            <a:extLst xmlns:a="http://schemas.openxmlformats.org/drawingml/2006/main">
              <a:ext uri="{FF2B5EF4-FFF2-40B4-BE49-F238E27FC236}">
                <a16:creationId xmlns:a16="http://schemas.microsoft.com/office/drawing/2014/main" id="{CC40E811-729B-471E-9D1A-523BCAAB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原始实验：逐期Fill Rate仍可能低于95%</a:t>
            </a:r>
          </a:p>
        </p:txBody>
      </p:sp>
      <p:sp>
        <p:nvSpPr>
          <p:cNvPr id="3" name="历史单期曲线，第1期单列说明">
            <a:extLst xmlns:a="http://schemas.openxmlformats.org/drawingml/2006/main">
              <a:ext uri="{FF2B5EF4-FFF2-40B4-BE49-F238E27FC236}">
                <a16:creationId xmlns:a16="http://schemas.microsoft.com/office/drawing/2014/main" id="{6C4BEF7F-A097-43D1-BE6D-0F182F6D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历史单期曲线，第1期单列说明</a:t>
            </a:r>
          </a:p>
        </p:txBody>
      </p:sp>
      <p:sp>
        <p:nvSpPr>
          <p:cNvPr id="4" name="答辩备份">
            <a:extLst xmlns:a="http://schemas.openxmlformats.org/drawingml/2006/main">
              <a:ext uri="{FF2B5EF4-FFF2-40B4-BE49-F238E27FC236}">
                <a16:creationId xmlns:a16="http://schemas.microsoft.com/office/drawing/2014/main" id="{5FFE7055-BD2C-413C-90FA-E1297195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答辩备份</a:t>
            </a:r>
          </a:p>
        </p:txBody>
      </p:sp>
      <p:sp>
        <p:nvSpPr>
          <p:cNvPr id="5" name="kristina">
            <a:extLst xmlns:a="http://schemas.openxmlformats.org/drawingml/2006/main">
              <a:ext uri="{FF2B5EF4-FFF2-40B4-BE49-F238E27FC236}">
                <a16:creationId xmlns:a16="http://schemas.microsoft.com/office/drawing/2014/main" id="{E8D0D341-6043-4EBA-993D-E3F0EEEC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C426F62-69F4-4B5A-9F2E-0C2325CF33A7}"/>
              </a:ext>
            </a:extLst>
          </p:cNvPr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233ea43e83487b"/>
          </a:graphicData>
        </a:graphic>
      </p:graphicFrame>
      <p:sp>
        <p:nvSpPr>
          <p:cNvPr id="7" name="旧模型完整28期Fill96.56%，第2至28期为">
            <a:extLst xmlns:a="http://schemas.openxmlformats.org/drawingml/2006/main">
              <a:ext uri="{FF2B5EF4-FFF2-40B4-BE49-F238E27FC236}">
                <a16:creationId xmlns:a16="http://schemas.microsoft.com/office/drawing/2014/main" id="{A33ADAEA-3F99-423E-8C43-D601953D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旧模型完整28期Fill96.56%，第2至28期为97.38%。单期与累计不可混用。</a:t>
            </a:r>
          </a:p>
        </p:txBody>
      </p:sp>
      <p:sp>
        <p:nvSpPr>
          <p:cNvPr id="8" name="B11">
            <a:extLst xmlns:a="http://schemas.openxmlformats.org/drawingml/2006/main">
              <a:ext uri="{FF2B5EF4-FFF2-40B4-BE49-F238E27FC236}">
                <a16:creationId xmlns:a16="http://schemas.microsoft.com/office/drawing/2014/main" id="{55E449B5-26E6-476E-9115-DCC0A0E4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B11</a:t>
            </a:r>
          </a:p>
        </p:txBody>
      </p:sp>
    </p:spTree>
    <p:extLst>
      <p:ext uri="{BB962C8B-B14F-4D97-AF65-F5344CB8AC3E}">
        <p14:creationId xmlns:p14="http://schemas.microsoft.com/office/powerpoint/2010/main" val="954061122"/>
      </p:ext>
    </p:extLst>
  </p:cSld>
</p:sld>
</file>

<file path=ppt/slides/slide4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ristina / 鲁棒优化备份">
            <a:extLst xmlns:a="http://schemas.openxmlformats.org/drawingml/2006/main">
              <a:ext uri="{FF2B5EF4-FFF2-40B4-BE49-F238E27FC236}">
                <a16:creationId xmlns:a16="http://schemas.microsoft.com/office/drawing/2014/main" id="{1F583A44-2E85-48F2-ADF8-29967C07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 / 鲁棒优化备份</a:t>
            </a:r>
          </a:p>
        </p:txBody>
      </p:sp>
      <p:sp>
        <p:nvSpPr>
          <p:cNvPr id="2" name="原始参数、分组效果与验证成绩">
            <a:extLst xmlns:a="http://schemas.openxmlformats.org/drawingml/2006/main">
              <a:ext uri="{FF2B5EF4-FFF2-40B4-BE49-F238E27FC236}">
                <a16:creationId xmlns:a16="http://schemas.microsoft.com/office/drawing/2014/main" id="{F98165AD-7AF5-4002-8D6C-F88D79A0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原始参数、分组效果与验证成绩</a:t>
            </a:r>
          </a:p>
        </p:txBody>
      </p:sp>
      <p:sp>
        <p:nvSpPr>
          <p:cNvPr id="3" name="历史数量约束参数留存，未替换为新版概率参数">
            <a:extLst xmlns:a="http://schemas.openxmlformats.org/drawingml/2006/main">
              <a:ext uri="{FF2B5EF4-FFF2-40B4-BE49-F238E27FC236}">
                <a16:creationId xmlns:a16="http://schemas.microsoft.com/office/drawing/2014/main" id="{C30BB8E2-F317-41C7-81E0-33931E57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历史数量约束参数留存，未替换为新版概率参数</a:t>
            </a:r>
          </a:p>
        </p:txBody>
      </p:sp>
      <p:sp>
        <p:nvSpPr>
          <p:cNvPr id="4" name="答辩备份">
            <a:extLst xmlns:a="http://schemas.openxmlformats.org/drawingml/2006/main">
              <a:ext uri="{FF2B5EF4-FFF2-40B4-BE49-F238E27FC236}">
                <a16:creationId xmlns:a16="http://schemas.microsoft.com/office/drawing/2014/main" id="{A4C9537F-99F7-456E-B057-9B97ACC0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答辩备份</a:t>
            </a:r>
          </a:p>
        </p:txBody>
      </p:sp>
      <p:sp>
        <p:nvSpPr>
          <p:cNvPr id="5" name="kristina">
            <a:extLst xmlns:a="http://schemas.openxmlformats.org/drawingml/2006/main">
              <a:ext uri="{FF2B5EF4-FFF2-40B4-BE49-F238E27FC236}">
                <a16:creationId xmlns:a16="http://schemas.microsoft.com/office/drawing/2014/main" id="{9729FD50-7BB0-4BEC-AAA8-03C01342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</a:t>
            </a:r>
          </a:p>
        </p:txBody>
      </p:sp>
      <p:sp>
        <p:nvSpPr>
          <p:cNvPr id="6" name="两组DRO">
            <a:extLst xmlns:a="http://schemas.openxmlformats.org/drawingml/2006/main">
              <a:ext uri="{FF2B5EF4-FFF2-40B4-BE49-F238E27FC236}">
                <a16:creationId xmlns:a16="http://schemas.microsoft.com/office/drawing/2014/main" id="{74AAA349-1501-48EE-B4E1-1A5A9FCF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两组DRO</a:t>
            </a:r>
          </a:p>
        </p:txBody>
      </p:sp>
      <p:sp>
        <p:nvSpPr>
          <p:cNvPr id="7" name="β=0.9581，ε=0.10&#10;重启验证J=0.13">
            <a:extLst xmlns:a="http://schemas.openxmlformats.org/drawingml/2006/main">
              <a:ext uri="{FF2B5EF4-FFF2-40B4-BE49-F238E27FC236}">
                <a16:creationId xmlns:a16="http://schemas.microsoft.com/office/drawing/2014/main" id="{6BB98414-7366-4701-BCB5-D2C96047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048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β=0.9581，ε=0.10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重启验证J=0.136532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爆品倍率1.12683，长尾倍率1.16858</a:t>
            </a:r>
          </a:p>
        </p:txBody>
      </p:sp>
      <p:sp>
        <p:nvSpPr>
          <p:cNvPr id="8" name="六簇DRO">
            <a:extLst xmlns:a="http://schemas.openxmlformats.org/drawingml/2006/main">
              <a:ext uri="{FF2B5EF4-FFF2-40B4-BE49-F238E27FC236}">
                <a16:creationId xmlns:a16="http://schemas.microsoft.com/office/drawing/2014/main" id="{5DF178D9-7FB9-4DEA-9008-3FFBA679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501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六簇DRO</a:t>
            </a:r>
          </a:p>
        </p:txBody>
      </p:sp>
      <p:sp>
        <p:nvSpPr>
          <p:cNvPr id="9" name="β=0.9581，ε=0.10&#10;重启验证J=0.13">
            <a:extLst xmlns:a="http://schemas.openxmlformats.org/drawingml/2006/main">
              <a:ext uri="{FF2B5EF4-FFF2-40B4-BE49-F238E27FC236}">
                <a16:creationId xmlns:a16="http://schemas.microsoft.com/office/drawing/2014/main" id="{9295F0FC-C2DD-4208-B39A-E76523F7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50101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β=0.9581，ε=0.10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重启验证J=0.136263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测试Fill96.55%，J=0.169025</a:t>
            </a:r>
          </a:p>
        </p:txBody>
      </p:sp>
      <p:sp>
        <p:nvSpPr>
          <p:cNvPr id="10" name="单组DRO">
            <a:extLst xmlns:a="http://schemas.openxmlformats.org/drawingml/2006/main">
              <a:ext uri="{FF2B5EF4-FFF2-40B4-BE49-F238E27FC236}">
                <a16:creationId xmlns:a16="http://schemas.microsoft.com/office/drawing/2014/main" id="{ED00D16F-B1E7-4A5C-BCBA-9DE1D7D1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单组DRO</a:t>
            </a:r>
          </a:p>
        </p:txBody>
      </p:sp>
      <p:sp>
        <p:nvSpPr>
          <p:cNvPr id="11" name="β=0.9681，ε=0.05&#10;重启验证J=0.13">
            <a:extLst xmlns:a="http://schemas.openxmlformats.org/drawingml/2006/main">
              <a:ext uri="{FF2B5EF4-FFF2-40B4-BE49-F238E27FC236}">
                <a16:creationId xmlns:a16="http://schemas.microsoft.com/office/drawing/2014/main" id="{A2D2C3FD-BA10-45AA-84E7-8C29210B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048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β=0.9681，ε=0.05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重启验证J=0.133645</a:t>
            </a:r>
          </a:p>
        </p:txBody>
      </p:sp>
      <p:sp>
        <p:nvSpPr>
          <p:cNvPr id="12" name="原始对照策略">
            <a:extLst xmlns:a="http://schemas.openxmlformats.org/drawingml/2006/main">
              <a:ext uri="{FF2B5EF4-FFF2-40B4-BE49-F238E27FC236}">
                <a16:creationId xmlns:a16="http://schemas.microsoft.com/office/drawing/2014/main" id="{043CB6E7-A261-4BAF-9668-2639A715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501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原始对照策略</a:t>
            </a:r>
          </a:p>
        </p:txBody>
      </p:sp>
      <p:sp>
        <p:nvSpPr>
          <p:cNvPr id="13" name="SAA：β=0.9881，ε=0&#10;(s,S)低 / ">
            <a:extLst xmlns:a="http://schemas.openxmlformats.org/drawingml/2006/main">
              <a:ext uri="{FF2B5EF4-FFF2-40B4-BE49-F238E27FC236}">
                <a16:creationId xmlns:a16="http://schemas.microsoft.com/office/drawing/2014/main" id="{74C904FC-0CEA-4DD9-8E51-A511FE8B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5010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SAA：β=0.9881，ε=0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(s,S)低 / 高水位分位数：0.75 / 0.85</a:t>
            </a:r>
          </a:p>
        </p:txBody>
      </p:sp>
      <p:sp>
        <p:nvSpPr>
          <p:cNvPr id="14" name="B12">
            <a:extLst xmlns:a="http://schemas.openxmlformats.org/drawingml/2006/main">
              <a:ext uri="{FF2B5EF4-FFF2-40B4-BE49-F238E27FC236}">
                <a16:creationId xmlns:a16="http://schemas.microsoft.com/office/drawing/2014/main" id="{7D54F636-05A4-4776-8C0F-F858C165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B12</a:t>
            </a:r>
          </a:p>
        </p:txBody>
      </p:sp>
    </p:spTree>
    <p:extLst>
      <p:ext uri="{BB962C8B-B14F-4D97-AF65-F5344CB8AC3E}">
        <p14:creationId xmlns:p14="http://schemas.microsoft.com/office/powerpoint/2010/main" val="987815505"/>
      </p:ext>
    </p:extLst>
  </p:cSld>
</p:sld>
</file>

<file path=ppt/slides/slide4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ristina / 鲁棒优化备份">
            <a:extLst xmlns:a="http://schemas.openxmlformats.org/drawingml/2006/main">
              <a:ext uri="{FF2B5EF4-FFF2-40B4-BE49-F238E27FC236}">
                <a16:creationId xmlns:a16="http://schemas.microsoft.com/office/drawing/2014/main" id="{8180FE23-3989-4AF1-88B7-26413991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 / 鲁棒优化备份</a:t>
            </a:r>
          </a:p>
        </p:txBody>
      </p:sp>
      <p:sp>
        <p:nvSpPr>
          <p:cNvPr id="2" name="原始端点上图LP与最小可行水位">
            <a:extLst xmlns:a="http://schemas.openxmlformats.org/drawingml/2006/main">
              <a:ext uri="{FF2B5EF4-FFF2-40B4-BE49-F238E27FC236}">
                <a16:creationId xmlns:a16="http://schemas.microsoft.com/office/drawing/2014/main" id="{1581E421-A74E-4059-A5D8-C0478143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原始端点上图LP与最小可行水位</a:t>
            </a:r>
          </a:p>
        </p:txBody>
      </p:sp>
      <p:sp>
        <p:nvSpPr>
          <p:cNvPr id="3" name="与主讲二分函数等价的线性规划">
            <a:extLst xmlns:a="http://schemas.openxmlformats.org/drawingml/2006/main">
              <a:ext uri="{FF2B5EF4-FFF2-40B4-BE49-F238E27FC236}">
                <a16:creationId xmlns:a16="http://schemas.microsoft.com/office/drawing/2014/main" id="{74BF58C7-5C88-462C-80DF-4DAD2CB1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与主讲二分函数等价的线性规划</a:t>
            </a:r>
          </a:p>
        </p:txBody>
      </p:sp>
      <p:sp>
        <p:nvSpPr>
          <p:cNvPr id="4" name="答辩备份">
            <a:extLst xmlns:a="http://schemas.openxmlformats.org/drawingml/2006/main">
              <a:ext uri="{FF2B5EF4-FFF2-40B4-BE49-F238E27FC236}">
                <a16:creationId xmlns:a16="http://schemas.microsoft.com/office/drawing/2014/main" id="{FDE04520-693B-4AA0-9A16-C488C464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答辩备份</a:t>
            </a:r>
          </a:p>
        </p:txBody>
      </p:sp>
      <p:sp>
        <p:nvSpPr>
          <p:cNvPr id="5" name="kristina">
            <a:extLst xmlns:a="http://schemas.openxmlformats.org/drawingml/2006/main">
              <a:ext uri="{FF2B5EF4-FFF2-40B4-BE49-F238E27FC236}">
                <a16:creationId xmlns:a16="http://schemas.microsoft.com/office/drawing/2014/main" id="{C01A8A90-9A2B-4A32-9469-70F2D6B1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C8180-0C36-4CDE-9AB3-5E9D8B2F3F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717017e6447bc"/>
          <a:stretch xmlns:a="http://schemas.openxmlformats.org/drawingml/2006/main"/>
        </p:blipFill>
        <p:spPr>
          <a:xfrm xmlns:a="http://schemas.openxmlformats.org/drawingml/2006/main">
            <a:off x="609600" y="2105291"/>
            <a:ext cx="5936834" cy="2085444"/>
          </a:xfrm>
          <a:prstGeom xmlns:a="http://schemas.openxmlformats.org/drawingml/2006/main" prst="rect">
            <a:avLst/>
          </a:prstGeom>
        </p:spPr>
      </p:pic>
      <p:sp>
        <p:nvSpPr>
          <p:cNvPr id="7" name="每个样本覆盖两个端点的两段线性函数">
            <a:extLst xmlns:a="http://schemas.openxmlformats.org/drawingml/2006/main">
              <a:ext uri="{FF2B5EF4-FFF2-40B4-BE49-F238E27FC236}">
                <a16:creationId xmlns:a16="http://schemas.microsoft.com/office/drawing/2014/main" id="{412C0123-EE12-439B-8E0C-299E9FCC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每个样本覆盖两个端点的两段线性函数</a:t>
            </a:r>
          </a:p>
        </p:txBody>
      </p:sp>
      <p:sp>
        <p:nvSpPr>
          <p:cNvPr id="8" name="辅助变量同时不低于四个仿射表达式，均值非正即约束可行">
            <a:extLst xmlns:a="http://schemas.openxmlformats.org/drawingml/2006/main">
              <a:ext uri="{FF2B5EF4-FFF2-40B4-BE49-F238E27FC236}">
                <a16:creationId xmlns:a16="http://schemas.microsoft.com/office/drawing/2014/main" id="{4C0DD436-A937-4529-A6CC-CFE518B6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辅助变量同时不低于四个仿射表达式，均值非正即约束可行</a:t>
            </a:r>
          </a:p>
        </p:txBody>
      </p:sp>
      <p:sp>
        <p:nvSpPr>
          <p:cNvPr id="9" name="等价性来自凸性与上图表示">
            <a:extLst xmlns:a="http://schemas.openxmlformats.org/drawingml/2006/main">
              <a:ext uri="{FF2B5EF4-FFF2-40B4-BE49-F238E27FC236}">
                <a16:creationId xmlns:a16="http://schemas.microsoft.com/office/drawing/2014/main" id="{9409089A-B63A-4DD7-8195-E8270966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等价性来自凸性与上图表示</a:t>
            </a:r>
          </a:p>
        </p:txBody>
      </p:sp>
      <p:sp>
        <p:nvSpPr>
          <p:cNvPr id="10" name="LP和二分搜索对应同一个历史数量约束，不用于替代新版">
            <a:extLst xmlns:a="http://schemas.openxmlformats.org/drawingml/2006/main">
              <a:ext uri="{FF2B5EF4-FFF2-40B4-BE49-F238E27FC236}">
                <a16:creationId xmlns:a16="http://schemas.microsoft.com/office/drawing/2014/main" id="{5CA1E642-8CFF-41AA-85EE-CAA13F5C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LP和二分搜索对应同一个历史数量约束，不用于替代新版机会约束</a:t>
            </a:r>
          </a:p>
        </p:txBody>
      </p:sp>
      <p:sp>
        <p:nvSpPr>
          <p:cNvPr id="11" name="B13">
            <a:extLst xmlns:a="http://schemas.openxmlformats.org/drawingml/2006/main">
              <a:ext uri="{FF2B5EF4-FFF2-40B4-BE49-F238E27FC236}">
                <a16:creationId xmlns:a16="http://schemas.microsoft.com/office/drawing/2014/main" id="{BD28C7C1-3651-4322-B4B2-F2A0A880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B13</a:t>
            </a:r>
          </a:p>
        </p:txBody>
      </p:sp>
    </p:spTree>
    <p:extLst>
      <p:ext uri="{BB962C8B-B14F-4D97-AF65-F5344CB8AC3E}">
        <p14:creationId xmlns:p14="http://schemas.microsoft.com/office/powerpoint/2010/main" val="1705574350"/>
      </p:ext>
    </p:extLst>
  </p:cSld>
</p:sld>
</file>

<file path=ppt/slides/slide4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ristina / 鲁棒优化备份">
            <a:extLst xmlns:a="http://schemas.openxmlformats.org/drawingml/2006/main">
              <a:ext uri="{FF2B5EF4-FFF2-40B4-BE49-F238E27FC236}">
                <a16:creationId xmlns:a16="http://schemas.microsoft.com/office/drawing/2014/main" id="{30C33248-C8B3-4476-8686-0FA1AB2E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 / 鲁棒优化备份</a:t>
            </a:r>
          </a:p>
        </p:txBody>
      </p:sp>
      <p:sp>
        <p:nvSpPr>
          <p:cNvPr id="2" name="首期供给、末期在途与动画回放">
            <a:extLst xmlns:a="http://schemas.openxmlformats.org/drawingml/2006/main">
              <a:ext uri="{FF2B5EF4-FFF2-40B4-BE49-F238E27FC236}">
                <a16:creationId xmlns:a16="http://schemas.microsoft.com/office/drawing/2014/main" id="{75715B45-5AB6-4B18-B182-CDD1D021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首期供给、末期在途与动画回放</a:t>
            </a:r>
          </a:p>
        </p:txBody>
      </p:sp>
      <p:sp>
        <p:nvSpPr>
          <p:cNvPr id="3" name="初始供给决定首期表现，动画展示已保存的实际轨迹">
            <a:extLst xmlns:a="http://schemas.openxmlformats.org/drawingml/2006/main">
              <a:ext uri="{FF2B5EF4-FFF2-40B4-BE49-F238E27FC236}">
                <a16:creationId xmlns:a16="http://schemas.microsoft.com/office/drawing/2014/main" id="{C7499044-32CA-4BA9-99D4-71BAFFC8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初始供给决定首期表现，动画展示已保存的实际轨迹</a:t>
            </a:r>
          </a:p>
        </p:txBody>
      </p:sp>
      <p:sp>
        <p:nvSpPr>
          <p:cNvPr id="4" name="答辩备份">
            <a:extLst xmlns:a="http://schemas.openxmlformats.org/drawingml/2006/main">
              <a:ext uri="{FF2B5EF4-FFF2-40B4-BE49-F238E27FC236}">
                <a16:creationId xmlns:a16="http://schemas.microsoft.com/office/drawing/2014/main" id="{D88BBC3D-46AE-4706-BA4A-AB33E80E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答辩备份</a:t>
            </a:r>
          </a:p>
        </p:txBody>
      </p:sp>
      <p:sp>
        <p:nvSpPr>
          <p:cNvPr id="5" name="kristina">
            <a:extLst xmlns:a="http://schemas.openxmlformats.org/drawingml/2006/main">
              <a:ext uri="{FF2B5EF4-FFF2-40B4-BE49-F238E27FC236}">
                <a16:creationId xmlns:a16="http://schemas.microsoft.com/office/drawing/2014/main" id="{42259059-58BF-4AE8-9C52-FA6B9718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</a:t>
            </a:r>
          </a:p>
        </p:txBody>
      </p:sp>
      <p:sp>
        <p:nvSpPr>
          <p:cNvPr id="6" name="首期缺货不能由当天订单补救">
            <a:extLst xmlns:a="http://schemas.openxmlformats.org/drawingml/2006/main">
              <a:ext uri="{FF2B5EF4-FFF2-40B4-BE49-F238E27FC236}">
                <a16:creationId xmlns:a16="http://schemas.microsoft.com/office/drawing/2014/main" id="{9CD520D4-70F2-44DF-AC6C-244F91A0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首期缺货不能由当天订单补救</a:t>
            </a:r>
          </a:p>
        </p:txBody>
      </p:sp>
      <p:sp>
        <p:nvSpPr>
          <p:cNvPr id="7" name="所有策略首期损失763,368件，初始库存和零在途共">
            <a:extLst xmlns:a="http://schemas.openxmlformats.org/drawingml/2006/main">
              <a:ext uri="{FF2B5EF4-FFF2-40B4-BE49-F238E27FC236}">
                <a16:creationId xmlns:a16="http://schemas.microsoft.com/office/drawing/2014/main" id="{81BD3648-D470-477B-AB47-A3ECFEFB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所有策略首期损失763,368件，初始库存和零在途共同决定</a:t>
            </a:r>
          </a:p>
        </p:txBody>
      </p:sp>
      <p:sp>
        <p:nvSpPr>
          <p:cNvPr id="8" name="末期订单到第29期才到货">
            <a:extLst xmlns:a="http://schemas.openxmlformats.org/drawingml/2006/main">
              <a:ext uri="{FF2B5EF4-FFF2-40B4-BE49-F238E27FC236}">
                <a16:creationId xmlns:a16="http://schemas.microsoft.com/office/drawing/2014/main" id="{04505B09-19B2-4A86-A786-D57F9B47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末期订单到第29期才到货</a:t>
            </a:r>
          </a:p>
        </p:txBody>
      </p:sp>
      <p:sp>
        <p:nvSpPr>
          <p:cNvPr id="9" name="历史两组DRO末期在途5,426,813件，未计入测">
            <a:extLst xmlns:a="http://schemas.openxmlformats.org/drawingml/2006/main">
              <a:ext uri="{FF2B5EF4-FFF2-40B4-BE49-F238E27FC236}">
                <a16:creationId xmlns:a16="http://schemas.microsoft.com/office/drawing/2014/main" id="{1D723498-41C2-45FD-B797-E4D4BC26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历史两组DRO末期在途5,426,813件，未计入测试在手库存</a:t>
            </a:r>
          </a:p>
        </p:txBody>
      </p:sp>
      <p:sp>
        <p:nvSpPr>
          <p:cNvPr id="10" name="动画回放展示执行机制">
            <a:extLst xmlns:a="http://schemas.openxmlformats.org/drawingml/2006/main">
              <a:ext uri="{FF2B5EF4-FFF2-40B4-BE49-F238E27FC236}">
                <a16:creationId xmlns:a16="http://schemas.microsoft.com/office/drawing/2014/main" id="{C6ECF95F-E3E0-4904-8279-BDFF924D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动画回放展示执行机制</a:t>
            </a:r>
          </a:p>
        </p:txBody>
      </p:sp>
      <p:sp>
        <p:nvSpPr>
          <p:cNvPr id="11" name="选择商品与策略，查看到货、销量、期末库存和下一期订单">
            <a:extLst xmlns:a="http://schemas.openxmlformats.org/drawingml/2006/main">
              <a:ext uri="{FF2B5EF4-FFF2-40B4-BE49-F238E27FC236}">
                <a16:creationId xmlns:a16="http://schemas.microsoft.com/office/drawing/2014/main" id="{6C68D045-7833-4CD3-8F8F-44F45111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选择商品与策略，查看到货、销量、期末库存和下一期订单</a:t>
            </a:r>
          </a:p>
        </p:txBody>
      </p:sp>
      <p:sp>
        <p:nvSpPr>
          <p:cNvPr id="12" name="打开原始离线补货动画">
            <a:extLst xmlns:a="http://schemas.openxmlformats.org/drawingml/2006/main">
              <a:ext uri="{FF2B5EF4-FFF2-40B4-BE49-F238E27FC236}">
                <a16:creationId xmlns:a16="http://schemas.microsoft.com/office/drawing/2014/main" id="{86449C89-78DF-43D0-9176-90B72B26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cdcc5996bab4ec2"/>
              </a:rPr>
              <a:t>打开原始离线补货动画</a:t>
            </a:r>
          </a:p>
        </p:txBody>
      </p:sp>
      <p:sp>
        <p:nvSpPr>
          <p:cNvPr id="13" name="B14">
            <a:extLst xmlns:a="http://schemas.openxmlformats.org/drawingml/2006/main">
              <a:ext uri="{FF2B5EF4-FFF2-40B4-BE49-F238E27FC236}">
                <a16:creationId xmlns:a16="http://schemas.microsoft.com/office/drawing/2014/main" id="{5F97A03D-AC55-426A-AFA4-8283F6B1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B14</a:t>
            </a:r>
          </a:p>
        </p:txBody>
      </p:sp>
    </p:spTree>
    <p:extLst>
      <p:ext uri="{BB962C8B-B14F-4D97-AF65-F5344CB8AC3E}">
        <p14:creationId xmlns:p14="http://schemas.microsoft.com/office/powerpoint/2010/main" val="973013452"/>
      </p:ext>
    </p:extLst>
  </p:cSld>
</p:sld>
</file>

<file path=ppt/slides/slide44.xml><?xml version="1.0" encoding="utf-8"?>
<p:sld xmlns:p="http://schemas.openxmlformats.org/presentationml/2006/main" show="1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研究职责">
            <a:extLst xmlns:a="http://schemas.openxmlformats.org/drawingml/2006/main">
              <a:ext uri="{FF2B5EF4-FFF2-40B4-BE49-F238E27FC236}">
                <a16:creationId xmlns:a16="http://schemas.microsoft.com/office/drawing/2014/main" id="{07A8FCB8-25DF-4B20-B8EB-E9A0B4BF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研究职责</a:t>
            </a:r>
          </a:p>
        </p:txBody>
      </p:sp>
      <p:sp>
        <p:nvSpPr>
          <p:cNvPr id="2" name="双方工作分工">
            <a:extLst xmlns:a="http://schemas.openxmlformats.org/drawingml/2006/main">
              <a:ext uri="{FF2B5EF4-FFF2-40B4-BE49-F238E27FC236}">
                <a16:creationId xmlns:a16="http://schemas.microsoft.com/office/drawing/2014/main" id="{B5849039-4044-4591-A9B4-C472FDF5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双方工作分工</a:t>
            </a:r>
          </a:p>
        </p:txBody>
      </p:sp>
      <p:sp>
        <p:nvSpPr>
          <p:cNvPr id="3" name="预测与决策学习、鲁棒优化分别展开，共同完成项目汇">
            <a:extLst xmlns:a="http://schemas.openxmlformats.org/drawingml/2006/main">
              <a:ext uri="{FF2B5EF4-FFF2-40B4-BE49-F238E27FC236}">
                <a16:creationId xmlns:a16="http://schemas.microsoft.com/office/drawing/2014/main" id="{95188F4B-5603-4DF0-BEED-6AE1D16F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预测与决策学习、鲁棒优化分别展开，共同完成项目汇报</a:t>
            </a:r>
          </a:p>
        </p:txBody>
      </p:sp>
      <p:sp>
        <p:nvSpPr>
          <p:cNvPr id="4" name="补货决策研究    2026.10">
            <a:extLst xmlns:a="http://schemas.openxmlformats.org/drawingml/2006/main">
              <a:ext uri="{FF2B5EF4-FFF2-40B4-BE49-F238E27FC236}">
                <a16:creationId xmlns:a16="http://schemas.microsoft.com/office/drawing/2014/main" id="{4C87FE12-7871-4AD8-B820-6897AFEA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补货决策研究    2026.10</a:t>
            </a:r>
          </a:p>
        </p:txBody>
      </p:sp>
      <p:sp>
        <p:nvSpPr>
          <p:cNvPr id="5" name="yuan xuecheng / kristina">
            <a:extLst xmlns:a="http://schemas.openxmlformats.org/drawingml/2006/main">
              <a:ext uri="{FF2B5EF4-FFF2-40B4-BE49-F238E27FC236}">
                <a16:creationId xmlns:a16="http://schemas.microsoft.com/office/drawing/2014/main" id="{96C7FB1C-D96B-45C1-B4BA-8D99787D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674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 / kristina</a:t>
            </a:r>
          </a:p>
        </p:txBody>
      </p:sp>
      <p:sp>
        <p:nvSpPr>
          <p:cNvPr id="6" name="23">
            <a:extLst xmlns:a="http://schemas.openxmlformats.org/drawingml/2006/main">
              <a:ext uri="{FF2B5EF4-FFF2-40B4-BE49-F238E27FC236}">
                <a16:creationId xmlns:a16="http://schemas.microsoft.com/office/drawing/2014/main" id="{0E00DFF5-F9A3-472A-9FBA-CB64D8BF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737186"/>
                </a:solidFill>
                <a:latin typeface="Hiragino Sans GB"/>
                <a:ea typeface="Hiragino Sans GB"/>
                <a:cs typeface="Hiragino Sans GB"/>
              </a:rPr>
              <a:t>30</a:t>
            </a:r>
          </a:p>
        </p:txBody>
      </p:sp>
      <p:sp>
        <p:nvSpPr>
          <p:cNvPr id="7" name="yuan xuecheng">
            <a:extLst xmlns:a="http://schemas.openxmlformats.org/drawingml/2006/main">
              <a:ext uri="{FF2B5EF4-FFF2-40B4-BE49-F238E27FC236}">
                <a16:creationId xmlns:a16="http://schemas.microsoft.com/office/drawing/2014/main" id="{E3EDE9BC-5A0A-4E0C-951A-E9CA67E4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75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yuan xuecheng</a:t>
            </a:r>
          </a:p>
        </p:txBody>
      </p:sp>
      <p:sp>
        <p:nvSpPr>
          <p:cNvPr id="8" name="预测与决策学习方向">
            <a:extLst xmlns:a="http://schemas.openxmlformats.org/drawingml/2006/main">
              <a:ext uri="{FF2B5EF4-FFF2-40B4-BE49-F238E27FC236}">
                <a16:creationId xmlns:a16="http://schemas.microsoft.com/office/drawing/2014/main" id="{BD2261C1-6C90-4F41-AACB-E4E8819E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5546D9"/>
                </a:solidFill>
                <a:latin typeface="Hiragino Sans GB"/>
                <a:ea typeface="Hiragino Sans GB"/>
                <a:cs typeface="Hiragino Sans GB"/>
              </a:rPr>
              <a:t>预测与决策学习方向</a:t>
            </a:r>
          </a:p>
        </p:txBody>
      </p:sp>
      <p:sp>
        <p:nvSpPr>
          <p:cNvPr id="9" name="历史Baseline与时间序列参照&#10;机器学习预测">
            <a:extLst xmlns:a="http://schemas.openxmlformats.org/drawingml/2006/main">
              <a:ext uri="{FF2B5EF4-FFF2-40B4-BE49-F238E27FC236}">
                <a16:creationId xmlns:a16="http://schemas.microsoft.com/office/drawing/2014/main" id="{8B2F23B2-5566-4EC0-9763-3E560ED8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4102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历史Baseline与时间序列参照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机器学习预测与特征工程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SPO成本学习、直接决策策略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DFL模型、内层优化与训练分析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在线学习、MPC与模型融合</a:t>
            </a:r>
          </a:p>
        </p:txBody>
      </p:sp>
      <p:sp>
        <p:nvSpPr>
          <p:cNvPr id="10" name="kristina">
            <a:extLst xmlns:a="http://schemas.openxmlformats.org/drawingml/2006/main">
              <a:ext uri="{FF2B5EF4-FFF2-40B4-BE49-F238E27FC236}">
                <a16:creationId xmlns:a16="http://schemas.microsoft.com/office/drawing/2014/main" id="{F2BDA10C-B556-4148-882E-DFBEF9B7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81225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30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75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kristina</a:t>
            </a:r>
          </a:p>
        </p:txBody>
      </p:sp>
      <p:sp>
        <p:nvSpPr>
          <p:cNvPr id="11" name="鲁棒优化方向">
            <a:extLst xmlns:a="http://schemas.openxmlformats.org/drawingml/2006/main">
              <a:ext uri="{FF2B5EF4-FFF2-40B4-BE49-F238E27FC236}">
                <a16:creationId xmlns:a16="http://schemas.microsoft.com/office/drawing/2014/main" id="{B1FD0427-4A50-4480-9982-B9F98719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2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47B70"/>
                </a:solidFill>
                <a:latin typeface="Hiragino Sans GB"/>
                <a:ea typeface="Hiragino Sans GB"/>
                <a:cs typeface="Hiragino Sans GB"/>
              </a:rPr>
              <a:t>鲁棒优化方向</a:t>
            </a:r>
          </a:p>
        </p:txBody>
      </p:sp>
      <p:sp>
        <p:nvSpPr>
          <p:cNvPr id="12" name="分组与不分组鲁棒模型&#10;服务机会约束与风险半径&#10;补">
            <a:extLst xmlns:a="http://schemas.openxmlformats.org/drawingml/2006/main">
              <a:ext uri="{FF2B5EF4-FFF2-40B4-BE49-F238E27FC236}">
                <a16:creationId xmlns:a16="http://schemas.microsoft.com/office/drawing/2014/main" id="{8ABD5330-094E-4018-91DA-14534C83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38550"/>
            <a:ext cx="47244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分组与不分组鲁棒模型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服务机会约束与风险半径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补货策略与参数校准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9283E"/>
                </a:solidFill>
                <a:latin typeface="Hiragino Sans GB"/>
                <a:ea typeface="Hiragino Sans GB"/>
                <a:cs typeface="Hiragino Sans GB"/>
              </a:rPr>
              <a:t>鲁棒优化结果与理论说明</a:t>
            </a:r>
          </a:p>
        </p:txBody>
      </p:sp>
    </p:spTree>
    <p:extLst>
      <p:ext uri="{BB962C8B-B14F-4D97-AF65-F5344CB8AC3E}">
        <p14:creationId xmlns:p14="http://schemas.microsoft.com/office/powerpoint/2010/main" val="108139073"/>
      </p:ext>
    </p:extLst>
  </p:cSld>
</p:sld>
</file>

<file path=ppt/theme/theme1.xml><?xml version="1.0" encoding="utf-8"?>
<a:theme xmlns:a="http://schemas.openxmlformats.org/drawingml/2006/main" name="ChatGPT">
  <a:themeElements>
    <a:clrScheme name="Warm editorial research">
      <a:dk1>
        <a:srgbClr val="29283E"/>
      </a:dk1>
      <a:lt1>
        <a:srgbClr val="FFFDF9"/>
      </a:lt1>
      <a:dk2>
        <a:srgbClr val="27243E"/>
      </a:dk2>
      <a:lt2>
        <a:srgbClr val="DEDAE8"/>
      </a:lt2>
      <a:accent1>
        <a:srgbClr val="5546D9"/>
      </a:accent1>
      <a:accent2>
        <a:srgbClr val="147B70"/>
      </a:accent2>
      <a:accent3>
        <a:srgbClr val="946315"/>
      </a:accent3>
      <a:accent4>
        <a:srgbClr val="9487E8"/>
      </a:accent4>
      <a:accent5>
        <a:srgbClr val="8B859C"/>
      </a:accent5>
      <a:accent6>
        <a:srgbClr val="A9BCB5"/>
      </a:accent6>
      <a:hlink>
        <a:srgbClr val="5546D9"/>
      </a:hlink>
      <a:folHlink>
        <a:srgbClr val="147B70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Warm editorial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2026-10-14T04:30:38.5460000Z</dcterms:created>
  <dcterms:modified xsi:type="dcterms:W3CDTF">2026-10-14T04:30:38.5460000Z</dcterms:modified>
</coreProperties>
</file>