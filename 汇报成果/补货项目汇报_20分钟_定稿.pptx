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5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ccb7351a174bc4" /><Relationship Type="http://schemas.openxmlformats.org/officeDocument/2006/relationships/extended-properties" Target="/docProps/app.xml" Id="R09231b3c502f4953" /><Relationship Type="http://schemas.openxmlformats.org/officeDocument/2006/relationships/officeDocument" Target="/ppt/presentation.xml" Id="R1614e039df6244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f32274df04355"/>
  </p:sldMasterIdLst>
  <p:notesMasterIdLst>
    <p:notesMasterId xmlns:r="http://schemas.openxmlformats.org/officeDocument/2006/relationships" r:id="R62d57b60bfba4618"/>
  </p:notesMasterIdLst>
  <p:sldIdLst>
    <p:sldId xmlns:r="http://schemas.openxmlformats.org/officeDocument/2006/relationships" id="256" r:id="R2ff329ab2c13494d"/>
    <p:sldId xmlns:r="http://schemas.openxmlformats.org/officeDocument/2006/relationships" id="257" r:id="R5e1d1ced43684540"/>
    <p:sldId xmlns:r="http://schemas.openxmlformats.org/officeDocument/2006/relationships" id="258" r:id="R55fc5064d8b34700"/>
    <p:sldId xmlns:r="http://schemas.openxmlformats.org/officeDocument/2006/relationships" id="259" r:id="Rad3199e9db3848dd"/>
    <p:sldId xmlns:r="http://schemas.openxmlformats.org/officeDocument/2006/relationships" id="260" r:id="R9402cdafb80e4dc8"/>
    <p:sldId xmlns:r="http://schemas.openxmlformats.org/officeDocument/2006/relationships" id="261" r:id="R38224c42d53543c0"/>
    <p:sldId xmlns:r="http://schemas.openxmlformats.org/officeDocument/2006/relationships" id="262" r:id="R30e1d0fa7f884eba"/>
    <p:sldId xmlns:r="http://schemas.openxmlformats.org/officeDocument/2006/relationships" id="263" r:id="Ra3b89dd8d84e439e"/>
    <p:sldId xmlns:r="http://schemas.openxmlformats.org/officeDocument/2006/relationships" id="264" r:id="R8c73b0070d394741"/>
    <p:sldId xmlns:r="http://schemas.openxmlformats.org/officeDocument/2006/relationships" id="265" r:id="R307881ecf6204578"/>
    <p:sldId xmlns:r="http://schemas.openxmlformats.org/officeDocument/2006/relationships" id="266" r:id="R7020ac5d69c147e6"/>
    <p:sldId xmlns:r="http://schemas.openxmlformats.org/officeDocument/2006/relationships" id="267" r:id="R58ceb1c7dfcd4670"/>
    <p:sldId xmlns:r="http://schemas.openxmlformats.org/officeDocument/2006/relationships" id="268" r:id="R3479f7c69cf14593"/>
    <p:sldId xmlns:r="http://schemas.openxmlformats.org/officeDocument/2006/relationships" id="269" r:id="Rd495604eb9f14ca1"/>
    <p:sldId xmlns:r="http://schemas.openxmlformats.org/officeDocument/2006/relationships" id="270" r:id="R29f118d833bf4b59"/>
    <p:sldId xmlns:r="http://schemas.openxmlformats.org/officeDocument/2006/relationships" id="271" r:id="R882490e81ad74e63"/>
    <p:sldId xmlns:r="http://schemas.openxmlformats.org/officeDocument/2006/relationships" id="272" r:id="R0a40f8c3723548a6"/>
    <p:sldId xmlns:r="http://schemas.openxmlformats.org/officeDocument/2006/relationships" id="273" r:id="R3e2f8cf325034bf0"/>
    <p:sldId xmlns:r="http://schemas.openxmlformats.org/officeDocument/2006/relationships" id="274" r:id="R6260e013f7094983"/>
    <p:sldId xmlns:r="http://schemas.openxmlformats.org/officeDocument/2006/relationships" id="275" r:id="Rfe49fd5c13a74a35"/>
    <p:sldId xmlns:r="http://schemas.openxmlformats.org/officeDocument/2006/relationships" id="276" r:id="R1fcbb7796be941e8"/>
    <p:sldId xmlns:r="http://schemas.openxmlformats.org/officeDocument/2006/relationships" id="277" r:id="R1a1e2fb6b4914cf0"/>
    <p:sldId xmlns:r="http://schemas.openxmlformats.org/officeDocument/2006/relationships" id="278" r:id="R3a20224bd83a449b"/>
    <p:sldId xmlns:r="http://schemas.openxmlformats.org/officeDocument/2006/relationships" id="279" r:id="R2ee345f196db44ee"/>
    <p:sldId xmlns:r="http://schemas.openxmlformats.org/officeDocument/2006/relationships" id="280" r:id="Raedb42c0cd8e4980"/>
    <p:sldId xmlns:r="http://schemas.openxmlformats.org/officeDocument/2006/relationships" id="281" r:id="R1e01efde93474b4a"/>
    <p:sldId xmlns:r="http://schemas.openxmlformats.org/officeDocument/2006/relationships" id="282" r:id="Rd54d1304128a449f"/>
    <p:sldId xmlns:r="http://schemas.openxmlformats.org/officeDocument/2006/relationships" id="283" r:id="R70512fbb40404b04"/>
    <p:sldId xmlns:r="http://schemas.openxmlformats.org/officeDocument/2006/relationships" id="284" r:id="Rffa23cb54b5a4825"/>
    <p:sldId xmlns:r="http://schemas.openxmlformats.org/officeDocument/2006/relationships" id="285" r:id="Raba5e0f4e4b742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51a2620fab49ff" /><Relationship Type="http://schemas.openxmlformats.org/officeDocument/2006/relationships/slideMaster" Target="/ppt/slideMasters/slideMaster1.xml" Id="Rbbff32274df04355" /><Relationship Type="http://schemas.openxmlformats.org/officeDocument/2006/relationships/notesMaster" Target="/ppt/notesMasters/notesMaster1.xml" Id="R62d57b60bfba4618" /><Relationship Type="http://schemas.openxmlformats.org/officeDocument/2006/relationships/presProps" Target="/ppt/presProps.xml" Id="R655541c6a1cc45e5" /><Relationship Type="http://schemas.openxmlformats.org/officeDocument/2006/relationships/tableStyles" Target="/ppt/tableStyles.xml" Id="Rebdf024a4e3b4e94" /><Relationship Type="http://schemas.openxmlformats.org/officeDocument/2006/relationships/slide" Target="/ppt/slides/slide1.xml" Id="R2ff329ab2c13494d" /><Relationship Type="http://schemas.openxmlformats.org/officeDocument/2006/relationships/slide" Target="/ppt/slides/slide2.xml" Id="R5e1d1ced43684540" /><Relationship Type="http://schemas.openxmlformats.org/officeDocument/2006/relationships/slide" Target="/ppt/slides/slide3.xml" Id="R55fc5064d8b34700" /><Relationship Type="http://schemas.openxmlformats.org/officeDocument/2006/relationships/slide" Target="/ppt/slides/slide4.xml" Id="Rad3199e9db3848dd" /><Relationship Type="http://schemas.openxmlformats.org/officeDocument/2006/relationships/slide" Target="/ppt/slides/slide5.xml" Id="R9402cdafb80e4dc8" /><Relationship Type="http://schemas.openxmlformats.org/officeDocument/2006/relationships/slide" Target="/ppt/slides/slide6.xml" Id="R38224c42d53543c0" /><Relationship Type="http://schemas.openxmlformats.org/officeDocument/2006/relationships/slide" Target="/ppt/slides/slide7.xml" Id="R30e1d0fa7f884eba" /><Relationship Type="http://schemas.openxmlformats.org/officeDocument/2006/relationships/slide" Target="/ppt/slides/slide8.xml" Id="Ra3b89dd8d84e439e" /><Relationship Type="http://schemas.openxmlformats.org/officeDocument/2006/relationships/slide" Target="/ppt/slides/slide9.xml" Id="R8c73b0070d394741" /><Relationship Type="http://schemas.openxmlformats.org/officeDocument/2006/relationships/slide" Target="/ppt/slides/slide10.xml" Id="R307881ecf6204578" /><Relationship Type="http://schemas.openxmlformats.org/officeDocument/2006/relationships/slide" Target="/ppt/slides/slide11.xml" Id="R7020ac5d69c147e6" /><Relationship Type="http://schemas.openxmlformats.org/officeDocument/2006/relationships/slide" Target="/ppt/slides/slide12.xml" Id="R58ceb1c7dfcd4670" /><Relationship Type="http://schemas.openxmlformats.org/officeDocument/2006/relationships/slide" Target="/ppt/slides/slide13.xml" Id="R3479f7c69cf14593" /><Relationship Type="http://schemas.openxmlformats.org/officeDocument/2006/relationships/slide" Target="/ppt/slides/slide14.xml" Id="Rd495604eb9f14ca1" /><Relationship Type="http://schemas.openxmlformats.org/officeDocument/2006/relationships/slide" Target="/ppt/slides/slide15.xml" Id="R29f118d833bf4b59" /><Relationship Type="http://schemas.openxmlformats.org/officeDocument/2006/relationships/slide" Target="/ppt/slides/slide16.xml" Id="R882490e81ad74e63" /><Relationship Type="http://schemas.openxmlformats.org/officeDocument/2006/relationships/slide" Target="/ppt/slides/slide17.xml" Id="R0a40f8c3723548a6" /><Relationship Type="http://schemas.openxmlformats.org/officeDocument/2006/relationships/slide" Target="/ppt/slides/slide18.xml" Id="R3e2f8cf325034bf0" /><Relationship Type="http://schemas.openxmlformats.org/officeDocument/2006/relationships/slide" Target="/ppt/slides/slide19.xml" Id="R6260e013f7094983" /><Relationship Type="http://schemas.openxmlformats.org/officeDocument/2006/relationships/slide" Target="/ppt/slides/slide20.xml" Id="Rfe49fd5c13a74a35" /><Relationship Type="http://schemas.openxmlformats.org/officeDocument/2006/relationships/slide" Target="/ppt/slides/slide21.xml" Id="R1fcbb7796be941e8" /><Relationship Type="http://schemas.openxmlformats.org/officeDocument/2006/relationships/slide" Target="/ppt/slides/slide22.xml" Id="R1a1e2fb6b4914cf0" /><Relationship Type="http://schemas.openxmlformats.org/officeDocument/2006/relationships/slide" Target="/ppt/slides/slide23.xml" Id="R3a20224bd83a449b" /><Relationship Type="http://schemas.openxmlformats.org/officeDocument/2006/relationships/slide" Target="/ppt/slides/slide24.xml" Id="R2ee345f196db44ee" /><Relationship Type="http://schemas.openxmlformats.org/officeDocument/2006/relationships/slide" Target="/ppt/slides/slide25.xml" Id="Raedb42c0cd8e4980" /><Relationship Type="http://schemas.openxmlformats.org/officeDocument/2006/relationships/slide" Target="/ppt/slides/slide26.xml" Id="R1e01efde93474b4a" /><Relationship Type="http://schemas.openxmlformats.org/officeDocument/2006/relationships/slide" Target="/ppt/slides/slide27.xml" Id="Rd54d1304128a449f" /><Relationship Type="http://schemas.openxmlformats.org/officeDocument/2006/relationships/slide" Target="/ppt/slides/slide28.xml" Id="R70512fbb40404b04" /><Relationship Type="http://schemas.openxmlformats.org/officeDocument/2006/relationships/slide" Target="/ppt/slides/slide29.xml" Id="Rffa23cb54b5a4825" /><Relationship Type="http://schemas.openxmlformats.org/officeDocument/2006/relationships/slide" Target="/ppt/slides/slide30.xml" Id="Raba5e0f4e4b742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2a7fb61e3a42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5e73b4715a478f" /><Relationship Type="http://schemas.openxmlformats.org/officeDocument/2006/relationships/notesMaster" Target="/ppt/notesMasters/notesMaster1.xml" Id="Rc4305810d309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114277f48b4ae0" /><Relationship Type="http://schemas.openxmlformats.org/officeDocument/2006/relationships/notesMaster" Target="/ppt/notesMasters/notesMaster1.xml" Id="Rbc57c1ee6e774a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52cbff84234c17" /><Relationship Type="http://schemas.openxmlformats.org/officeDocument/2006/relationships/notesMaster" Target="/ppt/notesMasters/notesMaster1.xml" Id="R2f7fa6ab292a48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43a3559fbf4093" /><Relationship Type="http://schemas.openxmlformats.org/officeDocument/2006/relationships/notesMaster" Target="/ppt/notesMasters/notesMaster1.xml" Id="R060d8ee9e0e3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35ae6be0ec4101" /><Relationship Type="http://schemas.openxmlformats.org/officeDocument/2006/relationships/notesMaster" Target="/ppt/notesMasters/notesMaster1.xml" Id="R45b1a205b23648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0e530b1a44e5a" /><Relationship Type="http://schemas.openxmlformats.org/officeDocument/2006/relationships/notesMaster" Target="/ppt/notesMasters/notesMaster1.xml" Id="Refef69bf22cd45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d314aebd82453d" /><Relationship Type="http://schemas.openxmlformats.org/officeDocument/2006/relationships/notesMaster" Target="/ppt/notesMasters/notesMaster1.xml" Id="R1658d6863fca45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e1062a249340ea" /><Relationship Type="http://schemas.openxmlformats.org/officeDocument/2006/relationships/notesMaster" Target="/ppt/notesMasters/notesMaster1.xml" Id="R76f69273684045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d9b515938d4997" /><Relationship Type="http://schemas.openxmlformats.org/officeDocument/2006/relationships/notesMaster" Target="/ppt/notesMasters/notesMaster1.xml" Id="Rfe14abe291b74e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92c40b88764f25" /><Relationship Type="http://schemas.openxmlformats.org/officeDocument/2006/relationships/notesMaster" Target="/ppt/notesMasters/notesMaster1.xml" Id="Ra0101cdc5ff54b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109c6bae7c4139" /><Relationship Type="http://schemas.openxmlformats.org/officeDocument/2006/relationships/notesMaster" Target="/ppt/notesMasters/notesMaster1.xml" Id="R215194c7392f46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a5b14ae4b84d27" /><Relationship Type="http://schemas.openxmlformats.org/officeDocument/2006/relationships/notesMaster" Target="/ppt/notesMasters/notesMaster1.xml" Id="R9a160edcffd540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01befca7924bc7" /><Relationship Type="http://schemas.openxmlformats.org/officeDocument/2006/relationships/notesMaster" Target="/ppt/notesMasters/notesMaster1.xml" Id="Re55cee76e62547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1b5ea1a54a4807" /><Relationship Type="http://schemas.openxmlformats.org/officeDocument/2006/relationships/notesMaster" Target="/ppt/notesMasters/notesMaster1.xml" Id="Rf0aeb1369c0f44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4bf9b4fb854193" /><Relationship Type="http://schemas.openxmlformats.org/officeDocument/2006/relationships/notesMaster" Target="/ppt/notesMasters/notesMaster1.xml" Id="R9173a5f7a1d448d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32b4d953174003" /><Relationship Type="http://schemas.openxmlformats.org/officeDocument/2006/relationships/notesMaster" Target="/ppt/notesMasters/notesMaster1.xml" Id="Ree8119d7869b4f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96e0d25fd4405b" /><Relationship Type="http://schemas.openxmlformats.org/officeDocument/2006/relationships/notesMaster" Target="/ppt/notesMasters/notesMaster1.xml" Id="Ra46db811612940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fc391f2af34cf3" /><Relationship Type="http://schemas.openxmlformats.org/officeDocument/2006/relationships/notesMaster" Target="/ppt/notesMasters/notesMaster1.xml" Id="R1c9f9e5679dd49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c07a8b95eb4a62" /><Relationship Type="http://schemas.openxmlformats.org/officeDocument/2006/relationships/notesMaster" Target="/ppt/notesMasters/notesMaster1.xml" Id="R2199b5b8628944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c171fb7a0346db" /><Relationship Type="http://schemas.openxmlformats.org/officeDocument/2006/relationships/notesMaster" Target="/ppt/notesMasters/notesMaster1.xml" Id="R0c15b4112b7d4c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b3fcbae0994b90" /><Relationship Type="http://schemas.openxmlformats.org/officeDocument/2006/relationships/notesMaster" Target="/ppt/notesMasters/notesMaster1.xml" Id="R7758ee7f781045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19d89f1bf8f4fa0" /><Relationship Type="http://schemas.openxmlformats.org/officeDocument/2006/relationships/notesMaster" Target="/ppt/notesMasters/notesMaster1.xml" Id="R81455c272c0345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55a6da5d6dc487d" /><Relationship Type="http://schemas.openxmlformats.org/officeDocument/2006/relationships/notesMaster" Target="/ppt/notesMasters/notesMaster1.xml" Id="R78d0fefa101f40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3270f31fe4492c" /><Relationship Type="http://schemas.openxmlformats.org/officeDocument/2006/relationships/notesMaster" Target="/ppt/notesMasters/notesMaster1.xml" Id="Ra04d93519ae747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87ec0e8a8f404b" /><Relationship Type="http://schemas.openxmlformats.org/officeDocument/2006/relationships/notesMaster" Target="/ppt/notesMasters/notesMaster1.xml" Id="Rbe1c6160098a44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dd51a51b0114a01" /><Relationship Type="http://schemas.openxmlformats.org/officeDocument/2006/relationships/notesMaster" Target="/ppt/notesMasters/notesMaster1.xml" Id="R2f141b2c210a43c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d65a64a83f2436f" /><Relationship Type="http://schemas.openxmlformats.org/officeDocument/2006/relationships/notesMaster" Target="/ppt/notesMasters/notesMaster1.xml" Id="R9d965dc73b7b4b2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9ebb7372f7401b" /><Relationship Type="http://schemas.openxmlformats.org/officeDocument/2006/relationships/notesMaster" Target="/ppt/notesMasters/notesMaster1.xml" Id="Rd09dde4fa5d14ba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7e2363ee9dd42ea" /><Relationship Type="http://schemas.openxmlformats.org/officeDocument/2006/relationships/notesMaster" Target="/ppt/notesMasters/notesMaster1.xml" Id="R5f437dc954de416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7e8b372ca54b87" /><Relationship Type="http://schemas.openxmlformats.org/officeDocument/2006/relationships/notesMaster" Target="/ppt/notesMasters/notesMaster1.xml" Id="Rdefea1fc2ca146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20 秒。</a:t>
            </a:r>
          </a:p>
          <a:p xmlns:a="http://schemas.openxmlformats.org/drawingml/2006/main">
            <a:r>
              <a:t>本项目研究在服务要求下如何减少库存。我们把广泛模型实验与一个可解释的滚动DRO方案放在同一报告中，先讲结论，再讲证据和机制。两条研究线共享原始数据，但保留各自评价合同。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https://github.com/Xuecheng-Yuan/replenishment-project2026/blob/6fd4d1c/README.md</a:t>
            </a:r>
          </a:p>
          <a:p xmlns:a="http://schemas.openxmlformats.org/drawingml/2006/main">
            <a:r>
              <a:t>https://github.com/Xuecheng-Yuan/replenishment-project2026/blob/6fd4d1c/yuan/README.md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</a:t>
            </a:r>
          </a:p>
          <a:p xmlns:a="http://schemas.openxmlformats.org/drawingml/2006/main">
            <a:r>
              <a:t>先给出三个结论。第一，总体Fill Rate约束下，爆品/长尾DRO以96.56%的需求满足率取得0.168340库存需求比，比同实验传统策略低2.18%。第二，逐SKU正库存服务是更严格的另一个任务，场景MPC存在全部SKU达标的保存结果，但库存代价明显。第三，最新任务导向DFL微调没有胜过额外NLL对照，因此我们不把方法复杂度视为改进证据。后面的证据分属各自实验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https://github.com/Xuecheng-Yuan/replenishment-project2026/blob/6fd4d1c/yuan/docs/adaptive_mpc.md</a:t>
            </a:r>
          </a:p>
          <a:p xmlns:a="http://schemas.openxmlformats.org/drawingml/2006/main">
            <a:r>
              <a:t>https://github.com/Xuecheng-Yuan/replenishment-project2026/blob/6fd4d1c/yuan/docs/turnover_dfl.md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</a:t>
            </a:r>
          </a:p>
          <a:p xmlns:a="http://schemas.openxmlformats.org/drawingml/2006/main">
            <a:r>
              <a:t>数据包含6000 SKU、60期训练需求、28期测试需求和20个外部特征。滚动DRO的主目标是库存需求比J，分子为所有SKU、所有测试期的期末库存，分母为实际总需求。分母固定，因此等价于减少累计期末库存。约束用总体销量/总需求，而同伴C组另要求每个SKU在至少27个测试期拥有正期末库存。我们将两种业务任务分别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https://github.com/Xuecheng-Yuan/replenishment-project2026/blob/6fd4d1c/yuan/docs/evaluation.md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</a:t>
            </a:r>
          </a:p>
          <a:p xmlns:a="http://schemas.openxmlformats.org/drawingml/2006/main">
            <a:r>
              <a:t>逐列解释不同实验的服务定义、到货时间、初始库存和容量。滚动DRO与A组均约束总体Fill Rate、提前期1、原表初始库存、无共享容量，但预测器、策略和选参不同，所以只在各自对照内比较。B组假设当期x已知且立即到货，不用其结果支持最新时序。C组使用滞后x、提前期1、逐SKUReady Rate和共享订货容量。归一化成百分数也不能消除合同差异。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https://github.com/Xuecheng-Yuan/replenishment-project2026/blob/6fd4d1c/yuan/docs/evaluation.md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</a:t>
            </a:r>
          </a:p>
          <a:p xmlns:a="http://schemas.openxmlformats.org/drawingml/2006/main">
            <a:r>
              <a:t>一期提前期的订单在下一期期初到货。当期期初库存加上上一期订单构成可用量，实际销量等于可用量与需求的较小者，剩余库存和丢失需求分别是正负缺口。观察本期完整需求后才能预测和下单。首期初始在途为零，不能用事后新单修补首期缺货。右侧给出不同服务概念：有销量满足的数量指标、无缺货发生频率、期末严格正库存频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https://github.com/Xuecheng-Yuan/replenishment-project2026/blob/6fd4d1c/yuan/docs/evaluation.md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</a:t>
            </a:r>
          </a:p>
          <a:p xmlns:a="http://schemas.openxmlformats.org/drawingml/2006/main">
            <a:r>
              <a:t>同伴完成28份实现及同名文档，125项记录包含窗口、参数、消融和重复配置，不能数作125个独立模型。我们按功能整理：5个基础时序、9个监督模型、3个DRO、5个SPO及直接动作学习、3个概率或服务策略、3个扩展。代码共用数据和评价层，而各模型保留本身估计器或训练损失。这条线的贡献是建立可比较、可追溯的实验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https://github.com/Xuecheng-Yuan/replenishment-project2026/blob/6fd4d1c/yuan/README.md</a:t>
            </a:r>
          </a:p>
          <a:p xmlns:a="http://schemas.openxmlformats.org/drawingml/2006/main">
            <a:r>
              <a:t>https://github.com/Xuecheng-Yuan/replenishment-project2026/blob/6fd4d1c/yuan/configs/code_manifest.json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</a:t>
            </a:r>
          </a:p>
          <a:p xmlns:a="http://schemas.openxmlformats.org/drawingml/2006/main">
            <a:r>
              <a:t>只展示A组内这些代表模型。LightGBM总体Fill Rate为96.96%，平均期末总库存58.53万件，比历史均值方差基准1194.94万件低95.10%。这是选定模型和安全系数一起作用后的测试表现，并非纯预测器的因果效果。Naive、指数平滑、ARIMA、随机森林虽库存少，但总体Fill不满足95%，不能选作可行赢家。这里不与滚动DRO做跨研究线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https://github.com/Xuecheng-Yuan/replenishment-project2026/blob/6fd4d1c/yuan/results/variants.json</a:t>
            </a:r>
          </a:p>
          <a:p xmlns:a="http://schemas.openxmlformats.org/drawingml/2006/main">
            <a:r>
              <a:t>https://github.com/Xuecheng-Yuan/replenishment-project2026/blob/6fd4d1c/yuan/docs/lightgbm.md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</a:t>
            </a:r>
          </a:p>
          <a:p xmlns:a="http://schemas.openxmlformats.org/drawingml/2006/main">
            <a:r>
              <a:t>成本学习不总能减少库存。XGBoost成本学习库存由83.82降到82.56万件，Fill同时从97.82%降到97.36%。LightGBM成本学习库存由58.53升到94.79万件，Fill从96.96%提高到97.61%。因此任务损失可以改变库存与缺货的权衡，但这份证据不能支持SPO普遍优于普通监督学习。树模型版本使用平滑成本代理及对角曲率近似，不等同标准线性SPO+的所有理论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https://github.com/Xuecheng-Yuan/replenishment-project2026/blob/6fd4d1c/yuan/results/variants.json</a:t>
            </a:r>
          </a:p>
          <a:p xmlns:a="http://schemas.openxmlformats.org/drawingml/2006/main">
            <a:r>
              <a:t>https://github.com/Xuecheng-Yuan/replenishment-project2026/blob/6fd4d1c/yuan/docs/xgboost_spo.md</a:t>
            </a:r>
          </a:p>
          <a:p xmlns:a="http://schemas.openxmlformats.org/drawingml/2006/main">
            <a:r>
              <a:t>https://github.com/Xuecheng-Yuan/replenishment-project2026/blob/6fd4d1c/yuan/docs/lightgbm_spo.md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</a:t>
            </a:r>
          </a:p>
          <a:p xmlns:a="http://schemas.openxmlformats.org/drawingml/2006/main">
            <a:r>
              <a:t>C组每SKU要求28期中至少27期严格正库存。冻结LightGBM预测移除安全库存，平均期末总库存90.62万件，但没有SKU达到Ready95%；固定z4参考达到6000/6000，库存1215.85万件。两者使用相同冻结预测但安全库存不同，因此这组对照清楚展示安全缓冲的代价。这是固定参考，没有在C标准重新联合调优，也不能说z4是最优。总体Fill94.96%与Ready达标数量的差别也很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https://github.com/Xuecheng-Yuan/replenishment-project2026/blob/6fd4d1c/yuan/docs/lightgbm.md</a:t>
            </a:r>
          </a:p>
          <a:p xmlns:a="http://schemas.openxmlformats.org/drawingml/2006/main">
            <a:r>
              <a:t>https://github.com/Xuecheng-Yuan/replenishment-project2026/blob/6fd4d1c/yuan/results/variants.json</a:t>
            </a:r>
          </a:p>
          <a:p xmlns:a="http://schemas.openxmlformats.org/drawingml/2006/main">
            <a:r>
              <a:t>https://github.com/Xuecheng-Yuan/replenishment-project2026/blob/6fd4d1c/yuan/docs/evaluation.md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50 秒。</a:t>
            </a:r>
          </a:p>
          <a:p xmlns:a="http://schemas.openxmlformats.org/drawingml/2006/main">
            <a:r>
              <a:t>同伴C组MPC的第四轮采用预测残差尺度校准风险缓冲，保存结果6000/6000达标，平均总库存629.77万件，原始总量周转14.3649。完整组件早期版本同样全SKU达标，但库存1607.60万件，说明校准尺度比堆叠组件更关键。第四轮去优化或单期的周转与完整版本几乎相同，不能把效果单独归因于多期优化。这些轮次连续观察过相同测试集，所以属于开发结果，需独立窗口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https://github.com/Xuecheng-Yuan/replenishment-project2026/blob/6fd4d1c/yuan/docs/adaptive_mpc.md</a:t>
            </a:r>
          </a:p>
          <a:p xmlns:a="http://schemas.openxmlformats.org/drawingml/2006/main">
            <a:r>
              <a:t>https://github.com/Xuecheng-Yuan/replenishment-project2026/blob/6fd4d1c/yuan/results/variants.json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</a:t>
            </a:r>
          </a:p>
          <a:p xmlns:a="http://schemas.openxmlformats.org/drawingml/2006/main">
            <a:r>
              <a:t>这页保留负结果。同一预训练起点和原内层下，冻结版5864个SKU达标，DFL5868，额外NLL5875。DFL增加平均总库存10.65%，原始周转下降9.78%，不能因为达标数多4个就宣称整体改进。三个版本都没有满足全SKU约束，且DFL使用软服务罚项与一阶近似展开，不具有硬约束保证。额外NLL对照把多训练几步与任务损失的作用分开，是这组实验的重要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https://github.com/Xuecheng-Yuan/replenishment-project2026/blob/6fd4d1c/yuan/docs/turnover_dfl.md</a:t>
            </a:r>
          </a:p>
          <a:p xmlns:a="http://schemas.openxmlformats.org/drawingml/2006/main">
            <a:r>
              <a:t>https://github.com/Xuecheng-Yuan/replenishment-project2026/blob/6fd4d1c/yuan/results/variants.json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</a:t>
            </a:r>
          </a:p>
          <a:p xmlns:a="http://schemas.openxmlformats.org/drawingml/2006/main">
            <a:r>
              <a:t>切换到我们的滚动DRO线。所有五种策略共享同一SKU级点预测和库存模拟，只在风险估计与下单规则上不同。点预测来自训练线性趋势加最近三期已观测残差均值修正。风险层用训练样本外的一步相对需求，分组求最小可行水位z。预测均值乘以z形成目标库存，扣除当前库存后得到订单。预测四期而只执行第一笔，后续状态到来后重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https://github.com/Xuecheng-Yuan/replenishment-project2026/blob/6fd4d1c/experiments/rolling_dro_v3/model_v2.py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</a:t>
            </a:r>
          </a:p>
          <a:p xmlns:a="http://schemas.openxmlformats.org/drawingml/2006/main">
            <a:r>
              <a:t>横轴是每次下单后生成的预测跨度1至4，纵轴WAPE。一步14.12%，四步22.59%。各跨度可评价单元格数量不同，因为测试期尾部的未来真实需求不存在。未来x是否已知没有给定，因此当前滚动线只把x用于训练聚类，预测只依赖历史需求和周期序号。最终预测混合权重1表示选中了SKU自身趋势，聚类并未成为额外的点预测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https://github.com/Xuecheng-Yuan/replenishment-project2026/blob/6fd4d1c/experiments/rolling_dro_v3/outputs_v4/forecast_test_metrics.csv</a:t>
            </a:r>
          </a:p>
          <a:p xmlns:a="http://schemas.openxmlformats.org/drawingml/2006/main">
            <a:r>
              <a:t>https://github.com/Xuecheng-Yuan/replenishment-project2026/blob/6fd4d1c/experiments/rolling_dro_v3/outputs_v4/frozen_parameters.json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</a:t>
            </a:r>
          </a:p>
          <a:p xmlns:a="http://schemas.openxmlformats.org/drawingml/2006/main">
            <a:r>
              <a:t>480个爆品占SKU数量8%，却贡献测试需求7236.82万件，占80.0%。爆品训练平均需求约9683.68，而长尾约207.74，两组规模和相对误差尾部明显不同。归一化相对残差使不同需求量级的SKU可共享倍率，但仍应保留组间风险差异。两组和六簇是不同复杂度方案，结果将检验更细分组是否真的带来库存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https://github.com/Xuecheng-Yuan/replenishment-project2026/blob/6fd4d1c/experiments/rolling_dro_v3/outputs_v4/summary_by_segment.csv</a:t>
            </a:r>
          </a:p>
          <a:p xmlns:a="http://schemas.openxmlformats.org/drawingml/2006/main">
            <a:r>
              <a:t>https://github.com/Xuecheng-Yuan/replenishment-project2026/blob/6fd4d1c/experiments/rolling_dro_v3/outputs_v4/risk_group_profile.csv</a:t>
            </a:r>
          </a:p>
          <a:p xmlns:a="http://schemas.openxmlformats.org/drawingml/2006/main">
            <a:r>
              <a:t>https://github.com/Xuecheng-Yuan/replenishment-project2026/blob/6fd4d1c/docs/rolling_dro_v3/CLUSTERING.md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65 秒。</a:t>
            </a:r>
          </a:p>
          <a:p xmlns:a="http://schemas.openxmlformats.org/drawingml/2006/main">
            <a:r>
              <a:t>令R等于实际需求除以当时一步预测。每个训练相对需求样本r_j可以在半径epsilon范围内移动，区间下端截断为零。损失f(R,z)=(R-z)+减去允许缺货比例(1-beta)R。要求模糊集内最坏期望不超过零，控制比值意义下的期望需求满足率。因为这个函数是凸分段线性的，最坏值必在每个区间的两个端点，所以有限样本约束精确可计算。左端对z单调不增，二分搜索最小可行水位。它是条件分布服务约束，不自动保证任意有限测试路径满足95%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https://github.com/Xuecheng-Yuan/replenishment-project2026/blob/6fd4d1c/experiments/rolling_dro_v3/model_v2.py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60 秒。</a:t>
            </a:r>
          </a:p>
          <a:p xmlns:a="http://schemas.openxmlformats.org/drawingml/2006/main">
            <a:r>
              <a:t>这是本线主要结果。五种方法同一预测、同一测试路径、同一时序，均达到总体Fill95%。爆品/长尾DRO的J为0.168340，六簇0.169025，传统(s,S)0.172097，不分组0.177925，经验模型0.186779。两组比传统低2.18%，累计期末库存少339852件，注意这是跨期加总而非某一时点少了这些库存。各方法Fill略不同，参数在训练期独立选择，所以不能直接证明DRO半径或分组本身导致所有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https://github.com/Xuecheng-Yuan/replenishment-project2026/blob/6fd4d1c/experiments/rolling_dro_v3/outputs_v4/summary.csv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40 秒。</a:t>
            </a:r>
          </a:p>
          <a:p xmlns:a="http://schemas.openxmlformats.org/drawingml/2006/main">
            <a:r>
              <a:t>曲线显示可控制的第2至28期，比较爆品/长尾DRO和传统策略，并标出95%参考线。部分早期单期低于95%，因为模型约束和最终验收针对总体需求数量，不是每周期都95%。首期所有策略Fill仅25.63%，共享缺货763368件，源自零初始在途和给定库存。包含首期，爆品/长尾总体96.56%；只算第2至28期为97.38%。因此完整窗口与可控制窗口必须一起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https://github.com/Xuecheng-Yuan/replenishment-project2026/blob/6fd4d1c/experiments/rolling_dro_v3/outputs_v4/results_by_period.csv</a:t>
            </a:r>
          </a:p>
          <a:p xmlns:a="http://schemas.openxmlformats.org/drawingml/2006/main">
            <a:r>
              <a:t>https://github.com/Xuecheng-Yuan/replenishment-project2026/blob/6fd4d1c/experiments/rolling_dro_v3/outputs_v4/summary.csv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45 秒。</a:t>
            </a:r>
          </a:p>
          <a:p xmlns:a="http://schemas.openxmlformats.org/drawingml/2006/main">
            <a:r>
              <a:t>六簇与两组都选定beta0.9581 epsilon0.10，但数据分组不同，两组J略低。全体共用一组的beta0.9681 epsilon0.05，并非同参数消融。所以结论限定为各策略经过训练选参后的最终比较，不能说多分组一定更好或完全隔离分组的因果作用。两组爆品倍率1.12683，长尾1.16858；六簇倍率约1.1253至1.2007，呈现不同相对需求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https://github.com/Xuecheng-Yuan/replenishment-project2026/blob/6fd4d1c/experiments/rolling_dro_v3/outputs_v4/risk_group_profile.csv</a:t>
            </a:r>
          </a:p>
          <a:p xmlns:a="http://schemas.openxmlformats.org/drawingml/2006/main">
            <a:r>
              <a:t>https://github.com/Xuecheng-Yuan/replenishment-project2026/blob/6fd4d1c/experiments/rolling_dro_v3/outputs_v4/frozen_parameters.json</a:t>
            </a:r>
          </a:p>
          <a:p xmlns:a="http://schemas.openxmlformats.org/drawingml/2006/main">
            <a:r>
              <a:t>https://github.com/Xuecheng-Yuan/replenishment-project2026/blob/6fd4d1c/experiments/rolling_dro_v3/outputs_v4/summary.csv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</a:t>
            </a:r>
          </a:p>
          <a:p xmlns:a="http://schemas.openxmlformats.org/drawingml/2006/main">
            <a:r>
              <a:t>可在代码Demo目录运行现场代码演示.py。完整真实爆品相对残差20160条，beta0.9580576278 epsilon0.1，二分得到1.1268299285，与保存模型一致。再取前200条真实残差，独立端点上图LP结果与二分的绝对差4.63e-11，验证算法实现。这是数值正确性证据，并非测试泛化或业务最优证书。屏幕上的六行是实际robust_fill_level实现核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https://github.com/Xuecheng-Yuan/replenishment-project2026/blob/6fd4d1c/experiments/rolling_dro_v3/model_v2.py</a:t>
            </a:r>
          </a:p>
          <a:p xmlns:a="http://schemas.openxmlformats.org/drawingml/2006/main">
            <a:r>
              <a:t>https://github.com/Xuecheng-Yuan/replenishment-project2026/blob/6fd4d1c/experiments/rolling_dro_v3/outputs_v4/fitted_model.npz</a:t>
            </a:r>
          </a:p>
          <a:p xmlns:a="http://schemas.openxmlformats.org/drawingml/2006/main">
            <a:r>
              <a:t>https://github.com/Xuecheng-Yuan/replenishment-project2026/blob/6fd4d1c/experiments/rolling_dro_v3/tests/test_v2.py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120 秒。</a:t>
            </a:r>
          </a:p>
          <a:p xmlns:a="http://schemas.openxmlformats.org/drawingml/2006/main">
            <a:r>
              <a:t>先点击补货动画Demo.html，以爆品SKU2620展示第1期零在途。播放约两期，讲清收到上期订单、销售形成库存和缺货、再下单三段。暂停后拖至第8期，对照下一期到货的订单与四期计划，说明绿色行只有第一笔执行。切换传统(s,S)看同一SKU同一需求的订单变化，再切换长尾SKU3026。两个商品按品类内ID排序中位位置预先固定，并非根据测试效果挑选。个体轨迹不是全体效果证据。网络不可用时页面仍可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https://github.com/Xuecheng-Yuan/replenishment-project2026/blob/6fd4d1c/experiments/rolling_dro_v3/outputs_v4/detail_DRO_category.csv.gz</a:t>
            </a:r>
          </a:p>
          <a:p xmlns:a="http://schemas.openxmlformats.org/drawingml/2006/main">
            <a:r>
              <a:t>https://github.com/Xuecheng-Yuan/replenishment-project2026/blob/6fd4d1c/experiments/rolling_dro_v3/outputs_v4/detail_sS.csv.gz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55 秒。</a:t>
            </a:r>
          </a:p>
          <a:p xmlns:a="http://schemas.openxmlformats.org/drawingml/2006/main">
            <a:r>
              <a:t>把影响结论的限制放在主讲中。滚动DRO本次参数在训练两个验证折选择后冻结，但前版已使用测试发现预测重启偏差，因此当前结果是修订后的重复测试，不是完全未见测试的确认结果。同伴MPC连续开发轮次也多次观察相同测试。容量不足可能使逐SKU服务不可行，软罚项不能改变可行域。没有容量、预算、固定费用的滚动DRO各期可分解，四期展示本身不构成独立优化增益。下一步新时窗、共同合同固定预测比较、可行性预检和机制消融才回答泛化与归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https://github.com/Xuecheng-Yuan/replenishment-project2026/blob/6fd4d1c/yuan/docs/evaluation.md</a:t>
            </a:r>
          </a:p>
          <a:p xmlns:a="http://schemas.openxmlformats.org/drawingml/2006/main">
            <a:r>
              <a:t>https://github.com/Xuecheng-Yuan/replenishment-project2026/blob/6fd4d1c/yuan/docs/adaptive_mpc.md</a:t>
            </a:r>
          </a:p>
          <a:p xmlns:a="http://schemas.openxmlformats.org/drawingml/2006/main">
            <a:r>
              <a:t>https://github.com/Xuecheng-Yuan/replenishment-project2026/blob/6fd4d1c/yuan/docs/turnover_dfl.md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 25 秒。</a:t>
            </a:r>
          </a:p>
          <a:p xmlns:a="http://schemas.openxmlformats.org/drawingml/2006/main">
            <a:r>
              <a:t>回到开场结论。总体服务任务，滚动DRO取得2.18%的库存需求比改善，简单两组已足够有竞争力。逐SKU服务任务，场景MPC在保存结果中可行，但要承担库存缓冲。任务学习的本轮负结果提醒我们用公平对照选择复杂度。下一步在新时窗统一信息与服务合同，以容量可行性和机制消融验证可推广收益。主报告至此，后续备用页用于回答老师追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https://github.com/Xuecheng-Yuan/replenishment-project2026/blob/6fd4d1c/yuan/README.md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强调三种库存定义。滚动报告描述平均库存350.63件/品种使用期初和期末均值，但主目标J只用期末。爆品/长尾DRO平均期末每SKU90.6485，累计期末15228944。yuan原始周转是总销量除以平均期末总库存。若时序、窗口、销量、库存定义完全相同，有Turnover=T×Fill/J。但不能把不同初始库存容量特征等通过代数变换强行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https://github.com/Xuecheng-Yuan/replenishment-project2026/blob/6fd4d1c/experiments/rolling_dro_v3/outputs_v4/summary.csv</a:t>
            </a:r>
          </a:p>
          <a:p xmlns:a="http://schemas.openxmlformats.org/drawingml/2006/main">
            <a:r>
              <a:t>https://github.com/Xuecheng-Yuan/replenishment-project2026/blob/6fd4d1c/yuan/docs/evaluation.md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W∞约束使每个等权样本独立在一个区间内移动。凸函数对区间最大值在端点，因此逐样本端点最大值的均值恰好给出最坏期望。由于(z-R)+的经验库存目标对z单调不减，只需找到最小可行z。二分左端0、右端max u，每步计算端点损失。小样本可以通过上图变量v_j的线性约束与均值v≤0独立复核。W1/W2不同，不能把这套区间移动结论直接套用。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https://github.com/Xuecheng-Yuan/replenishment-project2026/blob/6fd4d1c/experiments/rolling_dro_v3/model_v2.py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每SKU抽取对数平均需求、变异系数、零需求比例、95%分位与均值的比、后8期与前8期需求均值比。20外部特征在训练期取均值、标准化、PCA取前三主成分，标准化后按0.5块权重进入KMeans。6类并不是风险从低到高编号。扩展窗口样本外的一步实际/预测残差再按组汇总，避免仅用训练拟合残差乐观估计。未来x未知所以不输入测试未来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https://github.com/Xuecheng-Yuan/replenishment-project2026/blob/6fd4d1c/docs/rolling_dro_v3/CLUSTERING.md</a:t>
            </a:r>
          </a:p>
          <a:p xmlns:a="http://schemas.openxmlformats.org/drawingml/2006/main">
            <a:r>
              <a:t>https://github.com/Xuecheng-Yuan/replenishment-project2026/blob/6fd4d1c/experiments/rolling_dro_v3/model_v2.py</a:t>
            </a:r>
          </a:p>
          <a:p xmlns:a="http://schemas.openxmlformats.org/drawingml/2006/main">
            <a:r>
              <a:t>https://github.com/Xuecheng-Yuan/replenishment-project2026/blob/6fd4d1c/experiments/rolling_dro_v3/outputs_v4/risk_group_profile.csv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前向折拟合1至36、验证37至60，重启折拟合29至60、验证1至28。重启折为离线分块验证并不严格因果前向验证，用来对应test从Period1重启。候选必须重启整段Fill95%，前向可控制段达到初始缺货预算修正目标；最小化重启J，并列按前向J。最终60期重拟合。三DRO参数与SAA的beta不同，不能把零半径结果全部归因半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https://github.com/Xuecheng-Yuan/replenishment-project2026/blob/6fd4d1c/experiments/rolling_dro_v3/outputs_v4/frozen_parameters.json</a:t>
            </a:r>
          </a:p>
          <a:p xmlns:a="http://schemas.openxmlformats.org/drawingml/2006/main">
            <a:r>
              <a:t>https://github.com/Xuecheng-Yuan/replenishment-project2026/blob/6fd4d1c/experiments/rolling_dro_v3/outputs_v4/policy_validation.csv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第一期原表初始库存只能满足263027/1026395=25.6263%，缺货763368所有方法相同。长尾可有大量剩余库存而爆品缺货，两种事实并不矛盾。首期包括在主结果中，第2至28期另报以显示可控制区间。最后一次订单5426813在第29期到货，不计入测试期销量或在手库存。J不包含在途，因此若老师追问期末政策，需说明无采购费和容量时最后单不影响J，可以未来增加在途占用与终端惩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https://github.com/Xuecheng-Yuan/replenishment-project2026/blob/6fd4d1c/experiments/rolling_dro_v3/outputs_v4/summary.csv</a:t>
            </a:r>
          </a:p>
          <a:p xmlns:a="http://schemas.openxmlformats.org/drawingml/2006/main">
            <a:r>
              <a:t>https://github.com/Xuecheng-Yuan/replenishment-project2026/blob/6fd4d1c/experiments/rolling_dro_v3/outputs_v4/results_by_period.csv</a:t>
            </a:r>
          </a:p>
          <a:p xmlns:a="http://schemas.openxmlformats.org/drawingml/2006/main">
            <a:r>
              <a:t>https://github.com/Xuecheng-Yuan/replenishment-project2026/blob/6fd4d1c/experiments/rolling_dro_v3/outputs_v4/REPORT.md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C组容量定义是每期可订货总量，不是总库存上限，取训练平均总需求1.05倍，数值6084614.41。初始库存每SKU为训练均值1.25倍。测试期零初始在途，末期不订货。累计需求超过初始库存和此前可到货容量的必要供给界，存在不可避免缺货。但Ready涉及每SKU分配与正库存要求，满足供给必要界不充分；需要逐SKU窗口和约束诊断。不要把训练验证容量不足当成学习损失无效的单独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https://github.com/Xuecheng-Yuan/replenishment-project2026/blob/6fd4d1c/yuan/docs/evaluation.md</a:t>
            </a:r>
          </a:p>
          <a:p xmlns:a="http://schemas.openxmlformats.org/drawingml/2006/main">
            <a:r>
              <a:t>https://github.com/Xuecheng-Yuan/replenishment-project2026/blob/6fd4d1c/yuan/docs/adaptive_mpc.md</a:t>
            </a:r>
          </a:p>
          <a:p xmlns:a="http://schemas.openxmlformats.org/drawingml/2006/main">
            <a:r>
              <a:t>https://github.com/Xuecheng-Yuan/replenishment-project2026/blob/6fd4d1c/yuan/docs/turnover_dfl.md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外层损失是原始总量库存/销量的对数差加逐SKU平滑服务平方罚加0.2NLL，7期真实库存滚动。内层保留8场景、20步库存缺口优化，一阶stop-gradient并不是精确隐式梯度。服务代理用缺口sigmoid，实际Ready以期末库存大于1e-8计数。有限lambda无法给硬服务保证。额外NLL使用相同起点和训练量，分离多训练几步效果。selected、positive_selected、fixed3实际同配置，不能计作独立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https://github.com/Xuecheng-Yuan/replenishment-project2026/blob/6fd4d1c/yuan/docs/turnover_dfl.md</a:t>
            </a:r>
          </a:p>
          <a:p xmlns:a="http://schemas.openxmlformats.org/drawingml/2006/main">
            <a:r>
              <a:t>https://github.com/Xuecheng-Yuan/replenishment-project2026/blob/6fd4d1c/yuan/models/turnover_dfl.py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答辩备用页，不计入20分钟主讲。</a:t>
            </a:r>
          </a:p>
          <a:p xmlns:a="http://schemas.openxmlformats.org/drawingml/2006/main">
            <a:r>
              <a:t>现场建议使用离线Demo和已经准备的小型代码演示，不现场重新训练全部28模型。滚动DRO可从仓库根目录run_v3.py完整复现，依赖及原始Excel须提前就绪。yuan各模型默认入口仅显示历史成绩，--train才训练。所有引用固定为main6fd4d1c。代码Demo检查真实训练残差与独立LP；完整结果看板展示6000SKU聚合，不承担实时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https://github.com/Xuecheng-Yuan/replenishment-project2026/blob/6fd4d1c/README.md</a:t>
            </a:r>
          </a:p>
          <a:p xmlns:a="http://schemas.openxmlformats.org/drawingml/2006/main">
            <a:r>
              <a:t>https://github.com/Xuecheng-Yuan/replenishment-project2026/blob/6fd4d1c/yuan/README.md</a:t>
            </a:r>
          </a:p>
          <a:p xmlns:a="http://schemas.openxmlformats.org/drawingml/2006/main">
            <a:r>
              <a:t>https://github.com/Xuecheng-Yuan/replenishment-project2026/blob/6fd4d1c/experiments/rolling_dro_v3/README.md</a:t>
            </a:r>
          </a:p>
          <a:p xmlns:a="http://schemas.openxmlformats.org/drawingml/2006/main">
            <a:r>
              <a:t>版本：main @ 6fd4d1c，2026-10-12。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6b0f8502342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4ff3ce2e049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a69fc30a141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9aa4149f640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e92569aad4b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de3254cea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4AC6C1-D4D4-4488-95DE-0EFDBCCB3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9AC16B2-EDDF-4E9A-ACFF-7BEC48AA6E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D7581B-0F91-4A91-8CCA-23BF67207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A82F07-4515-49F6-93A5-6297DAF38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34AF5A-CA0F-4CCD-A4AA-6C2927306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622299-61F7-4CF4-99F0-38259ABC0E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A6DFB2-142A-4CA2-9435-45CBC7CAF9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ED1F5D-6804-40EB-9857-863498EBCB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5C20B6-8CC1-40DF-B7B7-D401EE472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E62099-8CA5-4A93-AD5F-1787602F14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d7f85b827247e0" /><Relationship Type="http://schemas.openxmlformats.org/officeDocument/2006/relationships/slideLayout" Target="/ppt/slideLayouts/slideLayout1.xml" Id="Rb31bc316918a4537" /><Relationship Type="http://schemas.openxmlformats.org/officeDocument/2006/relationships/slideLayout" Target="/ppt/slideLayouts/slideLayout2.xml" Id="R9c993e0004094a05" /><Relationship Type="http://schemas.openxmlformats.org/officeDocument/2006/relationships/slideLayout" Target="/ppt/slideLayouts/slideLayout3.xml" Id="R8c140efb89fc48c7" /><Relationship Type="http://schemas.openxmlformats.org/officeDocument/2006/relationships/slideLayout" Target="/ppt/slideLayouts/slideLayout4.xml" Id="Rad07f613e1ff4a64" /><Relationship Type="http://schemas.openxmlformats.org/officeDocument/2006/relationships/slideLayout" Target="/ppt/slideLayouts/slideLayout5.xml" Id="R88db4fa748164fe2" /><Relationship Type="http://schemas.openxmlformats.org/officeDocument/2006/relationships/slideLayout" Target="/ppt/slideLayouts/slideLayout6.xml" Id="Rdcec7b15696847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bc316918a4537"/>
    <p:sldLayoutId xmlns:r="http://schemas.openxmlformats.org/officeDocument/2006/relationships" id="2147483650" r:id="R9c993e0004094a05"/>
    <p:sldLayoutId xmlns:r="http://schemas.openxmlformats.org/officeDocument/2006/relationships" id="2147483651" r:id="R8c140efb89fc48c7"/>
    <p:sldLayoutId xmlns:r="http://schemas.openxmlformats.org/officeDocument/2006/relationships" id="2147483652" r:id="Rad07f613e1ff4a64"/>
    <p:sldLayoutId xmlns:r="http://schemas.openxmlformats.org/officeDocument/2006/relationships" id="2147483653" r:id="R88db4fa748164fe2"/>
    <p:sldLayoutId xmlns:r="http://schemas.openxmlformats.org/officeDocument/2006/relationships" id="2147483654" r:id="Rdcec7b15696847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b099504434941" /><Relationship Type="http://schemas.openxmlformats.org/officeDocument/2006/relationships/notesSlide" Target="/ppt/notesSlides/notesSlide1.xml" Id="R68319c07b5ab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f8aa59a634738" /><Relationship Type="http://schemas.openxmlformats.org/officeDocument/2006/relationships/notesSlide" Target="/ppt/notesSlides/notesSlide2.xml" Id="R43e304263e6e45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606af1c824c7b" /><Relationship Type="http://schemas.openxmlformats.org/officeDocument/2006/relationships/notesSlide" Target="/ppt/notesSlides/notesSlide3.xml" Id="Rd84888994c4d4e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5dedab0983451a" /><Relationship Type="http://schemas.openxmlformats.org/officeDocument/2006/relationships/notesSlide" Target="/ppt/notesSlides/notesSlide4.xml" Id="R962e849f1f9f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27632739346d5" /><Relationship Type="http://schemas.openxmlformats.org/officeDocument/2006/relationships/notesSlide" Target="/ppt/notesSlides/notesSlide5.xml" Id="R9361c1f8d0c14e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8e7d03d974ec4" /><Relationship Type="http://schemas.openxmlformats.org/officeDocument/2006/relationships/notesSlide" Target="/ppt/notesSlides/notesSlide6.xml" Id="R412598bf529344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82bef15024c0c" /><Relationship Type="http://schemas.openxmlformats.org/officeDocument/2006/relationships/chart" Target="/ppt/slides/charts/chart1.xml" Id="R41a162aac4594f41" /><Relationship Type="http://schemas.openxmlformats.org/officeDocument/2006/relationships/notesSlide" Target="/ppt/notesSlides/notesSlide7.xml" Id="Rff82d2250ba94e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a37b2ccc744a5" /><Relationship Type="http://schemas.openxmlformats.org/officeDocument/2006/relationships/notesSlide" Target="/ppt/notesSlides/notesSlide8.xml" Id="R945d27a6e30640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63a55da2f4ebc" /><Relationship Type="http://schemas.openxmlformats.org/officeDocument/2006/relationships/notesSlide" Target="/ppt/notesSlides/notesSlide9.xml" Id="R4e8a416b78e348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3b47a82cf347d2" /><Relationship Type="http://schemas.openxmlformats.org/officeDocument/2006/relationships/notesSlide" Target="/ppt/notesSlides/notesSlide10.xml" Id="R5f6f5e03955045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dbadd1847467f" /><Relationship Type="http://schemas.openxmlformats.org/officeDocument/2006/relationships/chart" Target="/ppt/slides/charts/chart2.xml" Id="R1c234319112042e9" /><Relationship Type="http://schemas.openxmlformats.org/officeDocument/2006/relationships/notesSlide" Target="/ppt/notesSlides/notesSlide11.xml" Id="Rf9fad848f43641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44259915c4815" /><Relationship Type="http://schemas.openxmlformats.org/officeDocument/2006/relationships/notesSlide" Target="/ppt/notesSlides/notesSlide12.xml" Id="Rf157861d5a6d4c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c4374b0d6649a7" /><Relationship Type="http://schemas.openxmlformats.org/officeDocument/2006/relationships/chart" Target="/ppt/slides/charts/chart3.xml" Id="R8cba9bc4a27b4c5c" /><Relationship Type="http://schemas.openxmlformats.org/officeDocument/2006/relationships/notesSlide" Target="/ppt/notesSlides/notesSlide13.xml" Id="Reb7fe5f6cb2f4d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ece70ef58941cb" /><Relationship Type="http://schemas.openxmlformats.org/officeDocument/2006/relationships/chart" Target="/ppt/slides/charts/chart4.xml" Id="Rf6719a4c98054963" /><Relationship Type="http://schemas.openxmlformats.org/officeDocument/2006/relationships/notesSlide" Target="/ppt/notesSlides/notesSlide14.xml" Id="R944e6db0dcbe4b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932d8d5304582" /><Relationship Type="http://schemas.openxmlformats.org/officeDocument/2006/relationships/notesSlide" Target="/ppt/notesSlides/notesSlide15.xml" Id="R1bf1f188993b44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dd5eccd6d448c" /><Relationship Type="http://schemas.openxmlformats.org/officeDocument/2006/relationships/chart" Target="/ppt/slides/charts/chart5.xml" Id="R89e20e63ad674a28" /><Relationship Type="http://schemas.openxmlformats.org/officeDocument/2006/relationships/notesSlide" Target="/ppt/notesSlides/notesSlide16.xml" Id="Rc4c72016e3a74e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b908e99f44048" /><Relationship Type="http://schemas.openxmlformats.org/officeDocument/2006/relationships/chart" Target="/ppt/slides/charts/chart6.xml" Id="R5419cb4416e54382" /><Relationship Type="http://schemas.openxmlformats.org/officeDocument/2006/relationships/notesSlide" Target="/ppt/notesSlides/notesSlide17.xml" Id="R32a3d89ecfb842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537f960064bfa" /><Relationship Type="http://schemas.openxmlformats.org/officeDocument/2006/relationships/notesSlide" Target="/ppt/notesSlides/notesSlide18.xml" Id="R2b44275578ed46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f0ef65f754d32" /><Relationship Type="http://schemas.openxmlformats.org/officeDocument/2006/relationships/notesSlide" Target="/ppt/notesSlides/notesSlide19.xml" Id="R1243e8088df447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4d89e9714410a" /><Relationship Type="http://schemas.openxmlformats.org/officeDocument/2006/relationships/image" Target="/ppt/media/image.png" Id="R4b2c343db8e6457f" /><Relationship Type="http://schemas.openxmlformats.org/officeDocument/2006/relationships/hyperlink" Target="&#34917;&#36135;&#21160;&#30011;Demo.html" TargetMode="External" Id="Raffcde5c2bd94242" /><Relationship Type="http://schemas.openxmlformats.org/officeDocument/2006/relationships/notesSlide" Target="/ppt/notesSlides/notesSlide20.xml" Id="R138031e6e349457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ef4ecc9b64896" /><Relationship Type="http://schemas.openxmlformats.org/officeDocument/2006/relationships/notesSlide" Target="/ppt/notesSlides/notesSlide21.xml" Id="R12a16b59b37c45b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51c65f7cd4664" /><Relationship Type="http://schemas.openxmlformats.org/officeDocument/2006/relationships/notesSlide" Target="/ppt/notesSlides/notesSlide22.xml" Id="Re67c410a04db436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f082496f84200" /><Relationship Type="http://schemas.openxmlformats.org/officeDocument/2006/relationships/notesSlide" Target="/ppt/notesSlides/notesSlide23.xml" Id="R31f7f61be2d84f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8f944885f4734" /><Relationship Type="http://schemas.openxmlformats.org/officeDocument/2006/relationships/notesSlide" Target="/ppt/notesSlides/notesSlide24.xml" Id="Reb679972542146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e6912faa14765" /><Relationship Type="http://schemas.openxmlformats.org/officeDocument/2006/relationships/notesSlide" Target="/ppt/notesSlides/notesSlide25.xml" Id="Rd6034128bec54f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2721063994f10" /><Relationship Type="http://schemas.openxmlformats.org/officeDocument/2006/relationships/notesSlide" Target="/ppt/notesSlides/notesSlide26.xml" Id="Ref902e04339e42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d745d0b6f4ece" /><Relationship Type="http://schemas.openxmlformats.org/officeDocument/2006/relationships/notesSlide" Target="/ppt/notesSlides/notesSlide27.xml" Id="R7b1923a9fb4c46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1c3778e9a42ad" /><Relationship Type="http://schemas.openxmlformats.org/officeDocument/2006/relationships/notesSlide" Target="/ppt/notesSlides/notesSlide28.xml" Id="Rb8329780267e473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365dac6a9f4e21" /><Relationship Type="http://schemas.openxmlformats.org/officeDocument/2006/relationships/notesSlide" Target="/ppt/notesSlides/notesSlide29.xml" Id="R03e5b3c4dd7c469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2e9946e1344e6a" /><Relationship Type="http://schemas.openxmlformats.org/officeDocument/2006/relationships/notesSlide" Target="/ppt/notesSlides/notesSlide30.xml" Id="Rea448a7cf2e04e2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平均总库存（万件）</c:v>
          </c:tx>
          <c:spPr>
            <a:solidFill xmlns:a="http://schemas.openxmlformats.org/drawingml/2006/main">
              <a:srgbClr val="167D8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B999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B999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B999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B999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历史基准</c:v>
                </c:pt>
                <c:pt idx="1">
                  <c:v>MA(12)</c:v>
                </c:pt>
                <c:pt idx="2">
                  <c:v>CatBoost</c:v>
                </c:pt>
                <c:pt idx="3">
                  <c:v>XGBoost</c:v>
                </c:pt>
                <c:pt idx="4">
                  <c:v>LightGBM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1194.9377285714</c:v>
                </c:pt>
                <c:pt idx="1">
                  <c:v>293.76750357143</c:v>
                </c:pt>
                <c:pt idx="2">
                  <c:v>99.571917857143</c:v>
                </c:pt>
                <c:pt idx="3">
                  <c:v>83.821510714286</c:v>
                </c:pt>
                <c:pt idx="4">
                  <c:v>58.528328571429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42C3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F78"/>
                    </a:solidFill>
                    <a:latin typeface="Microsoft YaHei"/>
                    <a:ea typeface="Microsoft YaHei"/>
                    <a:cs typeface="Microsoft YaHei"/>
                  </a:rPr>
                  <a:t>平均总库存（万件）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F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平均总库存（万件）</c:v>
          </c:tx>
          <c:spPr>
            <a:solidFill xmlns:a="http://schemas.openxmlformats.org/drawingml/2006/main">
              <a:srgbClr val="167D8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693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8B999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额外 NLL</c:v>
                </c:pt>
                <c:pt idx="1">
                  <c:v>DFL 微调</c:v>
                </c:pt>
                <c:pt idx="2">
                  <c:v>冻结模型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237.11979435907</c:v>
                </c:pt>
                <c:pt idx="1">
                  <c:v>263.61107322864</c:v>
                </c:pt>
                <c:pt idx="2">
                  <c:v>238.24541785573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42C3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2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F78"/>
                    </a:solidFill>
                    <a:latin typeface="Microsoft YaHei"/>
                    <a:ea typeface="Microsoft YaHei"/>
                    <a:cs typeface="Microsoft YaHei"/>
                  </a:rPr>
                  <a:t>平均总库存（万件）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F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WAPE</c:v>
          </c:tx>
          <c:spPr>
            <a:ln xmlns:a="http://schemas.openxmlformats.org/drawingml/2006/main" w="38100">
              <a:solidFill>
                <a:srgbClr val="167D8D"/>
              </a:solidFill>
            </a:ln>
          </c:spPr>
          <c:marker>
            <c:symbol val="circle"/>
            <c:size val="10"/>
            <c:spPr>
              <a:solidFill xmlns:a="http://schemas.openxmlformats.org/drawingml/2006/main">
                <a:srgbClr val="167D8D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1期</c:v>
                </c:pt>
                <c:pt idx="1">
                  <c:v>2期</c:v>
                </c:pt>
                <c:pt idx="2">
                  <c:v>3期</c:v>
                </c:pt>
                <c:pt idx="3">
                  <c:v>4期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0.14116755771468</c:v>
                </c:pt>
                <c:pt idx="1">
                  <c:v>0.17566737697766</c:v>
                </c:pt>
                <c:pt idx="2">
                  <c:v>0.20304369496032</c:v>
                </c:pt>
                <c:pt idx="3">
                  <c:v>0.2259394405871</c:v>
                </c:pt>
              </c:numCache>
            </c:numRef>
          </c:val>
          <c:smooth val="0"/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42C3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D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爆品</c:v>
          </c:tx>
          <c:spPr>
            <a:solidFill xmlns:a="http://schemas.openxmlformats.org/drawingml/2006/main">
              <a:srgbClr val="167D8D"/>
            </a:solidFill>
          </c:spPr>
          <c:invertIfNegative val="0"/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 b="1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ctr"/>
              <c:showVal val="1"/>
            </c:dLbl>
          </c:dLbls>
          <c:cat>
            <c:strRef>
              <c:f>'Chart Data'!$A$2:$A$3</c:f>
              <c:strCache>
                <c:ptCount val="2"/>
                <c:pt idx="0">
                  <c:v>SKU 数量占比</c:v>
                </c:pt>
                <c:pt idx="1">
                  <c:v>实际需求占比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0.08</c:v>
                </c:pt>
                <c:pt idx="1">
                  <c:v>0.79995362206673</c:v>
                </c:pt>
              </c:numCache>
            </c:numRef>
          </c:val>
        </c:ser>
        <c:ser>
          <c:idx val="1"/>
          <c:order val="1"/>
          <c:tx>
            <c:v>长尾品</c:v>
          </c:tx>
          <c:spPr>
            <a:solidFill xmlns:a="http://schemas.openxmlformats.org/drawingml/2006/main">
              <a:srgbClr val="B7CCC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SKU 数量占比</c:v>
                </c:pt>
                <c:pt idx="1">
                  <c:v>实际需求占比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0.92</c:v>
                </c:pt>
                <c:pt idx="1">
                  <c:v>0.20004637793327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42C3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D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C3C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库存需求比 J（越低越好）</c:v>
          </c:tx>
          <c:spPr>
            <a:solidFill xmlns:a="http://schemas.openxmlformats.org/drawingml/2006/main">
              <a:srgbClr val="167D8D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B999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B999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4693D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437EB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67D8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零半径经验</c:v>
                </c:pt>
                <c:pt idx="1">
                  <c:v>不分组DRO</c:v>
                </c:pt>
                <c:pt idx="2">
                  <c:v>传统(s,S)</c:v>
                </c:pt>
                <c:pt idx="3">
                  <c:v>特征聚类DRO</c:v>
                </c:pt>
                <c:pt idx="4">
                  <c:v>爆品/长尾DRO</c:v>
                </c:pt>
              </c:strCache>
            </c:strRef>
          </c:cat>
          <c:val>
            <c:numRef>
              <c:f>'Chart Data'!$B$2:$B$6</c:f>
              <c:numCache>
                <c:formatCode>0.000000</c:formatCode>
                <c:ptCount val="5"/>
                <c:pt idx="0">
                  <c:v>0.18677900157604</c:v>
                </c:pt>
                <c:pt idx="1">
                  <c:v>0.17792499029215</c:v>
                </c:pt>
                <c:pt idx="2">
                  <c:v>0.17209662072378</c:v>
                </c:pt>
                <c:pt idx="3">
                  <c:v>0.16902487300205</c:v>
                </c:pt>
                <c:pt idx="4">
                  <c:v>0.16833991527615</c:v>
                </c:pt>
              </c:numCache>
            </c:numRef>
          </c:val>
        </c:ser>
        <c:dLbls>
          <c:numFmt formatCode="0.0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142C3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3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F78"/>
                    </a:solidFill>
                    <a:latin typeface="Microsoft YaHei"/>
                    <a:ea typeface="Microsoft YaHei"/>
                    <a:cs typeface="Microsoft YaHei"/>
                  </a:rPr>
                  <a:t>库存需求比 J（越低越好）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F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爆品/长尾DRO</c:v>
          </c:tx>
          <c:spPr>
            <a:ln xmlns:a="http://schemas.openxmlformats.org/drawingml/2006/main" w="28575">
              <a:solidFill>
                <a:srgbClr val="167D8D"/>
              </a:solidFill>
            </a:ln>
          </c:spPr>
          <c:marker>
            <c:symbol val="none"/>
          </c:marker>
          <c:cat>
            <c:numRef>
              <c:f>'Chart Data'!$A$2:$A$28</c:f>
              <c:numCache>
                <c:formatCode>General</c:formatCode>
                <c:ptCount val="2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</c:numCache>
            </c:numRef>
          </c:cat>
          <c:val>
            <c:numRef>
              <c:f>'Chart Data'!$B$2:$B$28</c:f>
              <c:numCache>
                <c:formatCode>0.0%</c:formatCode>
                <c:ptCount val="27"/>
                <c:pt idx="0">
                  <c:v>0.9555791499995</c:v>
                </c:pt>
                <c:pt idx="1">
                  <c:v>0.94236108773322</c:v>
                </c:pt>
                <c:pt idx="2">
                  <c:v>0.93542797827642</c:v>
                </c:pt>
                <c:pt idx="3">
                  <c:v>0.94941117541495</c:v>
                </c:pt>
                <c:pt idx="4">
                  <c:v>0.94643198878721</c:v>
                </c:pt>
                <c:pt idx="5">
                  <c:v>0.94938825112431</c:v>
                </c:pt>
                <c:pt idx="6">
                  <c:v>0.95389754990868</c:v>
                </c:pt>
                <c:pt idx="7">
                  <c:v>0.95460696529028</c:v>
                </c:pt>
                <c:pt idx="8">
                  <c:v>0.96096109957979</c:v>
                </c:pt>
                <c:pt idx="9">
                  <c:v>0.96247007966193</c:v>
                </c:pt>
                <c:pt idx="10">
                  <c:v>0.97228152556337</c:v>
                </c:pt>
                <c:pt idx="11">
                  <c:v>0.97312229687791</c:v>
                </c:pt>
                <c:pt idx="12">
                  <c:v>0.9725054824993</c:v>
                </c:pt>
                <c:pt idx="13">
                  <c:v>0.97240758605064</c:v>
                </c:pt>
                <c:pt idx="14">
                  <c:v>0.97525220325091</c:v>
                </c:pt>
                <c:pt idx="15">
                  <c:v>0.97360451644554</c:v>
                </c:pt>
                <c:pt idx="16">
                  <c:v>0.97668491245143</c:v>
                </c:pt>
                <c:pt idx="17">
                  <c:v>0.97912475769222</c:v>
                </c:pt>
                <c:pt idx="18">
                  <c:v>0.97984899378009</c:v>
                </c:pt>
                <c:pt idx="19">
                  <c:v>0.98233231017349</c:v>
                </c:pt>
                <c:pt idx="20">
                  <c:v>0.98106038531128</c:v>
                </c:pt>
                <c:pt idx="21">
                  <c:v>0.98130086059516</c:v>
                </c:pt>
                <c:pt idx="22">
                  <c:v>0.98078701999626</c:v>
                </c:pt>
                <c:pt idx="23">
                  <c:v>0.9843347774092</c:v>
                </c:pt>
                <c:pt idx="24">
                  <c:v>0.98430023617408</c:v>
                </c:pt>
                <c:pt idx="25">
                  <c:v>0.98693077240623</c:v>
                </c:pt>
                <c:pt idx="26">
                  <c:v>0.9847284234927</c:v>
                </c:pt>
              </c:numCache>
            </c:numRef>
          </c:val>
          <c:smooth val="0"/>
        </c:ser>
        <c:ser>
          <c:idx val="1"/>
          <c:order val="1"/>
          <c:tx>
            <c:v>传统(s,S)</c:v>
          </c:tx>
          <c:spPr>
            <a:ln xmlns:a="http://schemas.openxmlformats.org/drawingml/2006/main" w="19050">
              <a:solidFill>
                <a:srgbClr val="C4693D"/>
              </a:solidFill>
            </a:ln>
          </c:spPr>
          <c:marker>
            <c:symbol val="none"/>
          </c:marker>
          <c:cat>
            <c:numRef>
              <c:f>'Chart Data'!$C$2:$C$28</c:f>
              <c:numCache>
                <c:formatCode>General</c:formatCode>
                <c:ptCount val="2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</c:numCache>
            </c:numRef>
          </c:cat>
          <c:val>
            <c:numRef>
              <c:f>'Chart Data'!$D$2:$D$28</c:f>
              <c:numCache>
                <c:formatCode>0.0%</c:formatCode>
                <c:ptCount val="27"/>
                <c:pt idx="0">
                  <c:v>0.9564632466029</c:v>
                </c:pt>
                <c:pt idx="1">
                  <c:v>0.94328831604507</c:v>
                </c:pt>
                <c:pt idx="2">
                  <c:v>0.93655266129774</c:v>
                </c:pt>
                <c:pt idx="3">
                  <c:v>0.95031627399682</c:v>
                </c:pt>
                <c:pt idx="4">
                  <c:v>0.9472605490492</c:v>
                </c:pt>
                <c:pt idx="5">
                  <c:v>0.94984582259949</c:v>
                </c:pt>
                <c:pt idx="6">
                  <c:v>0.95439169973891</c:v>
                </c:pt>
                <c:pt idx="7">
                  <c:v>0.95461655384138</c:v>
                </c:pt>
                <c:pt idx="8">
                  <c:v>0.96205094663348</c:v>
                </c:pt>
                <c:pt idx="9">
                  <c:v>0.96252204343513</c:v>
                </c:pt>
                <c:pt idx="10">
                  <c:v>0.9724673220807</c:v>
                </c:pt>
                <c:pt idx="11">
                  <c:v>0.97318853972285</c:v>
                </c:pt>
                <c:pt idx="12">
                  <c:v>0.9721966048649</c:v>
                </c:pt>
                <c:pt idx="13">
                  <c:v>0.97218370279558</c:v>
                </c:pt>
                <c:pt idx="14">
                  <c:v>0.97496585707668</c:v>
                </c:pt>
                <c:pt idx="15">
                  <c:v>0.97327599989487</c:v>
                </c:pt>
                <c:pt idx="16">
                  <c:v>0.97705351592925</c:v>
                </c:pt>
                <c:pt idx="17">
                  <c:v>0.97892972563556</c:v>
                </c:pt>
                <c:pt idx="18">
                  <c:v>0.97974597951432</c:v>
                </c:pt>
                <c:pt idx="19">
                  <c:v>0.98346115181861</c:v>
                </c:pt>
                <c:pt idx="20">
                  <c:v>0.98167862717328</c:v>
                </c:pt>
                <c:pt idx="21">
                  <c:v>0.98138528600085</c:v>
                </c:pt>
                <c:pt idx="22">
                  <c:v>0.98137868370075</c:v>
                </c:pt>
                <c:pt idx="23">
                  <c:v>0.98361667687676</c:v>
                </c:pt>
                <c:pt idx="24">
                  <c:v>0.9837786064239</c:v>
                </c:pt>
                <c:pt idx="25">
                  <c:v>0.98651101473089</c:v>
                </c:pt>
                <c:pt idx="26">
                  <c:v>0.98439815340662</c:v>
                </c:pt>
              </c:numCache>
            </c:numRef>
          </c:val>
          <c:smooth val="0"/>
        </c:ser>
        <c:ser>
          <c:idx val="2"/>
          <c:order val="2"/>
          <c:tx>
            <c:v>95%参考线</c:v>
          </c:tx>
          <c:spPr>
            <a:ln xmlns:a="http://schemas.openxmlformats.org/drawingml/2006/main" w="9525">
              <a:solidFill>
                <a:srgbClr val="8B999D"/>
              </a:solidFill>
              <a:prstDash val="dash"/>
            </a:ln>
          </c:spPr>
          <c:marker>
            <c:symbol val="none"/>
          </c:marker>
          <c:cat>
            <c:numRef>
              <c:f>'Chart Data'!$E$2:$E$28</c:f>
              <c:numCache>
                <c:formatCode>General</c:formatCode>
                <c:ptCount val="2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22</c:v>
                </c:pt>
                <c:pt idx="21">
                  <c:v>23</c:v>
                </c:pt>
                <c:pt idx="22">
                  <c:v>24</c:v>
                </c:pt>
                <c:pt idx="23">
                  <c:v>25</c:v>
                </c:pt>
                <c:pt idx="24">
                  <c:v>26</c:v>
                </c:pt>
                <c:pt idx="25">
                  <c:v>27</c:v>
                </c:pt>
                <c:pt idx="26">
                  <c:v>28</c:v>
                </c:pt>
              </c:numCache>
            </c:numRef>
          </c:cat>
          <c:val>
            <c:numRef>
              <c:f>'Chart Data'!$F$2:$F$28</c:f>
              <c:numCache>
                <c:formatCode>0.0%</c:formatCode>
                <c:ptCount val="27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0.95</c:v>
                </c:pt>
                <c:pt idx="4">
                  <c:v>0.95</c:v>
                </c:pt>
                <c:pt idx="5">
                  <c:v>0.95</c:v>
                </c:pt>
                <c:pt idx="6">
                  <c:v>0.95</c:v>
                </c:pt>
                <c:pt idx="7">
                  <c:v>0.95</c:v>
                </c:pt>
                <c:pt idx="8">
                  <c:v>0.95</c:v>
                </c:pt>
                <c:pt idx="9">
                  <c:v>0.95</c:v>
                </c:pt>
                <c:pt idx="10">
                  <c:v>0.95</c:v>
                </c:pt>
                <c:pt idx="11">
                  <c:v>0.95</c:v>
                </c:pt>
                <c:pt idx="12">
                  <c:v>0.95</c:v>
                </c:pt>
                <c:pt idx="13">
                  <c:v>0.95</c:v>
                </c:pt>
                <c:pt idx="14">
                  <c:v>0.95</c:v>
                </c:pt>
                <c:pt idx="15">
                  <c:v>0.95</c:v>
                </c:pt>
                <c:pt idx="16">
                  <c:v>0.95</c:v>
                </c:pt>
                <c:pt idx="17">
                  <c:v>0.95</c:v>
                </c:pt>
                <c:pt idx="18">
                  <c:v>0.95</c:v>
                </c:pt>
                <c:pt idx="19">
                  <c:v>0.95</c:v>
                </c:pt>
                <c:pt idx="20">
                  <c:v>0.95</c:v>
                </c:pt>
                <c:pt idx="21">
                  <c:v>0.95</c:v>
                </c:pt>
                <c:pt idx="22">
                  <c:v>0.95</c:v>
                </c:pt>
                <c:pt idx="23">
                  <c:v>0.95</c:v>
                </c:pt>
                <c:pt idx="24">
                  <c:v>0.95</c:v>
                </c:pt>
                <c:pt idx="25">
                  <c:v>0.95</c:v>
                </c:pt>
                <c:pt idx="26">
                  <c:v>0.95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5D6F78"/>
                    </a:solidFill>
                    <a:latin typeface="Microsoft YaHei"/>
                    <a:ea typeface="Microsoft YaHei"/>
                    <a:cs typeface="Microsoft YaHei"/>
                  </a:rPr>
                  <a:t>测试周期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D6F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EDA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2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42C3C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42C3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slide-title">
            <a:extLst>
              <a:ext uri="{FF2B5EF4-FFF2-40B4-BE49-F238E27FC236}">
                <ns2:creationId id="{13456275-376B-41FF-8EA3-CF813FECBA0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多品种补货决策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065254A8-C096-416C-A9D1-9382E9852E03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ns2:creationId id="{D23DBA3F-F1E7-4A4B-9EBA-2217684E6143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0">
                <a:solidFill>
                  <a:srgbClr val="C4DBD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C4DB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C4DBDF"/>
                </a:solidFill>
                <a:latin typeface="Microsoft YaHei"/>
                <a:ea typeface="Microsoft YaHei"/>
                <a:cs typeface="Microsoft YaHei"/>
              </a:rPr>
              <a:t>模型比较与滚动分布鲁棒优化</a:t>
            </a:r>
          </a:p>
        </p:txBody>
      </p:sp>
      <p:sp>
        <p:nvSpPr>
          <p:cNvPr id="4" name="text">
            <a:extLst>
              <a:ext uri="{FF2B5EF4-FFF2-40B4-BE49-F238E27FC236}">
                <ns2:creationId id="{BAD526E1-C8CD-40C8-B885-3BD7DCD4BE8C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5524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64C4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8100" b="1">
                <a:solidFill>
                  <a:srgbClr val="64C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0" b="1">
                <a:solidFill>
                  <a:srgbClr val="64C4C0"/>
                </a:solidFill>
                <a:latin typeface="Microsoft YaHei"/>
                <a:ea typeface="Microsoft YaHei"/>
                <a:cs typeface="Microsoft YaHei"/>
              </a:rPr>
              <a:t>6,000</a:t>
            </a:r>
          </a:p>
        </p:txBody>
      </p:sp>
      <p:sp>
        <p:nvSpPr>
          <p:cNvPr id="5" name="text">
            <a:extLst>
              <a:ext uri="{FF2B5EF4-FFF2-40B4-BE49-F238E27FC236}">
                <ns2:creationId id="{0E49A026-D6B4-48AD-A22B-934C2AD98403}"/>
              </a:ext>
            </a:extLst>
          </p:cNvPr>
          <p:cNvSpPr>
            <a:spLocks noGrp="1"/>
          </p:cNvSpPr>
          <p:nvPr/>
        </p:nvSpPr>
        <p:spPr>
          <a:xfrm>
            <a:off x="647700" y="4286250"/>
            <a:ext cx="9239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SKU，60期训练，28期测试</a:t>
            </a:r>
          </a:p>
        </p:txBody>
      </p:sp>
      <p:sp>
        <p:nvSpPr>
          <p:cNvPr id="6" name="text">
            <a:extLst>
              <a:ext uri="{FF2B5EF4-FFF2-40B4-BE49-F238E27FC236}">
                <ns2:creationId id="{C586CBF8-818C-4D52-A26A-E4A7961EE6C9}"/>
              </a:ext>
            </a:extLst>
          </p:cNvPr>
          <p:cNvSpPr>
            <a:spLocks noGrp="1"/>
          </p:cNvSpPr>
          <p:nvPr/>
        </p:nvSpPr>
        <p:spPr>
          <a:xfrm>
            <a:off x="647700" y="5591175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65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rPr>
              <a:t>项目组汇报　2026.10</a:t>
            </a:r>
          </a:p>
        </p:txBody>
      </p:sp>
    </p:spTree>
    <p:extLst>
      <p:ext uri="{BB962C8B-B14F-4D97-AF65-F5344CB8AC3E}">
        <ns3:creationId val="928611993"/>
      </p:ext>
    </p:extLst>
  </p:cSld>
  <p:transition spd="fast" advClick="1"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slide-title">
            <a:extLst>
              <a:ext uri="{FF2B5EF4-FFF2-40B4-BE49-F238E27FC236}">
                <ns2:creationId id="{418DA06C-BB3B-4BD0-BA11-4388FA6602C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库存改善取决于服务目标与决策层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2BF00701-41BF-4430-BA0A-01E08772BC50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">
            <a:extLst>
              <a:ext uri="{FF2B5EF4-FFF2-40B4-BE49-F238E27FC236}">
                <ns2:creationId id="{A391CE6D-78FE-48C3-BA00-71D36935127A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01  总体服务下可减少库存</a:t>
            </a:r>
          </a:p>
        </p:txBody>
      </p:sp>
      <p:sp>
        <p:nvSpPr>
          <p:cNvPr id="4" name="text">
            <a:extLst>
              <a:ext uri="{FF2B5EF4-FFF2-40B4-BE49-F238E27FC236}">
                <ns2:creationId id="{31851599-77CF-481D-A832-5DAF930E5172}"/>
              </a:ext>
            </a:extLst>
          </p:cNvPr>
          <p:cNvSpPr>
            <a:spLocks noGrp="1"/>
          </p:cNvSpPr>
          <p:nvPr/>
        </p:nvSpPr>
        <p:spPr>
          <a:xfrm>
            <a:off x="609600" y="2409825"/>
            <a:ext cx="10953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爆品/长尾 DRO：满足率 96.56%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库存需求比比传统策略低 2.18%</a:t>
            </a:r>
          </a:p>
        </p:txBody>
      </p:sp>
      <p:sp>
        <p:nvSpPr>
          <p:cNvPr id="5" name="text">
            <a:extLst>
              <a:ext uri="{FF2B5EF4-FFF2-40B4-BE49-F238E27FC236}">
                <ns2:creationId id="{8756CC37-4877-41C6-96AE-88B1B03BCE81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02  逐 SKU 服务需要独立校验</a:t>
            </a:r>
          </a:p>
        </p:txBody>
      </p:sp>
      <p:sp>
        <p:nvSpPr>
          <p:cNvPr id="6" name="text">
            <a:extLst>
              <a:ext uri="{FF2B5EF4-FFF2-40B4-BE49-F238E27FC236}">
                <ns2:creationId id="{CB71376B-39A4-45EA-A95E-FBF84C917DAA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0953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C 组 MPC 保存结果：6,000/6,000 达标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仅凭总体满足率无法判断这一约束</a:t>
            </a:r>
          </a:p>
        </p:txBody>
      </p:sp>
      <p:sp>
        <p:nvSpPr>
          <p:cNvPr id="7" name="text">
            <a:extLst>
              <a:ext uri="{FF2B5EF4-FFF2-40B4-BE49-F238E27FC236}">
                <ns2:creationId id="{019CF6D8-063C-4133-A1C6-12DD2545686D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03  任务学习需要消融证据</a:t>
            </a:r>
          </a:p>
        </p:txBody>
      </p:sp>
      <p:sp>
        <p:nvSpPr>
          <p:cNvPr id="8" name="text">
            <a:extLst>
              <a:ext uri="{FF2B5EF4-FFF2-40B4-BE49-F238E27FC236}">
                <ns2:creationId id="{5EA8A2FA-0701-4961-AB39-9B4B3F166225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53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最新 DFL 微调增加库存、降低周转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额外 NLL 训练对照表现更好</a:t>
            </a:r>
          </a:p>
        </p:txBody>
      </p:sp>
    </p:spTree>
    <p:extLst>
      <p:ext uri="{BB962C8B-B14F-4D97-AF65-F5344CB8AC3E}">
        <ns3:creationId val="1907111815"/>
      </p:ext>
    </p:extLst>
  </p:cSld>
  <p:transition spd="fast" advClick="1">
    <p:fade/>
  </p:transition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slide-title">
            <a:extLst>
              <a:ext uri="{FF2B5EF4-FFF2-40B4-BE49-F238E27FC236}">
                <ns2:creationId id="{E9E85E15-787E-4127-A5A3-02FC1A7E603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任务：在服务要求下减少期末库存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B4A52DFF-C62C-4D65-B023-8FDE4C0FDFFB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CA35069C-7085-4468-8DA4-B4F0D8817819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主实验 J 的分母包括未满足需求，指标越低越好</a:t>
            </a:r>
          </a:p>
        </p:txBody>
      </p:sp>
      <p:sp>
        <p:nvSpPr>
          <p:cNvPr id="4" name="text">
            <a:extLst>
              <a:ext uri="{FF2B5EF4-FFF2-40B4-BE49-F238E27FC236}">
                <ns2:creationId id="{E71FF988-FB35-474E-A738-228CC10C918F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10953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min J = Σ期末库存 / Σ实际需求</a:t>
            </a:r>
          </a:p>
        </p:txBody>
      </p:sp>
      <p:sp>
        <p:nvSpPr>
          <p:cNvPr id="5" name="text">
            <a:extLst>
              <a:ext uri="{FF2B5EF4-FFF2-40B4-BE49-F238E27FC236}">
                <ns2:creationId id="{4292C17F-FC64-4E64-9A92-9AC4EC7A8C76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约束：总体 Fill Rate = Σ销量 / Σ需求 ≥ 95%</a:t>
            </a:r>
          </a:p>
        </p:txBody>
      </p:sp>
      <p:graphicFrame>
        <p:nvGraphicFramePr>
          <p:cNvPr id="6" name="">
            <a:extLst>
              <a:ext uri="{FF2B5EF4-FFF2-40B4-BE49-F238E27FC236}">
                <ns2:creationId id="{D5A0A76B-372C-4D41-82CC-DCCC067AC9D4}"/>
              </a:ext>
            </a:extLst>
          </p:cNvPr>
          <p:cNvGraphicFramePr/>
          <p:nvPr/>
        </p:nvGraphicFramePr>
        <p:xfrm>
          <a:off x="609600" y="4229100"/>
          <a:ext cx="10972800" cy="1123950"/>
        </p:xfrm>
        <a:graphic>
          <a:graphicData uri="http://schemas.openxmlformats.org/drawingml/2006/table">
            <a:tbl>
              <a:tblPr/>
              <a:tblGrid>
                <a:gridCol w="3238500"/>
                <a:gridCol w="2381250"/>
                <a:gridCol w="2381250"/>
                <a:gridCol w="2971800"/>
              </a:tblGrid>
              <a:tr h="5619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数据规模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 SKU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期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期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x₁–x₂₀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7" name="text">
            <a:extLst>
              <a:ext uri="{FF2B5EF4-FFF2-40B4-BE49-F238E27FC236}">
                <ns2:creationId id="{4CB82979-784D-4D99-9F6B-99F002575F78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同伴的 C 组研究进一步要求：每个 SKU 的 Ready Rate ≥ 95%</a:t>
            </a:r>
          </a:p>
        </p:txBody>
      </p:sp>
    </p:spTree>
    <p:extLst>
      <p:ext uri="{BB962C8B-B14F-4D97-AF65-F5344CB8AC3E}">
        <ns3:creationId val="1743530817"/>
      </p:ext>
    </p:extLst>
  </p:cSld>
  <p:transition spd="fast" advClick="1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slide-title">
            <a:extLst>
              <a:ext uri="{FF2B5EF4-FFF2-40B4-BE49-F238E27FC236}">
                <ns2:creationId id="{2D71D590-EC78-412E-8C48-30A76C2796A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评价合同决定哪些结果可以比较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CF9256EF-4CA7-404D-A876-E3ED9265B666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45603D23-9373-403B-989C-ABBFEB488CC2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同口径内比较；预测器与选参不同的研究线分别报告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56482205-6C53-4ACB-91BB-B1716E2A8FDF}"/>
              </a:ext>
            </a:extLst>
          </p:cNvPr>
          <p:cNvGraphicFramePr/>
          <p:nvPr/>
        </p:nvGraphicFramePr>
        <p:xfrm>
          <a:off x="609600" y="1809750"/>
          <a:ext cx="10972800" cy="3619500"/>
        </p:xfrm>
        <a:graphic>
          <a:graphicData uri="http://schemas.openxmlformats.org/drawingml/2006/table">
            <a:tbl>
              <a:tblPr/>
              <a:tblGrid>
                <a:gridCol w="1809750"/>
                <a:gridCol w="2571750"/>
                <a:gridCol w="2952750"/>
                <a:gridCol w="3638550"/>
              </a:tblGrid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合同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服务要求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到货与 x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初始库存 / 容量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滚动 DRO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 Fill ≥95%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提前期1；历史需求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原表初始值；无共享容量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yuan A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 Fill ≥95%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提前期1；滞后 x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原表初始值；无共享容量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yuan B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SKU Ready ≥95%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立即到货；当期 x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1.25倍训练均值；有限容量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yuan C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SKU Ready ≥95%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提前期1；滞后 x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1.25倍训练均值；有限容量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ns2:creationId id="{6856486D-073F-4A85-B29D-6E40B46A4F97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Fill 看需求数量；Ready 看每个商品是否持续有正库存</a:t>
            </a:r>
          </a:p>
        </p:txBody>
      </p:sp>
    </p:spTree>
    <p:extLst>
      <p:ext uri="{BB962C8B-B14F-4D97-AF65-F5344CB8AC3E}">
        <ns3:creationId val="955947613"/>
      </p:ext>
    </p:extLst>
  </p:cSld>
  <p:transition spd="fast" advClick="1">
    <p:fade/>
  </p:transition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slide-title">
            <a:extLst>
              <a:ext uri="{FF2B5EF4-FFF2-40B4-BE49-F238E27FC236}">
                <ns2:creationId id="{3A520F3E-B122-4B71-9FEC-969AF8E4E62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一期提前期的库存事件顺序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1141014D-87D8-4FFE-A2F1-B473DB4FC7AD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">
            <a:extLst>
              <a:ext uri="{FF2B5EF4-FFF2-40B4-BE49-F238E27FC236}">
                <ns2:creationId id="{42210188-DBE8-4230-B489-9B935DF562AC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1  期初收到上期订单</a:t>
            </a:r>
          </a:p>
        </p:txBody>
      </p:sp>
      <p:sp>
        <p:nvSpPr>
          <p:cNvPr id="4" name="text">
            <a:extLst>
              <a:ext uri="{FF2B5EF4-FFF2-40B4-BE49-F238E27FC236}">
                <ns2:creationId id="{28420F29-E606-442E-B809-4EE5C4312CCA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6381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Aᵢₜ = Bᵢ,ₜ₋₁ + qᵢ,ₜ₋₁</a:t>
            </a:r>
          </a:p>
        </p:txBody>
      </p:sp>
      <p:sp>
        <p:nvSpPr>
          <p:cNvPr id="5" name="text">
            <a:extLst>
              <a:ext uri="{FF2B5EF4-FFF2-40B4-BE49-F238E27FC236}">
                <ns2:creationId id="{4DA8B3AB-8A49-4CD9-ADA1-B5CEE611B50F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6572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2  需求发生，未满足部分丢失</a:t>
            </a:r>
          </a:p>
        </p:txBody>
      </p:sp>
      <p:sp>
        <p:nvSpPr>
          <p:cNvPr id="6" name="text">
            <a:extLst>
              <a:ext uri="{FF2B5EF4-FFF2-40B4-BE49-F238E27FC236}">
                <ns2:creationId id="{C477094F-46B8-428C-A763-7B80BD015698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6572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Yᵢₜ = min(Aᵢₜ, Dᵢₜ)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Bᵢₜ = (Aᵢₜ − Dᵢₜ)₊</a:t>
            </a:r>
          </a:p>
        </p:txBody>
      </p:sp>
      <p:sp>
        <p:nvSpPr>
          <p:cNvPr id="7" name="text">
            <a:extLst>
              <a:ext uri="{FF2B5EF4-FFF2-40B4-BE49-F238E27FC236}">
                <ns2:creationId id="{4D881B96-2479-49E6-91C2-39EEE335E005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723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3  观察状态后决定下一期订单</a:t>
            </a:r>
          </a:p>
        </p:txBody>
      </p:sp>
      <p:sp>
        <p:nvSpPr>
          <p:cNvPr id="8" name="text">
            <a:extLst>
              <a:ext uri="{FF2B5EF4-FFF2-40B4-BE49-F238E27FC236}">
                <ns2:creationId id="{B0502B8A-FE32-4C00-8869-E71E68C38EE2}"/>
              </a:ext>
            </a:extLst>
          </p:cNvPr>
          <p:cNvSpPr>
            <a:spLocks noGrp="1"/>
          </p:cNvSpPr>
          <p:nvPr/>
        </p:nvSpPr>
        <p:spPr>
          <a:xfrm>
            <a:off x="609600" y="5486400"/>
            <a:ext cx="723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qᵢₜ 在 t+1 到货；下一期重新规划</a:t>
            </a:r>
          </a:p>
        </p:txBody>
      </p:sp>
      <p:sp>
        <p:nvSpPr>
          <p:cNvPr id="9" name="text">
            <a:extLst>
              <a:ext uri="{FF2B5EF4-FFF2-40B4-BE49-F238E27FC236}">
                <ns2:creationId id="{1A56E53C-2354-4653-9A10-13D88364D4FE}"/>
              </a:ext>
            </a:extLst>
          </p:cNvPr>
          <p:cNvSpPr>
            <a:spLocks noGrp="1"/>
          </p:cNvSpPr>
          <p:nvPr/>
        </p:nvSpPr>
        <p:spPr>
          <a:xfrm>
            <a:off x="8153400" y="1866900"/>
            <a:ext cx="3143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服务指标</a:t>
            </a:r>
          </a:p>
        </p:txBody>
      </p:sp>
      <p:sp>
        <p:nvSpPr>
          <p:cNvPr id="10" name="text">
            <a:extLst>
              <a:ext uri="{FF2B5EF4-FFF2-40B4-BE49-F238E27FC236}">
                <ns2:creationId id="{F5590B94-ED13-4712-9027-9C7C7D1F8A57}"/>
              </a:ext>
            </a:extLst>
          </p:cNvPr>
          <p:cNvSpPr>
            <a:spLocks noGrp="1"/>
          </p:cNvSpPr>
          <p:nvPr/>
        </p:nvSpPr>
        <p:spPr>
          <a:xfrm>
            <a:off x="8153400" y="2524125"/>
            <a:ext cx="32385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Fill：满足需求数量</a:t>
            </a:r>
          </a:p>
          <a:p>
            <a:r>
              <a:t/>
            </a:r>
          </a:p>
          <a:p>
            <a:pPr>
              <a:def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无缺货率：销量等于需求</a:t>
            </a:r>
          </a:p>
          <a:p>
            <a:r>
              <a:t/>
            </a:r>
          </a:p>
          <a:p>
            <a:pPr>
              <a:def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Ready：期末库存严格为正</a:t>
            </a:r>
          </a:p>
        </p:txBody>
      </p:sp>
    </p:spTree>
    <p:extLst>
      <p:ext uri="{BB962C8B-B14F-4D97-AF65-F5344CB8AC3E}">
        <ns3:creationId val="1024616387"/>
      </p:ext>
    </p:extLst>
  </p:cSld>
  <p:transition spd="fast" advClick="1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154826F8-8A34-46A7-8844-A9C7E564F05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28 个模型家族覆盖预测与决策学习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1AFFB933-AAB4-4F64-A44C-33FB2294938E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156C8966-A71F-4673-B8EC-9375A0F412C4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125 项历史成绩包含参数变体与消融；本次整理没有全量重训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5A777C04-9F18-40F8-B372-D3E326E36950}"/>
              </a:ext>
            </a:extLst>
          </p:cNvPr>
          <p:cNvGraphicFramePr/>
          <p:nvPr/>
        </p:nvGraphicFramePr>
        <p:xfrm>
          <a:off x="609600" y="1695450"/>
          <a:ext cx="10972800" cy="4057650"/>
        </p:xfrm>
        <a:graphic>
          <a:graphicData uri="http://schemas.openxmlformats.org/drawingml/2006/table">
            <a:tbl>
              <a:tblPr/>
              <a:tblGrid>
                <a:gridCol w="2952750"/>
                <a:gridCol w="952500"/>
                <a:gridCol w="7067550"/>
              </a:tblGrid>
              <a:tr h="57966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研究方向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代表方法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基础与时间序列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Baseline、Naive、MA、指数平滑、ARIMA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监督需求预测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线性 / 正则化、SVR、RF、XGB、LGBM、CatBoost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分布鲁棒策略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矩信息、Wasserstein、卡方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SPO 与直接动作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线性 SPO+、树成本学习、直接动作 / 排序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概率与服务策略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原始—对偶策略、概率 NN、库存缺口 DFL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7966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滚动与训练扩展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自适应 MPC、在线学习、总量周转 DFL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2017361914"/>
      </p:ext>
    </p:extLst>
  </p:cSld>
  <p:transition spd="fast" advClick="1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slide-title">
            <a:extLst>
              <a:ext uri="{FF2B5EF4-FFF2-40B4-BE49-F238E27FC236}">
                <ns2:creationId id="{3CF50413-2B86-49C0-AE8E-78CDEF913BD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A 组：LightGBM 的可行库存较低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2DA2F479-0437-461F-9DC8-543E98E428A2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8782C6E9-1C71-4408-9FEA-1E847142722C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A 组；平均总库存为测试期末库存的时间均值，单位：万件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CD44F8DC-53B7-4FE1-8271-7B247BE15DA2}"/>
              </a:ext>
            </a:extLst>
          </p:cNvPr>
          <p:cNvGraphicFramePr/>
          <p:nvPr/>
        </p:nvGraphicFramePr>
        <p:xfrm>
          <a:off x="609600" y="1809750"/>
          <a:ext cx="7905750" cy="3590925"/>
        </p:xfrm>
        <a:graphic>
          <a:graphicData uri="http://schemas.openxmlformats.org/drawingml/2006/chart">
            <ns3:chart r:id="R41a162aac4594f41"/>
          </a:graphicData>
        </a:graphic>
      </p:graphicFrame>
      <p:sp>
        <p:nvSpPr>
          <p:cNvPr id="5" name="text">
            <a:extLst>
              <a:ext uri="{FF2B5EF4-FFF2-40B4-BE49-F238E27FC236}">
                <ns2:creationId id="{0C560351-F154-425A-8E2A-85CBC305E0BB}"/>
              </a:ext>
            </a:extLst>
          </p:cNvPr>
          <p:cNvSpPr>
            <a:spLocks noGrp="1"/>
          </p:cNvSpPr>
          <p:nvPr/>
        </p:nvSpPr>
        <p:spPr>
          <a:xfrm>
            <a:off x="8963025" y="210502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5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96.96%</a:t>
            </a:r>
          </a:p>
        </p:txBody>
      </p:sp>
      <p:sp>
        <p:nvSpPr>
          <p:cNvPr id="6" name="text">
            <a:extLst>
              <a:ext uri="{FF2B5EF4-FFF2-40B4-BE49-F238E27FC236}">
                <ns2:creationId id="{672AD069-2F52-4DB5-A71E-A17C12C11D18}"/>
              </a:ext>
            </a:extLst>
          </p:cNvPr>
          <p:cNvSpPr>
            <a:spLocks noGrp="1"/>
          </p:cNvSpPr>
          <p:nvPr/>
        </p:nvSpPr>
        <p:spPr>
          <a:xfrm>
            <a:off x="8963025" y="295275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LightGBM 总体 Fill</a:t>
            </a:r>
          </a:p>
        </p:txBody>
      </p:sp>
      <p:sp>
        <p:nvSpPr>
          <p:cNvPr id="7" name="text">
            <a:extLst>
              <a:ext uri="{FF2B5EF4-FFF2-40B4-BE49-F238E27FC236}">
                <ns2:creationId id="{CF8F87EC-AB93-4F7C-B5F2-54C472E4BDEF}"/>
              </a:ext>
            </a:extLst>
          </p:cNvPr>
          <p:cNvSpPr>
            <a:spLocks noGrp="1"/>
          </p:cNvSpPr>
          <p:nvPr/>
        </p:nvSpPr>
        <p:spPr>
          <a:xfrm>
            <a:off x="8963025" y="3943350"/>
            <a:ext cx="2667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58.53 万件</a:t>
            </a:r>
          </a:p>
        </p:txBody>
      </p:sp>
      <p:sp>
        <p:nvSpPr>
          <p:cNvPr id="8" name="text">
            <a:extLst>
              <a:ext uri="{FF2B5EF4-FFF2-40B4-BE49-F238E27FC236}">
                <ns2:creationId id="{7F1CE6A6-10D5-472B-8769-AEBA64E35228}"/>
              </a:ext>
            </a:extLst>
          </p:cNvPr>
          <p:cNvSpPr>
            <a:spLocks noGrp="1"/>
          </p:cNvSpPr>
          <p:nvPr/>
        </p:nvSpPr>
        <p:spPr>
          <a:xfrm>
            <a:off x="8963025" y="4619625"/>
            <a:ext cx="25717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这些代表模型中</a:t>
            </a:r>
          </a:p>
          <a:p>
            <a:pPr>
              <a:defRPr sz="17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可行库存最低</a:t>
            </a:r>
          </a:p>
        </p:txBody>
      </p:sp>
    </p:spTree>
    <p:extLst>
      <p:ext uri="{BB962C8B-B14F-4D97-AF65-F5344CB8AC3E}">
        <ns5:creationId val="1952555361"/>
      </p:ext>
    </p:extLst>
  </p:cSld>
  <p:transition spd="fast" advClick="1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AF422D36-F40F-441E-A046-5BC0E67A56B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成本学习在两种树模型上呈现不同权衡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C442710F-38FB-4A1D-9970-57A22B7733F0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21DD6553-BE71-4900-8D40-1DDE1A3F5D76}"/>
              </a:ext>
            </a:extLst>
          </p:cNvPr>
          <p:cNvGraphicFramePr/>
          <p:nvPr/>
        </p:nvGraphicFramePr>
        <p:xfrm>
          <a:off x="609600" y="1809750"/>
          <a:ext cx="10972800" cy="3190875"/>
        </p:xfrm>
        <a:graphic>
          <a:graphicData uri="http://schemas.openxmlformats.org/drawingml/2006/table">
            <a:tbl>
              <a:tblPr/>
              <a:tblGrid>
                <a:gridCol w="4476750"/>
                <a:gridCol w="3429000"/>
                <a:gridCol w="3067050"/>
              </a:tblGrid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组方案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平均总库存 / 万件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 Fill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XGBoost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83.82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97.82%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XGB + 成本学习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82.56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97.36%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LightGBM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58.53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96.96%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LGBM + 成本学习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94.79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97.61%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>
              <a:ext uri="{FF2B5EF4-FFF2-40B4-BE49-F238E27FC236}">
                <ns2:creationId id="{5FE90E37-A421-475B-963C-38040D0CEA45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任务损失改变服务与库存的权衡，改善方向需由实测确认</a:t>
            </a:r>
          </a:p>
        </p:txBody>
      </p:sp>
    </p:spTree>
    <p:extLst>
      <p:ext uri="{BB962C8B-B14F-4D97-AF65-F5344CB8AC3E}">
        <ns3:creationId val="297139515"/>
      </p:ext>
    </p:extLst>
  </p:cSld>
  <p:transition spd="fast" advClick="1">
    <p:fade/>
  </p:transition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slide-title">
            <a:extLst>
              <a:ext uri="{FF2B5EF4-FFF2-40B4-BE49-F238E27FC236}">
                <ns2:creationId id="{7E50CB12-28BC-4E50-A9F0-1E3C5A6CE49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C 组：更高服务需要显著库存缓冲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CE34F2C1-7302-4BDA-8938-95925B96CAD1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A5F2C503-0DB8-404A-BF81-A47BC1B8E2C8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C 组，LightGBM 冻结预测；z=4 为固定参考，未重新联合选参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98EADDBC-D288-4C5B-A578-F314895985B6}"/>
              </a:ext>
            </a:extLst>
          </p:cNvPr>
          <p:cNvGraphicFramePr/>
          <p:nvPr/>
        </p:nvGraphicFramePr>
        <p:xfrm>
          <a:off x="609600" y="1962150"/>
          <a:ext cx="10972800" cy="2133600"/>
        </p:xfrm>
        <a:graphic>
          <a:graphicData uri="http://schemas.openxmlformats.org/drawingml/2006/table">
            <a:tbl>
              <a:tblPr/>
              <a:tblGrid>
                <a:gridCol w="2333625"/>
                <a:gridCol w="2762250"/>
                <a:gridCol w="3238500"/>
                <a:gridCol w="2638425"/>
              </a:tblGrid>
              <a:tr h="7112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安全库存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Ready 达标 SKU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平均总库存 / 万件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 Fill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不加安全库存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6,000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90.62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94.96%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z=4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 / 6,000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1,215.85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100.00%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ns2:creationId id="{D0C17507-59E6-4FAF-B67C-6D19EB7152F9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28 期中至少 27 期正库存</a:t>
            </a:r>
          </a:p>
        </p:txBody>
      </p:sp>
      <p:sp>
        <p:nvSpPr>
          <p:cNvPr id="6" name="text">
            <a:extLst>
              <a:ext uri="{FF2B5EF4-FFF2-40B4-BE49-F238E27FC236}">
                <ns2:creationId id="{7C62CB44-EFC0-4BF3-BA28-46122B3AB632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27/28 = 96.43%，离散周期使 95% 要求形成整数门槛</a:t>
            </a:r>
          </a:p>
        </p:txBody>
      </p:sp>
    </p:spTree>
    <p:extLst>
      <p:ext uri="{BB962C8B-B14F-4D97-AF65-F5344CB8AC3E}">
        <ns3:creationId val="768942735"/>
      </p:ext>
    </p:extLst>
  </p:cSld>
  <p:transition spd="fast" advClick="1">
    <p:fade/>
  </p:transition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slide-title">
            <a:extLst>
              <a:ext uri="{FF2B5EF4-FFF2-40B4-BE49-F238E27FC236}">
                <ns2:creationId id="{A3496230-53DD-4D0D-ACBF-085631A09C6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MPC 残差尺度校准取得全 SKU 达标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AB0D72DD-BEE4-4B68-A053-107586D93E2B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BF19F064-9D92-4144-AEFF-EB2CF061DB19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C 组历史开发结果；四轮使用相同测试集，未形成独立确认性检验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21B0309A-C4E9-4743-AE6D-FC434D420236}"/>
              </a:ext>
            </a:extLst>
          </p:cNvPr>
          <p:cNvGraphicFramePr/>
          <p:nvPr/>
        </p:nvGraphicFramePr>
        <p:xfrm>
          <a:off x="609600" y="1809750"/>
          <a:ext cx="10972800" cy="3162300"/>
        </p:xfrm>
        <a:graphic>
          <a:graphicData uri="http://schemas.openxmlformats.org/drawingml/2006/table">
            <a:tbl>
              <a:tblPr/>
              <a:tblGrid>
                <a:gridCol w="3333750"/>
                <a:gridCol w="2524125"/>
                <a:gridCol w="3048000"/>
                <a:gridCol w="2066925"/>
              </a:tblGrid>
              <a:tr h="6324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MPC 版本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Ready 达标 SKU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平均总库存 / 万件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原始周转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早期全组件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 / 6,000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1,607.60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5.6274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残差尺度校准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 / 6,000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629.77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14.3649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校准版去内层优化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 / 6,000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629.76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14.3651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校准版单期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 / 6,000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629.76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14.3651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ns2:creationId id="{69A51717-BED3-407A-99F8-CC632FCD8877}"/>
              </a:ext>
            </a:extLst>
          </p:cNvPr>
          <p:cNvSpPr>
            <a:spLocks noGrp="1"/>
          </p:cNvSpPr>
          <p:nvPr/>
        </p:nvSpPr>
        <p:spPr>
          <a:xfrm>
            <a:off x="609600" y="5400675"/>
            <a:ext cx="10858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当前证据主要支持缓冲校准，优化层的独立增益尚不明显</a:t>
            </a:r>
          </a:p>
        </p:txBody>
      </p:sp>
    </p:spTree>
    <p:extLst>
      <p:ext uri="{BB962C8B-B14F-4D97-AF65-F5344CB8AC3E}">
        <ns3:creationId val="518776900"/>
      </p:ext>
    </p:extLst>
  </p:cSld>
  <p:transition spd="fast" advClick="1">
    <p:fade/>
  </p:transition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slide-title">
            <a:extLst>
              <a:ext uri="{FF2B5EF4-FFF2-40B4-BE49-F238E27FC236}">
                <ns2:creationId id="{6B63DF66-8360-4158-8CC8-8A15397044B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最新 DFL 微调未改善整体库存表现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565ECC7A-C66E-4AFF-B8F2-E6AD3F7DF7E8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9B5424F8-57DC-4F47-80C2-4323BDEB8DA7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C 组；这三个版本均未达到全 SKU Ready ≥95%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614D2AC9-8FA7-4160-8C35-9DF55D132CE4}"/>
              </a:ext>
            </a:extLst>
          </p:cNvPr>
          <p:cNvGraphicFramePr/>
          <p:nvPr/>
        </p:nvGraphicFramePr>
        <p:xfrm>
          <a:off x="609600" y="1762125"/>
          <a:ext cx="7143750" cy="2190750"/>
        </p:xfrm>
        <a:graphic>
          <a:graphicData uri="http://schemas.openxmlformats.org/drawingml/2006/chart">
            <ns3:chart r:id="R1c234319112042e9"/>
          </a:graphicData>
        </a:graphic>
      </p:graphicFrame>
      <p:sp>
        <p:nvSpPr>
          <p:cNvPr id="5" name="text">
            <a:extLst>
              <a:ext uri="{FF2B5EF4-FFF2-40B4-BE49-F238E27FC236}">
                <ns2:creationId id="{E551C1C1-CD88-4A63-8B67-AA3580C6930C}"/>
              </a:ext>
            </a:extLst>
          </p:cNvPr>
          <p:cNvSpPr>
            <a:spLocks noGrp="1"/>
          </p:cNvSpPr>
          <p:nvPr/>
        </p:nvSpPr>
        <p:spPr>
          <a:xfrm>
            <a:off x="8181975" y="2047875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75" b="1">
                <a:solidFill>
                  <a:srgbClr val="C469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275" b="1">
                <a:solidFill>
                  <a:srgbClr val="C46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C4693D"/>
                </a:solidFill>
                <a:latin typeface="Microsoft YaHei"/>
                <a:ea typeface="Microsoft YaHei"/>
                <a:cs typeface="Microsoft YaHei"/>
              </a:rPr>
              <a:t>+10.65%</a:t>
            </a:r>
          </a:p>
        </p:txBody>
      </p:sp>
      <p:sp>
        <p:nvSpPr>
          <p:cNvPr id="6" name="text">
            <a:extLst>
              <a:ext uri="{FF2B5EF4-FFF2-40B4-BE49-F238E27FC236}">
                <ns2:creationId id="{9C4669C0-D315-4A2F-ACBA-364A9C2BEEB2}"/>
              </a:ext>
            </a:extLst>
          </p:cNvPr>
          <p:cNvSpPr>
            <a:spLocks noGrp="1"/>
          </p:cNvSpPr>
          <p:nvPr/>
        </p:nvSpPr>
        <p:spPr>
          <a:xfrm>
            <a:off x="8181975" y="2876550"/>
            <a:ext cx="3381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DFL 相对冻结版库存变化</a:t>
            </a:r>
          </a:p>
        </p:txBody>
      </p:sp>
      <p:graphicFrame>
        <p:nvGraphicFramePr>
          <p:cNvPr id="7" name="">
            <a:extLst>
              <a:ext uri="{FF2B5EF4-FFF2-40B4-BE49-F238E27FC236}">
                <ns2:creationId id="{69D87E11-B24B-4D73-8887-BEEDCE45C9EA}"/>
              </a:ext>
            </a:extLst>
          </p:cNvPr>
          <p:cNvGraphicFramePr/>
          <p:nvPr/>
        </p:nvGraphicFramePr>
        <p:xfrm>
          <a:off x="609600" y="4114800"/>
          <a:ext cx="10972800" cy="1752600"/>
        </p:xfrm>
        <a:graphic>
          <a:graphicData uri="http://schemas.openxmlformats.org/drawingml/2006/table">
            <a:tbl>
              <a:tblPr/>
              <a:tblGrid>
                <a:gridCol w="2571750"/>
                <a:gridCol w="4619625"/>
                <a:gridCol w="3781425"/>
              </a:tblGrid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Ready 达标数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原始周转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5,864 / 6,000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37.9242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DFL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5,868 / 6,000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34.2165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 NLL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5,875 / 6,000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38.1071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5:creationId val="1344272581"/>
      </p:ext>
    </p:extLst>
  </p:cSld>
  <p:transition spd="fast" advClick="1">
    <p:fade/>
  </p:transition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slide-title">
            <a:extLst>
              <a:ext uri="{FF2B5EF4-FFF2-40B4-BE49-F238E27FC236}">
                <ns2:creationId id="{57A3EE33-B332-475E-911E-BDFEEACAF0F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滚动 DRO 的决策分为预测与风险水位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F948457B-0DEB-41C2-A3E1-88227AC09139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">
            <a:extLst>
              <a:ext uri="{FF2B5EF4-FFF2-40B4-BE49-F238E27FC236}">
                <ns2:creationId id="{BDC7A263-B0E3-4211-94C8-04E16DE1C4F7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预测层：下一期需求水平</a:t>
            </a:r>
          </a:p>
        </p:txBody>
      </p:sp>
      <p:sp>
        <p:nvSpPr>
          <p:cNvPr id="4" name="text">
            <a:extLst>
              <a:ext uri="{FF2B5EF4-FFF2-40B4-BE49-F238E27FC236}">
                <ns2:creationId id="{5EFBB08E-9AA9-4AEF-A3C8-280E938274DD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训练趋势 + 最近 3 期已观测偏差修正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同一预测供所有策略使用</a:t>
            </a:r>
          </a:p>
        </p:txBody>
      </p:sp>
      <p:sp>
        <p:nvSpPr>
          <p:cNvPr id="5" name="text">
            <a:extLst>
              <a:ext uri="{FF2B5EF4-FFF2-40B4-BE49-F238E27FC236}">
                <ns2:creationId id="{1B4A00A7-06C2-4FCC-BF1C-F48BB41A63C7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风险层：最小可行补货倍率</a:t>
            </a:r>
          </a:p>
        </p:txBody>
      </p:sp>
      <p:sp>
        <p:nvSpPr>
          <p:cNvPr id="6" name="text">
            <a:extLst>
              <a:ext uri="{FF2B5EF4-FFF2-40B4-BE49-F238E27FC236}">
                <ns2:creationId id="{0EB6DD0C-1798-470A-9161-8B7000AC2993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按分组残差求鲁棒水位 z_g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目标水位 Sᵢ,ₜ₊₁ = 预测需求 × z_g</a:t>
            </a:r>
          </a:p>
        </p:txBody>
      </p:sp>
      <p:sp>
        <p:nvSpPr>
          <p:cNvPr id="7" name="text">
            <a:extLst>
              <a:ext uri="{FF2B5EF4-FFF2-40B4-BE49-F238E27FC236}">
                <ns2:creationId id="{589534EB-A0A6-4D29-A98A-3295C7E8D825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10763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执行层：只下最近一期订单</a:t>
            </a:r>
          </a:p>
        </p:txBody>
      </p:sp>
      <p:sp>
        <p:nvSpPr>
          <p:cNvPr id="8" name="text">
            <a:extLst>
              <a:ext uri="{FF2B5EF4-FFF2-40B4-BE49-F238E27FC236}">
                <ns2:creationId id="{86E3458D-574B-48CD-85C3-B3B3A008672D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763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qᵢₜ = max(0, ⌈Sᵢ,ₜ₊₁ − Bᵢₜ⌉)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下一期更新状态，再滚动规划</a:t>
            </a:r>
          </a:p>
        </p:txBody>
      </p:sp>
    </p:spTree>
    <p:extLst>
      <p:ext uri="{BB962C8B-B14F-4D97-AF65-F5344CB8AC3E}">
        <ns3:creationId val="840823289"/>
      </p:ext>
    </p:extLst>
  </p:cSld>
  <p:transition spd="fast" advClick="1">
    <p:fade/>
  </p:transition>
</p:sld>
</file>

<file path=ppt/slides/slide13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slide-title">
            <a:extLst>
              <a:ext uri="{FF2B5EF4-FFF2-40B4-BE49-F238E27FC236}">
                <ns2:creationId id="{E0575258-84DC-4835-85B7-08B94437B98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预测跨度越长，测试误差越大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8FC1B10A-5C2A-4027-AA34-51CC963D68E3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29E0C5ED-FECB-497B-8CA1-46754267580C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可评价单元格依次为 162,000 / 156,000 / 150,000 / 144,000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B7DC78E0-9DA5-4474-B22A-165B99AF2E4E}"/>
              </a:ext>
            </a:extLst>
          </p:cNvPr>
          <p:cNvGraphicFramePr/>
          <p:nvPr/>
        </p:nvGraphicFramePr>
        <p:xfrm>
          <a:off x="609600" y="1952625"/>
          <a:ext cx="7620000" cy="3524250"/>
        </p:xfrm>
        <a:graphic>
          <a:graphicData uri="http://schemas.openxmlformats.org/drawingml/2006/chart">
            <ns3:chart r:id="R8cba9bc4a27b4c5c"/>
          </a:graphicData>
        </a:graphic>
      </p:graphicFrame>
      <p:sp>
        <p:nvSpPr>
          <p:cNvPr id="5" name="text">
            <a:extLst>
              <a:ext uri="{FF2B5EF4-FFF2-40B4-BE49-F238E27FC236}">
                <ns2:creationId id="{5FA2CE12-458C-4602-8FAE-38EB5A63B4DF}"/>
              </a:ext>
            </a:extLst>
          </p:cNvPr>
          <p:cNvSpPr>
            <a:spLocks noGrp="1"/>
          </p:cNvSpPr>
          <p:nvPr/>
        </p:nvSpPr>
        <p:spPr>
          <a:xfrm>
            <a:off x="8791575" y="2066925"/>
            <a:ext cx="27336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14.12%</a:t>
            </a:r>
          </a:p>
        </p:txBody>
      </p:sp>
      <p:sp>
        <p:nvSpPr>
          <p:cNvPr id="6" name="text">
            <a:extLst>
              <a:ext uri="{FF2B5EF4-FFF2-40B4-BE49-F238E27FC236}">
                <ns2:creationId id="{425F4930-8F7E-4C64-8BC8-401D6CCEDD01}"/>
              </a:ext>
            </a:extLst>
          </p:cNvPr>
          <p:cNvSpPr>
            <a:spLocks noGrp="1"/>
          </p:cNvSpPr>
          <p:nvPr/>
        </p:nvSpPr>
        <p:spPr>
          <a:xfrm>
            <a:off x="8791575" y="2619375"/>
            <a:ext cx="27336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一步 WAPE</a:t>
            </a:r>
          </a:p>
        </p:txBody>
      </p:sp>
      <p:sp>
        <p:nvSpPr>
          <p:cNvPr id="7" name="text">
            <a:extLst>
              <a:ext uri="{FF2B5EF4-FFF2-40B4-BE49-F238E27FC236}">
                <ns2:creationId id="{EB334B9D-2A8C-45ED-883A-07C9C6527F75}"/>
              </a:ext>
            </a:extLst>
          </p:cNvPr>
          <p:cNvSpPr>
            <a:spLocks noGrp="1"/>
          </p:cNvSpPr>
          <p:nvPr/>
        </p:nvSpPr>
        <p:spPr>
          <a:xfrm>
            <a:off x="8791575" y="3790950"/>
            <a:ext cx="27336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22.59%</a:t>
            </a:r>
          </a:p>
        </p:txBody>
      </p:sp>
      <p:sp>
        <p:nvSpPr>
          <p:cNvPr id="8" name="text">
            <a:extLst>
              <a:ext uri="{FF2B5EF4-FFF2-40B4-BE49-F238E27FC236}">
                <ns2:creationId id="{E5C14100-2E89-4696-9841-D0BD453A35C9}"/>
              </a:ext>
            </a:extLst>
          </p:cNvPr>
          <p:cNvSpPr>
            <a:spLocks noGrp="1"/>
          </p:cNvSpPr>
          <p:nvPr/>
        </p:nvSpPr>
        <p:spPr>
          <a:xfrm>
            <a:off x="8791575" y="4343400"/>
            <a:ext cx="27336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四步 WAPE</a:t>
            </a:r>
          </a:p>
        </p:txBody>
      </p:sp>
    </p:spTree>
    <p:extLst>
      <p:ext uri="{BB962C8B-B14F-4D97-AF65-F5344CB8AC3E}">
        <ns5:creationId val="1782753039"/>
      </p:ext>
    </p:extLst>
  </p:cSld>
  <p:transition spd="fast" advClick="1">
    <p:fade/>
  </p:transition>
</p:sld>
</file>

<file path=ppt/slides/slide14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slide-title">
            <a:extLst>
              <a:ext uri="{FF2B5EF4-FFF2-40B4-BE49-F238E27FC236}">
                <ns2:creationId id="{AC2A10D7-A9A7-4509-A0F4-9343387D012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8% 的爆品贡献约 80% 测试需求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907F8BC7-0535-4DE6-AE1F-95BFCD688C2B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3" name="Chart">
            <a:extLst>
              <a:ext uri="{FF2B5EF4-FFF2-40B4-BE49-F238E27FC236}">
                <ns2:creationId id="{708319A7-DE51-482A-9AD7-7C0125B63001}"/>
              </a:ext>
            </a:extLst>
          </p:cNvPr>
          <p:cNvGraphicFramePr/>
          <p:nvPr/>
        </p:nvGraphicFramePr>
        <p:xfrm>
          <a:off x="609600" y="1952625"/>
          <a:ext cx="7620000" cy="3486150"/>
        </p:xfrm>
        <a:graphic>
          <a:graphicData uri="http://schemas.openxmlformats.org/drawingml/2006/chart">
            <ns3:chart r:id="Rf6719a4c98054963"/>
          </a:graphicData>
        </a:graphic>
      </p:graphicFrame>
      <p:sp>
        <p:nvSpPr>
          <p:cNvPr id="4" name="text">
            <a:extLst>
              <a:ext uri="{FF2B5EF4-FFF2-40B4-BE49-F238E27FC236}">
                <ns2:creationId id="{C1BF2839-7737-4142-BF8F-87739A7D71BB}"/>
              </a:ext>
            </a:extLst>
          </p:cNvPr>
          <p:cNvSpPr>
            <a:spLocks noGrp="1"/>
          </p:cNvSpPr>
          <p:nvPr/>
        </p:nvSpPr>
        <p:spPr>
          <a:xfrm>
            <a:off x="8801100" y="2133600"/>
            <a:ext cx="2667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5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480</a:t>
            </a:r>
          </a:p>
        </p:txBody>
      </p:sp>
      <p:sp>
        <p:nvSpPr>
          <p:cNvPr id="5" name="text">
            <a:extLst>
              <a:ext uri="{FF2B5EF4-FFF2-40B4-BE49-F238E27FC236}">
                <ns2:creationId id="{E11AD9BB-8FF1-4C12-91B0-19AEA6BD2534}"/>
              </a:ext>
            </a:extLst>
          </p:cNvPr>
          <p:cNvSpPr>
            <a:spLocks noGrp="1"/>
          </p:cNvSpPr>
          <p:nvPr/>
        </p:nvSpPr>
        <p:spPr>
          <a:xfrm>
            <a:off x="8801100" y="3086100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爆品 SKU</a:t>
            </a:r>
          </a:p>
        </p:txBody>
      </p:sp>
      <p:sp>
        <p:nvSpPr>
          <p:cNvPr id="6" name="text">
            <a:extLst>
              <a:ext uri="{FF2B5EF4-FFF2-40B4-BE49-F238E27FC236}">
                <ns2:creationId id="{01FDC206-AFA8-4657-8BDD-55E5A9345706}"/>
              </a:ext>
            </a:extLst>
          </p:cNvPr>
          <p:cNvSpPr>
            <a:spLocks noGrp="1"/>
          </p:cNvSpPr>
          <p:nvPr/>
        </p:nvSpPr>
        <p:spPr>
          <a:xfrm>
            <a:off x="8801100" y="4105275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1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1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5,520</a:t>
            </a:r>
          </a:p>
        </p:txBody>
      </p:sp>
      <p:sp>
        <p:nvSpPr>
          <p:cNvPr id="7" name="text">
            <a:extLst>
              <a:ext uri="{FF2B5EF4-FFF2-40B4-BE49-F238E27FC236}">
                <ns2:creationId id="{EE58AA57-059C-4524-ACFF-3C52B4B4B58E}"/>
              </a:ext>
            </a:extLst>
          </p:cNvPr>
          <p:cNvSpPr>
            <a:spLocks noGrp="1"/>
          </p:cNvSpPr>
          <p:nvPr/>
        </p:nvSpPr>
        <p:spPr>
          <a:xfrm>
            <a:off x="8801100" y="4981575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长尾 SKU</a:t>
            </a:r>
          </a:p>
        </p:txBody>
      </p:sp>
    </p:spTree>
    <p:extLst>
      <p:ext uri="{BB962C8B-B14F-4D97-AF65-F5344CB8AC3E}">
        <ns5:creationId val="1401839638"/>
      </p:ext>
    </p:extLst>
  </p:cSld>
  <p:transition spd="fast" advClick="1">
    <p:fade/>
  </p:transition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slide-title">
            <a:extLst>
              <a:ext uri="{FF2B5EF4-FFF2-40B4-BE49-F238E27FC236}">
                <ns2:creationId id="{A527ACE7-A9AB-43BD-9900-5FCD454D542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W∞ DRO 用最坏端点控制缺货比例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FC10118C-1CD7-4EF2-8947-9154F628F7CB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text">
            <a:extLst>
              <a:ext uri="{FF2B5EF4-FFF2-40B4-BE49-F238E27FC236}">
                <ns2:creationId id="{39BB363D-CD99-4EDA-947B-BBF42FCA49A3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相对需求 R = 实际需求 / 一步预测</a:t>
            </a:r>
          </a:p>
        </p:txBody>
      </p:sp>
      <p:sp>
        <p:nvSpPr>
          <p:cNvPr id="4" name="text">
            <a:extLst>
              <a:ext uri="{FF2B5EF4-FFF2-40B4-BE49-F238E27FC236}">
                <ns2:creationId id="{DC1B439E-D6B9-4962-9697-E63F019EBA25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样本邻域：ℓⱼ = max(0, rⱼ − ε)，uⱼ = rⱼ + ε</a:t>
            </a:r>
          </a:p>
        </p:txBody>
      </p:sp>
      <p:sp>
        <p:nvSpPr>
          <p:cNvPr id="5" name="text">
            <a:extLst>
              <a:ext uri="{FF2B5EF4-FFF2-40B4-BE49-F238E27FC236}">
                <ns2:creationId id="{9701B9D7-F31E-40C1-BAA8-248FBA8ED5C0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0858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f(R,z) = (R − z)₊ − (1 − β)R</a:t>
            </a:r>
          </a:p>
        </p:txBody>
      </p:sp>
      <p:sp>
        <p:nvSpPr>
          <p:cNvPr id="6" name="text">
            <a:extLst>
              <a:ext uri="{FF2B5EF4-FFF2-40B4-BE49-F238E27FC236}">
                <ns2:creationId id="{97F5928D-A77E-4D29-A174-83D6F7BC203D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9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(1/N) Σ max{f(ℓⱼ,z), f(uⱼ,z)} ≤ 0</a:t>
            </a:r>
          </a:p>
        </p:txBody>
      </p:sp>
      <p:sp>
        <p:nvSpPr>
          <p:cNvPr id="7" name="text">
            <a:extLst>
              <a:ext uri="{FF2B5EF4-FFF2-40B4-BE49-F238E27FC236}">
                <ns2:creationId id="{42F51946-971A-452E-AE9C-8EAE84885CD2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最小可行 z 形成补货倍率；ε=0 退化为经验模型</a:t>
            </a:r>
          </a:p>
        </p:txBody>
      </p:sp>
    </p:spTree>
    <p:extLst>
      <p:ext uri="{BB962C8B-B14F-4D97-AF65-F5344CB8AC3E}">
        <ns3:creationId val="57020277"/>
      </p:ext>
    </p:extLst>
  </p:cSld>
  <p:transition spd="fast" advClick="1">
    <p:fade/>
  </p:transition>
</p:sld>
</file>

<file path=ppt/slides/slide16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slide-title">
            <a:extLst>
              <a:ext uri="{FF2B5EF4-FFF2-40B4-BE49-F238E27FC236}">
                <ns2:creationId id="{804D79BE-F68A-4B03-8F7D-9278C1E8968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爆品/长尾 DRO 的库存需求比最低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7DA3754C-7548-4606-AD6F-01A459548DAE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07940D96-D615-4F26-A741-DEDA5146B643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同一滚动实验，完整 28 期；全部策略总体 Fill ≥95%，实际服务水平略有不同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6607D6E9-2D4E-40AB-9718-2798F16AA9A4}"/>
              </a:ext>
            </a:extLst>
          </p:cNvPr>
          <p:cNvGraphicFramePr/>
          <p:nvPr/>
        </p:nvGraphicFramePr>
        <p:xfrm>
          <a:off x="609600" y="1809750"/>
          <a:ext cx="8096250" cy="3790950"/>
        </p:xfrm>
        <a:graphic>
          <a:graphicData uri="http://schemas.openxmlformats.org/drawingml/2006/chart">
            <ns3:chart r:id="R89e20e63ad674a28"/>
          </a:graphicData>
        </a:graphic>
      </p:graphicFrame>
      <p:sp>
        <p:nvSpPr>
          <p:cNvPr id="5" name="text">
            <a:extLst>
              <a:ext uri="{FF2B5EF4-FFF2-40B4-BE49-F238E27FC236}">
                <ns2:creationId id="{59D1BDBE-B5EA-4EDF-AD2B-4D5AF590BB13}"/>
              </a:ext>
            </a:extLst>
          </p:cNvPr>
          <p:cNvSpPr>
            <a:spLocks noGrp="1"/>
          </p:cNvSpPr>
          <p:nvPr/>
        </p:nvSpPr>
        <p:spPr>
          <a:xfrm>
            <a:off x="9105900" y="2085975"/>
            <a:ext cx="26479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2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−2.18%</a:t>
            </a:r>
          </a:p>
        </p:txBody>
      </p:sp>
      <p:sp>
        <p:nvSpPr>
          <p:cNvPr id="6" name="text">
            <a:extLst>
              <a:ext uri="{FF2B5EF4-FFF2-40B4-BE49-F238E27FC236}">
                <ns2:creationId id="{993AE0C1-F188-42BA-B10F-499011871887}"/>
              </a:ext>
            </a:extLst>
          </p:cNvPr>
          <p:cNvSpPr>
            <a:spLocks noGrp="1"/>
          </p:cNvSpPr>
          <p:nvPr/>
        </p:nvSpPr>
        <p:spPr>
          <a:xfrm>
            <a:off x="9105900" y="3076575"/>
            <a:ext cx="2524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相对传统 (s,S)</a:t>
            </a:r>
          </a:p>
        </p:txBody>
      </p:sp>
      <p:sp>
        <p:nvSpPr>
          <p:cNvPr id="7" name="text">
            <a:extLst>
              <a:ext uri="{FF2B5EF4-FFF2-40B4-BE49-F238E27FC236}">
                <ns2:creationId id="{A9079612-79E6-4239-ACF6-EE90519A37A3}"/>
              </a:ext>
            </a:extLst>
          </p:cNvPr>
          <p:cNvSpPr>
            <a:spLocks noGrp="1"/>
          </p:cNvSpPr>
          <p:nvPr/>
        </p:nvSpPr>
        <p:spPr>
          <a:xfrm>
            <a:off x="9105900" y="4067175"/>
            <a:ext cx="26479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6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96.56%</a:t>
            </a:r>
          </a:p>
        </p:txBody>
      </p:sp>
      <p:sp>
        <p:nvSpPr>
          <p:cNvPr id="8" name="text">
            <a:extLst>
              <a:ext uri="{FF2B5EF4-FFF2-40B4-BE49-F238E27FC236}">
                <ns2:creationId id="{4C78AACB-6E11-4B0B-A833-EA59398AF969}"/>
              </a:ext>
            </a:extLst>
          </p:cNvPr>
          <p:cNvSpPr>
            <a:spLocks noGrp="1"/>
          </p:cNvSpPr>
          <p:nvPr/>
        </p:nvSpPr>
        <p:spPr>
          <a:xfrm>
            <a:off x="9105900" y="4981575"/>
            <a:ext cx="25241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总体需求满足率</a:t>
            </a:r>
          </a:p>
        </p:txBody>
      </p:sp>
    </p:spTree>
    <p:extLst>
      <p:ext uri="{BB962C8B-B14F-4D97-AF65-F5344CB8AC3E}">
        <ns5:creationId val="108139073"/>
      </p:ext>
    </p:extLst>
  </p:cSld>
  <p:transition spd="fast" advClick="1">
    <p:fade/>
  </p:transition>
</p:sld>
</file>

<file path=ppt/slides/slide17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256D3BDA-FE15-49C8-9EED-8A00D22DBB0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总体达标仍可能包含单期服务不足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E0C311B1-0AB8-4979-B081-816BD00DE9C4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B7B53A7A-0FB6-4413-9E77-0A01A93491D8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曲线显示第 2–28 期；第 1 期所有策略 Fill=25.63%，共同损失 763,368 件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675C698E-E51F-4E32-8868-D229A0029054}"/>
              </a:ext>
            </a:extLst>
          </p:cNvPr>
          <p:cNvGraphicFramePr/>
          <p:nvPr/>
        </p:nvGraphicFramePr>
        <p:xfrm>
          <a:off x="609600" y="1857375"/>
          <a:ext cx="10953750" cy="3876675"/>
        </p:xfrm>
        <a:graphic>
          <a:graphicData uri="http://schemas.openxmlformats.org/drawingml/2006/chart">
            <ns3:chart r:id="R5419cb4416e54382"/>
          </a:graphicData>
        </a:graphic>
      </p:graphicFrame>
    </p:spTree>
    <p:extLst>
      <p:ext uri="{BB962C8B-B14F-4D97-AF65-F5344CB8AC3E}">
        <ns5:creationId val="765814440"/>
      </p:ext>
    </p:extLst>
  </p:cSld>
  <p:transition spd="fast" advClick="1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slide-title">
            <a:extLst>
              <a:ext uri="{FF2B5EF4-FFF2-40B4-BE49-F238E27FC236}">
                <ns2:creationId id="{87E09BEE-F052-4167-856C-96744E5953B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六类聚类没有超过两类业务分组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6B1FCE0E-FC40-49E7-A04F-A002716D2FD0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1ADF86D7-B9B3-45C6-9F0B-AA20815FC860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β、ε 各自在训练验证中选择；该对照不构成完全固定参数的分组消融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12E3D751-F016-4999-9779-F31D8CC1DB10}"/>
              </a:ext>
            </a:extLst>
          </p:cNvPr>
          <p:cNvGraphicFramePr/>
          <p:nvPr/>
        </p:nvGraphicFramePr>
        <p:xfrm>
          <a:off x="609600" y="1924050"/>
          <a:ext cx="10972800" cy="2600325"/>
        </p:xfrm>
        <a:graphic>
          <a:graphicData uri="http://schemas.openxmlformats.org/drawingml/2006/table">
            <a:tbl>
              <a:tblPr/>
              <a:tblGrid>
                <a:gridCol w="3524250"/>
                <a:gridCol w="1714500"/>
                <a:gridCol w="1333500"/>
                <a:gridCol w="2095500"/>
                <a:gridCol w="2305050"/>
              </a:tblGrid>
              <a:tr h="65008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DRO 分组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ε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 Fill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爆品 / 长尾（2组）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0.9581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96.56%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0.168340</a:t>
                      </a:r>
                    </a:p>
                  </a:txBody>
                  <a:tcPr marL="133350" marR="133350" marT="95250" marB="95250" anchor="ctr">
                    <a:solidFill>
                      <a:srgbClr val="DCEBE7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特征聚类（6组）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96.55%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0.169025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全部共用（1组）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0.9681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96.78%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0.177925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>
              <a:ext uri="{FF2B5EF4-FFF2-40B4-BE49-F238E27FC236}">
                <ns2:creationId id="{FDB33F5C-AF6B-4EB3-B5EF-D80463508608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两组风险倍率：爆品 1.12683，长尾 1.16858</a:t>
            </a:r>
          </a:p>
        </p:txBody>
      </p:sp>
      <p:sp>
        <p:nvSpPr>
          <p:cNvPr id="6" name="text">
            <a:extLst>
              <a:ext uri="{FF2B5EF4-FFF2-40B4-BE49-F238E27FC236}">
                <ns2:creationId id="{EE082277-4B27-40C3-8C95-DDC6CA0C552A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更细的分组是否有收益，需要结合残差样本量和服务代价判断</a:t>
            </a:r>
          </a:p>
        </p:txBody>
      </p:sp>
    </p:spTree>
    <p:extLst>
      <p:ext uri="{BB962C8B-B14F-4D97-AF65-F5344CB8AC3E}">
        <ns3:creationId val="93097052"/>
      </p:ext>
    </p:extLst>
  </p:cSld>
  <p:transition spd="fast" advClick="1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slide-title">
            <a:extLst>
              <a:ext uri="{FF2B5EF4-FFF2-40B4-BE49-F238E27FC236}">
                <ns2:creationId id="{92CA3294-96AE-45B6-9636-F6BC12E33EE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代码演示：二分水位与独立 LP 核对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315D14F1-413E-4226-B173-DA171CE5B2FE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3" name="solver-code">
            <a:extLst>
              <a:ext uri="{FF2B5EF4-FFF2-40B4-BE49-F238E27FC236}">
                <ns2:creationId id="{0634D7EA-A1FB-4697-BA61-F265CBADD8BB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7362825" cy="3495675"/>
          </a:xfrm>
          <a:prstGeom prst="rect">
            <a:avLst/>
          </a:prstGeom>
          <a:solidFill>
            <a:srgbClr val="142C3C"/>
          </a:solidFill>
          <a:ln w="0">
            <a:noFill/>
          </a:ln>
        </p:spPr>
        <p:txBody>
          <a:bodyPr wrap="square" lIns="171450" tIns="171450" rIns="171450" bIns="171450" anchor="t">
            <a:noAutofit/>
          </a:bodyPr>
          <a:lstStyle>
            <a:def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 = maximum(0, r - radius)</a:t>
            </a:r>
          </a:p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hi = r + radius</a:t>
            </a:r>
          </a:p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mid = (left + right) / 2</a:t>
            </a:r>
          </a:p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worst = maximum(</a:t>
            </a:r>
          </a:p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maximum(lo-mid, 0) - a*lo,</a:t>
            </a:r>
          </a:p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maximum(hi-mid, 0) - a*hi).mean()</a:t>
            </a:r>
          </a:p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worst &gt; 0: left = mid</a:t>
            </a:r>
          </a:p>
          <a:p>
            <a:pPr>
              <a:defRPr sz="18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else: right = mid</a:t>
            </a:r>
          </a:p>
        </p:txBody>
      </p:sp>
      <p:sp>
        <p:nvSpPr>
          <p:cNvPr id="4" name="text">
            <a:extLst>
              <a:ext uri="{FF2B5EF4-FFF2-40B4-BE49-F238E27FC236}">
                <ns2:creationId id="{2FB54B98-F0D9-4B03-BFDA-BA3C47454A46}"/>
              </a:ext>
            </a:extLst>
          </p:cNvPr>
          <p:cNvSpPr>
            <a:spLocks noGrp="1"/>
          </p:cNvSpPr>
          <p:nvPr/>
        </p:nvSpPr>
        <p:spPr>
          <a:xfrm>
            <a:off x="8553450" y="2047875"/>
            <a:ext cx="300037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9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20,160</a:t>
            </a:r>
          </a:p>
        </p:txBody>
      </p:sp>
      <p:sp>
        <p:nvSpPr>
          <p:cNvPr id="5" name="text">
            <a:extLst>
              <a:ext uri="{FF2B5EF4-FFF2-40B4-BE49-F238E27FC236}">
                <ns2:creationId id="{093FE924-B801-4D37-A8E9-04771A1F7495}"/>
              </a:ext>
            </a:extLst>
          </p:cNvPr>
          <p:cNvSpPr>
            <a:spLocks noGrp="1"/>
          </p:cNvSpPr>
          <p:nvPr/>
        </p:nvSpPr>
        <p:spPr>
          <a:xfrm>
            <a:off x="8553450" y="282892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真实爆品训练残差</a:t>
            </a:r>
          </a:p>
        </p:txBody>
      </p:sp>
      <p:sp>
        <p:nvSpPr>
          <p:cNvPr id="6" name="text">
            <a:extLst>
              <a:ext uri="{FF2B5EF4-FFF2-40B4-BE49-F238E27FC236}">
                <ns2:creationId id="{98D8093B-88A7-4F7A-B89B-1744D6224776}"/>
              </a:ext>
            </a:extLst>
          </p:cNvPr>
          <p:cNvSpPr>
            <a:spLocks noGrp="1"/>
          </p:cNvSpPr>
          <p:nvPr/>
        </p:nvSpPr>
        <p:spPr>
          <a:xfrm>
            <a:off x="8553450" y="3686175"/>
            <a:ext cx="304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6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1.12682993</a:t>
            </a:r>
          </a:p>
        </p:txBody>
      </p:sp>
      <p:sp>
        <p:nvSpPr>
          <p:cNvPr id="7" name="text">
            <a:extLst>
              <a:ext uri="{FF2B5EF4-FFF2-40B4-BE49-F238E27FC236}">
                <ns2:creationId id="{71945575-4428-4547-97B4-00DE9A6B64B2}"/>
              </a:ext>
            </a:extLst>
          </p:cNvPr>
          <p:cNvSpPr>
            <a:spLocks noGrp="1"/>
          </p:cNvSpPr>
          <p:nvPr/>
        </p:nvSpPr>
        <p:spPr>
          <a:xfrm>
            <a:off x="8553450" y="431482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鲁棒补货倍率</a:t>
            </a:r>
          </a:p>
        </p:txBody>
      </p:sp>
      <p:sp>
        <p:nvSpPr>
          <p:cNvPr id="8" name="text">
            <a:extLst>
              <a:ext uri="{FF2B5EF4-FFF2-40B4-BE49-F238E27FC236}">
                <ns2:creationId id="{432F0786-C6DF-4B9A-9AA8-B2E4D62F9C95}"/>
              </a:ext>
            </a:extLst>
          </p:cNvPr>
          <p:cNvSpPr>
            <a:spLocks noGrp="1"/>
          </p:cNvSpPr>
          <p:nvPr/>
        </p:nvSpPr>
        <p:spPr>
          <a:xfrm>
            <a:off x="8553450" y="5019675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4.63 × 10⁻¹¹</a:t>
            </a:r>
          </a:p>
        </p:txBody>
      </p:sp>
      <p:sp>
        <p:nvSpPr>
          <p:cNvPr id="9" name="text">
            <a:extLst>
              <a:ext uri="{FF2B5EF4-FFF2-40B4-BE49-F238E27FC236}">
                <ns2:creationId id="{770D6ADC-F95B-468B-802E-333CC53E6F31}"/>
              </a:ext>
            </a:extLst>
          </p:cNvPr>
          <p:cNvSpPr>
            <a:spLocks noGrp="1"/>
          </p:cNvSpPr>
          <p:nvPr/>
        </p:nvSpPr>
        <p:spPr>
          <a:xfrm>
            <a:off x="8553450" y="5581650"/>
            <a:ext cx="2971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200 样本二分 / LP 绝对差</a:t>
            </a:r>
          </a:p>
        </p:txBody>
      </p:sp>
      <p:sp>
        <p:nvSpPr>
          <p:cNvPr id="10" name="text">
            <a:extLst>
              <a:ext uri="{FF2B5EF4-FFF2-40B4-BE49-F238E27FC236}">
                <ns2:creationId id="{12F58D4D-D79E-4929-A4E3-8E1E55CE904E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7715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a = 1 − β；最坏缺货比例随 z 单调不增</a:t>
            </a:r>
          </a:p>
        </p:txBody>
      </p:sp>
    </p:spTree>
    <p:extLst>
      <p:ext uri="{BB962C8B-B14F-4D97-AF65-F5344CB8AC3E}">
        <ns3:creationId val="430275426"/>
      </p:ext>
    </p:extLst>
  </p:cSld>
  <p:transition spd="fast" advClick="1">
    <p:fade/>
  </p:transition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slide-title">
            <a:extLst>
              <a:ext uri="{FF2B5EF4-FFF2-40B4-BE49-F238E27FC236}">
                <ns2:creationId id="{7EE84D8F-183E-456D-A732-A23256194C1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Demo：逐期回放真实补货决策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7987991B-82F4-4F36-981A-88E0B7154949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" name="source-footnote">
            <a:extLst>
              <a:ext uri="{FF2B5EF4-FFF2-40B4-BE49-F238E27FC236}">
                <ns2:creationId id="{C79981B3-8D84-4AB8-BBDF-10397F14B62E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28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离线真实记录回放；切换商品与策略，播放到货、销售和下单过程</a:t>
            </a:r>
          </a:p>
        </p:txBody>
      </p:sp>
      <p:pic>
        <p:nvPicPr>
          <p:cNvPr id="4" name="">
            <a:extLst>
              <a:ext uri="{FF2B5EF4-FFF2-40B4-BE49-F238E27FC236}">
                <ns2:creationId id="{AFDC9EE3-ADA8-4828-9E55-C1D9FB48BE39}"/>
              </a:ext>
            </a:extLst>
          </p:cNvPr>
          <p:cNvPicPr>
            <a:picLocks noChangeAspect="1"/>
          </p:cNvPicPr>
          <p:nvPr/>
        </p:nvPicPr>
        <p:blipFill>
          <a:blip r:embed="R4b2c343db8e6457f"/>
          <a:stretch/>
        </p:blipFill>
        <p:spPr>
          <a:xfrm>
            <a:off x="609600" y="1799503"/>
            <a:ext cx="8763000" cy="4049568"/>
          </a:xfrm>
          <a:prstGeom prst="rect">
            <a:avLst/>
          </a:prstGeom>
        </p:spPr>
      </p:pic>
      <p:sp>
        <p:nvSpPr>
          <p:cNvPr id="5" name="text">
            <a:extLst>
              <a:ext uri="{FF2B5EF4-FFF2-40B4-BE49-F238E27FC236}">
                <ns2:creationId id="{5F519956-CCBE-4F74-820A-0ECC529CB9E1}"/>
              </a:ext>
            </a:extLst>
          </p:cNvPr>
          <p:cNvSpPr>
            <a:spLocks noGrp="1"/>
          </p:cNvSpPr>
          <p:nvPr/>
        </p:nvSpPr>
        <p:spPr>
          <a:xfrm>
            <a:off x="9620250" y="1895475"/>
            <a:ext cx="2095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约 2 分钟</a:t>
            </a:r>
          </a:p>
        </p:txBody>
      </p:sp>
      <p:sp>
        <p:nvSpPr>
          <p:cNvPr id="6" name="text">
            <a:extLst>
              <a:ext uri="{FF2B5EF4-FFF2-40B4-BE49-F238E27FC236}">
                <ns2:creationId id="{B30814C2-EC09-498D-A522-43DE72156603}"/>
              </a:ext>
            </a:extLst>
          </p:cNvPr>
          <p:cNvSpPr>
            <a:spLocks noGrp="1"/>
          </p:cNvSpPr>
          <p:nvPr/>
        </p:nvSpPr>
        <p:spPr>
          <a:xfrm>
            <a:off x="9620250" y="2619375"/>
            <a:ext cx="2047875" cy="224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首期缺货</a:t>
            </a:r>
          </a:p>
          <a:p>
            <a:r>
              <a:t/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只执行第一笔</a:t>
            </a:r>
          </a:p>
          <a:p>
            <a:r>
              <a:t/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切换策略与商品</a:t>
            </a:r>
          </a:p>
        </p:txBody>
      </p:sp>
      <p:sp>
        <p:nvSpPr>
          <p:cNvPr id="7" name="demo-link">
            <a:extLst>
              <a:ext uri="{FF2B5EF4-FFF2-40B4-BE49-F238E27FC236}">
                <ns2:creationId id="{D9E14E8B-ED1F-4852-B11E-29E0390D9771}"/>
              </a:ext>
            </a:extLst>
          </p:cNvPr>
          <p:cNvSpPr>
            <a:spLocks noGrp="1"/>
          </p:cNvSpPr>
          <p:nvPr/>
        </p:nvSpPr>
        <p:spPr>
          <a:xfrm>
            <a:off x="9601200" y="5210175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167D8D"/>
                </a:solidFill>
                <a:hlinkClick r:id="Raffcde5c2bd94242"/>
              </a:rPr>
              <a:t>打开动画 Demo</a:t>
            </a:r>
          </a:p>
        </p:txBody>
      </p:sp>
    </p:spTree>
    <p:extLst>
      <p:ext uri="{BB962C8B-B14F-4D97-AF65-F5344CB8AC3E}">
        <ns4:creationId val="1879717335"/>
      </p:ext>
    </p:extLst>
  </p:cSld>
  <p:transition spd="fast" advClick="1">
    <p:fade/>
  </p:transition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slide-title">
            <a:extLst>
              <a:ext uri="{FF2B5EF4-FFF2-40B4-BE49-F238E27FC236}">
                <ns2:creationId id="{D88A6735-5EA5-455F-811F-34C6F429A0B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证据支持当前结果，泛化仍需新时窗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06D4CD2B-6386-458E-B6BA-9BCEBC251A58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3" name="text">
            <a:extLst>
              <a:ext uri="{FF2B5EF4-FFF2-40B4-BE49-F238E27FC236}">
                <ns2:creationId id="{D89B2A27-E310-41F4-97EE-7AAB53BF32A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训练选参与测试冻结</a:t>
            </a:r>
          </a:p>
        </p:txBody>
      </p:sp>
      <p:sp>
        <p:nvSpPr>
          <p:cNvPr id="4" name="text">
            <a:extLst>
              <a:ext uri="{FF2B5EF4-FFF2-40B4-BE49-F238E27FC236}">
                <ns2:creationId id="{8849DAA7-6668-4F75-9167-E8B83E166DCE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滚动线在前向折和重启折选参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此前版本看过测试，当前属于重复测试</a:t>
            </a:r>
          </a:p>
        </p:txBody>
      </p:sp>
      <p:sp>
        <p:nvSpPr>
          <p:cNvPr id="5" name="text">
            <a:extLst>
              <a:ext uri="{FF2B5EF4-FFF2-40B4-BE49-F238E27FC236}">
                <ns2:creationId id="{1CB61465-662B-4BD2-98A8-59FABFF2953F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物理可行性与业务达标</a:t>
            </a:r>
          </a:p>
        </p:txBody>
      </p:sp>
      <p:sp>
        <p:nvSpPr>
          <p:cNvPr id="6" name="text">
            <a:extLst>
              <a:ext uri="{FF2B5EF4-FFF2-40B4-BE49-F238E27FC236}">
                <ns2:creationId id="{BE819AE2-B35B-4E07-946E-B027E74CCE82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库存守恒、容量和信息时序必须成立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软服务罚项不能替代逐 SKU 硬验收</a:t>
            </a:r>
          </a:p>
        </p:txBody>
      </p:sp>
      <p:sp>
        <p:nvSpPr>
          <p:cNvPr id="7" name="text">
            <a:extLst>
              <a:ext uri="{FF2B5EF4-FFF2-40B4-BE49-F238E27FC236}">
                <ns2:creationId id="{7AE388A6-F1A4-4154-A613-FE0661A9F8CE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66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四期规划与因果归因</a:t>
            </a:r>
          </a:p>
        </p:txBody>
      </p:sp>
      <p:sp>
        <p:nvSpPr>
          <p:cNvPr id="8" name="text">
            <a:extLst>
              <a:ext uri="{FF2B5EF4-FFF2-40B4-BE49-F238E27FC236}">
                <ns2:creationId id="{35843747-2A95-4800-91FF-7712D8E78123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66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无跨期耦合约束时，滚动线可分解</a:t>
            </a:r>
          </a:p>
          <a:p>
            <a:pPr>
              <a:def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独立时窗与固定预测消融仍需补充</a:t>
            </a:r>
          </a:p>
        </p:txBody>
      </p:sp>
    </p:spTree>
    <p:extLst>
      <p:ext uri="{BB962C8B-B14F-4D97-AF65-F5344CB8AC3E}">
        <ns3:creationId val="731212164"/>
      </p:ext>
    </p:extLst>
  </p:cSld>
  <p:transition spd="fast" advClick="1">
    <p:fade/>
  </p:transition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42C3C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slide-title">
            <a:extLst>
              <a:ext uri="{FF2B5EF4-FFF2-40B4-BE49-F238E27FC236}">
                <ns2:creationId id="{C86C1971-2D01-4628-BB5A-0142291C5E9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服务定义、风险校准和验证共同决定方案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A0B81817-F5DE-4227-B2AC-9D71EF738318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3" name="text">
            <a:extLst>
              <a:ext uri="{FF2B5EF4-FFF2-40B4-BE49-F238E27FC236}">
                <ns2:creationId id="{7AD6C07F-1C0F-447A-9706-EF204A7E477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53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68C7C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68C7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8C7C0"/>
                </a:solidFill>
                <a:latin typeface="Microsoft YaHei"/>
                <a:ea typeface="Microsoft YaHei"/>
                <a:cs typeface="Microsoft YaHei"/>
              </a:rPr>
              <a:t>总体服务：两组 DRO 降低库存需求比 2.18%</a:t>
            </a:r>
          </a:p>
        </p:txBody>
      </p:sp>
      <p:sp>
        <p:nvSpPr>
          <p:cNvPr id="4" name="text">
            <a:extLst>
              <a:ext uri="{FF2B5EF4-FFF2-40B4-BE49-F238E27FC236}">
                <ns2:creationId id="{ABC0C6D3-EFEF-4A2F-B4ED-1CC001664E7F}"/>
              </a:ext>
            </a:extLst>
          </p:cNvPr>
          <p:cNvSpPr>
            <a:spLocks noGrp="1"/>
          </p:cNvSpPr>
          <p:nvPr/>
        </p:nvSpPr>
        <p:spPr>
          <a:xfrm>
            <a:off x="609600" y="3267075"/>
            <a:ext cx="10953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 SKU 服务：MPC 达标，库存缓冲代价明确</a:t>
            </a:r>
          </a:p>
        </p:txBody>
      </p:sp>
      <p:sp>
        <p:nvSpPr>
          <p:cNvPr id="5" name="text">
            <a:extLst>
              <a:ext uri="{FF2B5EF4-FFF2-40B4-BE49-F238E27FC236}">
                <ns2:creationId id="{292886C4-5F96-499C-920B-FFDED140EE06}"/>
              </a:ext>
            </a:extLst>
          </p:cNvPr>
          <p:cNvSpPr>
            <a:spLocks noGrp="1"/>
          </p:cNvSpPr>
          <p:nvPr/>
        </p:nvSpPr>
        <p:spPr>
          <a:xfrm>
            <a:off x="609600" y="4533900"/>
            <a:ext cx="10953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训练机制：本轮 DFL 没有胜过 NLL 对照</a:t>
            </a:r>
          </a:p>
        </p:txBody>
      </p:sp>
      <p:sp>
        <p:nvSpPr>
          <p:cNvPr id="6" name="text">
            <a:extLst>
              <a:ext uri="{FF2B5EF4-FFF2-40B4-BE49-F238E27FC236}">
                <ns2:creationId id="{0853F855-4F0D-4778-BF94-524FD88823C5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9525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8BCC5"/>
                </a:solidFill>
                <a:latin typeface="Microsoft YaHei"/>
                <a:ea typeface="Microsoft YaHei"/>
                <a:cs typeface="Microsoft YaHei"/>
              </a:rPr>
              <a:t>答辩讨论</a:t>
            </a:r>
          </a:p>
        </p:txBody>
      </p:sp>
    </p:spTree>
    <p:extLst>
      <p:ext uri="{BB962C8B-B14F-4D97-AF65-F5344CB8AC3E}">
        <ns3:creationId val="576644595"/>
      </p:ext>
    </p:extLst>
  </p:cSld>
  <p:transition spd="fast" advClick="1">
    <p:fade/>
  </p:transition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slide-title">
            <a:extLst>
              <a:ext uri="{FF2B5EF4-FFF2-40B4-BE49-F238E27FC236}">
                <ns2:creationId id="{E3A1640E-32CC-4090-97C6-771360407A7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A1：库存与周转指标的对应关系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4C73E117-361A-4DF1-8D75-C9998D377E8B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text">
            <a:extLst>
              <a:ext uri="{FF2B5EF4-FFF2-40B4-BE49-F238E27FC236}">
                <ns2:creationId id="{B0ED6B47-B0E0-4F3A-A1A5-DFD37B49CF99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J = ΣB / ΣD；Fill = ΣY / ΣD</a:t>
            </a:r>
          </a:p>
        </p:txBody>
      </p:sp>
      <p:sp>
        <p:nvSpPr>
          <p:cNvPr id="4" name="text">
            <a:extLst>
              <a:ext uri="{FF2B5EF4-FFF2-40B4-BE49-F238E27FC236}">
                <ns2:creationId id="{5007BA8C-87A6-48E4-ABBF-89BAF03042CB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Turnover = ΣY / [(1/T)ΣB] = T × Fill / J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02FD4B63-BD7F-4541-8085-3B6ABB2301E8}"/>
              </a:ext>
            </a:extLst>
          </p:cNvPr>
          <p:cNvGraphicFramePr/>
          <p:nvPr/>
        </p:nvGraphicFramePr>
        <p:xfrm>
          <a:off x="609600" y="3676650"/>
          <a:ext cx="10972800" cy="2286000"/>
        </p:xfrm>
        <a:graphic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滚动爆品 / 长尾 DRO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累计期末库存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15,228,944 件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总需求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90,465,437 件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平均期末库存 / SKU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90.6485 件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报告描述的期初期末平均 / SKU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350.6328 件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177427"/>
      </p:ext>
    </p:extLst>
  </p:cSld>
  <p:transition spd="fast" advClick="1">
    <p:fade/>
  </p:transition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slide-title">
            <a:extLst>
              <a:ext uri="{FF2B5EF4-FFF2-40B4-BE49-F238E27FC236}">
                <ns2:creationId id="{6A52F974-833F-48A4-9474-6B23AAF1EC4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A2：端点等价式与最小水位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3FB44211-27F5-41E3-8DE2-C97D84B7E1DA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3" name="text">
            <a:extLst>
              <a:ext uri="{FF2B5EF4-FFF2-40B4-BE49-F238E27FC236}">
                <ns2:creationId id="{B367D0DF-358A-443D-A3D1-F6C8402E4F19}"/>
              </a:ext>
            </a:extLst>
          </p:cNvPr>
          <p:cNvSpPr>
            <a:spLocks noGrp="1"/>
          </p:cNvSpPr>
          <p:nvPr/>
        </p:nvSpPr>
        <p:spPr>
          <a:xfrm>
            <a:off x="609600" y="1876425"/>
            <a:ext cx="10858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min z ≥ 0，满足 (1/N) Σvⱼ ≤ 0</a:t>
            </a:r>
          </a:p>
        </p:txBody>
      </p:sp>
      <p:sp>
        <p:nvSpPr>
          <p:cNvPr id="4" name="text">
            <a:extLst>
              <a:ext uri="{FF2B5EF4-FFF2-40B4-BE49-F238E27FC236}">
                <ns2:creationId id="{3EAB25D8-B640-40A0-927A-93D5AF2AD99F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0763250" cy="1152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vⱼ ≥ βℓⱼ − z，vⱼ ≥ −(1−β)ℓⱼ</a:t>
            </a:r>
          </a:p>
          <a:p>
            <a:pPr>
              <a:def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vⱼ ≥ βuⱼ − z，vⱼ ≥ −(1−β)uⱼ</a:t>
            </a:r>
          </a:p>
        </p:txBody>
      </p:sp>
      <p:sp>
        <p:nvSpPr>
          <p:cNvPr id="5" name="text">
            <a:extLst>
              <a:ext uri="{FF2B5EF4-FFF2-40B4-BE49-F238E27FC236}">
                <ns2:creationId id="{ED055ABD-8580-4AB4-B037-F33F4D12667A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108585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端点上图 LP 与二分搜索得到相同最小水位</a:t>
            </a:r>
          </a:p>
        </p:txBody>
      </p:sp>
      <p:sp>
        <p:nvSpPr>
          <p:cNvPr id="6" name="text">
            <a:extLst>
              <a:ext uri="{FF2B5EF4-FFF2-40B4-BE49-F238E27FC236}">
                <ns2:creationId id="{E6A8A721-A8CA-44B4-A275-27E1BC12A620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球的阶数为 W∞；残差 R 和 ε 均为无量纲</a:t>
            </a:r>
          </a:p>
        </p:txBody>
      </p:sp>
    </p:spTree>
    <p:extLst>
      <p:ext uri="{BB962C8B-B14F-4D97-AF65-F5344CB8AC3E}">
        <ns3:creationId val="598936835"/>
      </p:ext>
    </p:extLst>
  </p:cSld>
  <p:transition spd="fast" advClick="1">
    <p:fade/>
  </p:transition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3C46AF0E-0A1F-4EF0-8DFD-816E5E98A01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A3：特征聚类如何构造风险样本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72D21D9E-2C1C-44D6-AA4B-1AD2204F2E51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ACDE6399-BDD4-4039-8DBA-61BF6A4A6D6E}"/>
              </a:ext>
            </a:extLst>
          </p:cNvPr>
          <p:cNvGraphicFramePr/>
          <p:nvPr/>
        </p:nvGraphicFramePr>
        <p:xfrm>
          <a:off x="609600" y="1828800"/>
          <a:ext cx="10972800" cy="3105150"/>
        </p:xfrm>
        <a:graphic>
          <a:graphicData uri="http://schemas.openxmlformats.org/drawingml/2006/table">
            <a:tbl>
              <a:tblPr/>
              <a:tblGrid>
                <a:gridCol w="2952750"/>
                <a:gridCol w="4667250"/>
                <a:gridCol w="3352800"/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信息块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变量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需求历史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均值、CV、零需求、上尾、趋势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刻画 SKU 需求形态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个 x 的训练均值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标准化后 PCA 取 3 维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补充外部特征画像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K-means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类，8 次初始化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分组相对需求样本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样本外一步残差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实际需求 / 一步预测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估计每组鲁棒水位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>
              <a:ext uri="{FF2B5EF4-FFF2-40B4-BE49-F238E27FC236}">
                <ns2:creationId id="{7722FEFE-75E1-4782-BDA5-BC6DF6CE66FA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最终预测 blend=1.0：使用 SKU 趋势，x 主要服务于风险聚类</a:t>
            </a:r>
          </a:p>
        </p:txBody>
      </p:sp>
    </p:spTree>
    <p:extLst>
      <p:ext uri="{BB962C8B-B14F-4D97-AF65-F5344CB8AC3E}">
        <ns3:creationId val="1061325113"/>
      </p:ext>
    </p:extLst>
  </p:cSld>
  <p:transition spd="fast" advClick="1">
    <p:fade/>
  </p:transition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28470337-11BB-4AC9-93D0-E97465919C0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A4：训练选参和冻结配置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379A062B-43EB-4B0C-96C1-DAFCBF8279C0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3" name="text">
            <a:extLst>
              <a:ext uri="{FF2B5EF4-FFF2-40B4-BE49-F238E27FC236}">
                <ns2:creationId id="{C0CCFE14-6250-498D-A579-21D9FD55A6C0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8585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前向折：拟合 1–36，验证 37–60</a:t>
            </a:r>
          </a:p>
          <a:p>
            <a:pPr>
              <a:def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重启折：拟合 29–60，验证 1–28（离线分块）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9419BEB7-F39D-436A-84F1-7F4BE5DABFBA}"/>
              </a:ext>
            </a:extLst>
          </p:cNvPr>
          <p:cNvGraphicFramePr/>
          <p:nvPr/>
        </p:nvGraphicFramePr>
        <p:xfrm>
          <a:off x="609600" y="3228975"/>
          <a:ext cx="10972800" cy="2724150"/>
        </p:xfrm>
        <a:graphic>
          <a:graphicData uri="http://schemas.openxmlformats.org/drawingml/2006/table">
            <a:tbl>
              <a:tblPr/>
              <a:tblGrid>
                <a:gridCol w="2381250"/>
                <a:gridCol w="4095750"/>
                <a:gridCol w="1238250"/>
                <a:gridCol w="3257550"/>
              </a:tblGrid>
              <a:tr h="4540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 / 分位数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ε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重启验证 J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两组 DRO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0.136532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六簇 DRO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0.9581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0.136263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单组 DRO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0.9681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0.133645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 SAA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0.9881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0.144421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 (s,S)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p_s=0.75；p_S=0.85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0.135558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376194069"/>
      </p:ext>
    </p:extLst>
  </p:cSld>
  <p:transition spd="fast" advClick="1">
    <p:fade/>
  </p:transition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slide-title">
            <a:extLst>
              <a:ext uri="{FF2B5EF4-FFF2-40B4-BE49-F238E27FC236}">
                <ns2:creationId id="{CBF279E2-C476-497F-8B97-1DF113CF86F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A5：首期缺货与末期在途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16C6C15B-8EBC-4A90-A1BC-BAAC2344AA58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CFFC0D5C-71D9-4EFC-9FB6-363FE7F5092C}"/>
              </a:ext>
            </a:extLst>
          </p:cNvPr>
          <p:cNvGraphicFramePr/>
          <p:nvPr/>
        </p:nvGraphicFramePr>
        <p:xfrm>
          <a:off x="609600" y="1914525"/>
          <a:ext cx="10972800" cy="2543175"/>
        </p:xfrm>
        <a:graphic>
          <a:graphicData uri="http://schemas.openxmlformats.org/drawingml/2006/table">
            <a:tbl>
              <a:tblPr/>
              <a:tblGrid>
                <a:gridCol w="4191000"/>
                <a:gridCol w="3390900"/>
                <a:gridCol w="3390900"/>
              </a:tblGrid>
              <a:tr h="63579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爆品 / 长尾 DRO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1–28 期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可控制 2–28 期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 Fill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96.56%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97.38%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库存需求比 J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0.168340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0.165158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期共同丢失需求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763,368 件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不计入该窗口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>
              <a:ext uri="{FF2B5EF4-FFF2-40B4-BE49-F238E27FC236}">
                <ns2:creationId id="{40B628A5-657E-4239-9DBF-1C3EC188BAD9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10858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最后一次订单 5,426,813 件在第 29 期到货</a:t>
            </a:r>
          </a:p>
        </p:txBody>
      </p:sp>
      <p:sp>
        <p:nvSpPr>
          <p:cNvPr id="5" name="text">
            <a:extLst>
              <a:ext uri="{FF2B5EF4-FFF2-40B4-BE49-F238E27FC236}">
                <ns2:creationId id="{F863C5AB-E816-45FB-B527-ED572EB2564B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末期在途单列，未计入测试期销量与期末在手库存</a:t>
            </a:r>
          </a:p>
        </p:txBody>
      </p:sp>
    </p:spTree>
    <p:extLst>
      <p:ext uri="{BB962C8B-B14F-4D97-AF65-F5344CB8AC3E}">
        <ns3:creationId val="585642007"/>
      </p:ext>
    </p:extLst>
  </p:cSld>
  <p:transition spd="fast" advClick="1">
    <p:fade/>
  </p:transition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slide-title">
            <a:extLst>
              <a:ext uri="{FF2B5EF4-FFF2-40B4-BE49-F238E27FC236}">
                <ns2:creationId id="{C6537AA7-6039-4507-8CB1-9CCC70DAB77D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A6：容量与逐 SKU 服务的可行性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3D054E0F-9492-44C1-89A7-654519B184C4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3" name="text">
            <a:extLst>
              <a:ext uri="{FF2B5EF4-FFF2-40B4-BE49-F238E27FC236}">
                <ns2:creationId id="{0AF1E515-6B21-4E94-8EA4-1F54B2994F4C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858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9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Σᵢ qᵢₜ ≤ C = 6,084,614.41 件 / 期</a:t>
            </a:r>
          </a:p>
        </p:txBody>
      </p:sp>
      <p:sp>
        <p:nvSpPr>
          <p:cNvPr id="4" name="text">
            <a:extLst>
              <a:ext uri="{FF2B5EF4-FFF2-40B4-BE49-F238E27FC236}">
                <ns2:creationId id="{BBB6FD75-73A0-4BEE-8CE1-3895908462D1}"/>
              </a:ext>
            </a:extLst>
          </p:cNvPr>
          <p:cNvSpPr>
            <a:spLocks noGrp="1"/>
          </p:cNvSpPr>
          <p:nvPr/>
        </p:nvSpPr>
        <p:spPr>
          <a:xfrm>
            <a:off x="609600" y="3076575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初始库存：每 SKU 训练平均需求的 1.25 倍</a:t>
            </a:r>
          </a:p>
        </p:txBody>
      </p:sp>
      <p:sp>
        <p:nvSpPr>
          <p:cNvPr id="5" name="text">
            <a:extLst>
              <a:ext uri="{FF2B5EF4-FFF2-40B4-BE49-F238E27FC236}">
                <ns2:creationId id="{F17F8C90-F731-4EA0-A805-E02E90DF2379}"/>
              </a:ext>
            </a:extLst>
          </p:cNvPr>
          <p:cNvSpPr>
            <a:spLocks noGrp="1"/>
          </p:cNvSpPr>
          <p:nvPr/>
        </p:nvSpPr>
        <p:spPr>
          <a:xfrm>
            <a:off x="609600" y="4200525"/>
            <a:ext cx="10858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必要供给界：累计销量 ≤ 初始库存 + 已到货容量</a:t>
            </a:r>
          </a:p>
        </p:txBody>
      </p:sp>
      <p:sp>
        <p:nvSpPr>
          <p:cNvPr id="6" name="text">
            <a:extLst>
              <a:ext uri="{FF2B5EF4-FFF2-40B4-BE49-F238E27FC236}">
                <ns2:creationId id="{14BF7E1A-8FCA-403D-9B91-AC96C874B021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8585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必要界可排除不可行窗口，满足它仍不保证逐 SKU Ready 达标</a:t>
            </a:r>
          </a:p>
        </p:txBody>
      </p:sp>
    </p:spTree>
    <p:extLst>
      <p:ext uri="{BB962C8B-B14F-4D97-AF65-F5344CB8AC3E}">
        <ns3:creationId val="1851096500"/>
      </p:ext>
    </p:extLst>
  </p:cSld>
  <p:transition spd="fast" advClick="1">
    <p:fade/>
  </p:transition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4869434B-208B-4DC6-A094-E07B35133F6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A7：DFL 的梯度、服务与消融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2E3F39C8-CA25-4F3F-9EF3-5638126DFCE3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" name="text">
            <a:extLst>
              <a:ext uri="{FF2B5EF4-FFF2-40B4-BE49-F238E27FC236}">
                <ns2:creationId id="{00B1796D-A3C1-4F32-BD5E-DA6E785D6063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8585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L = log(ΣI) − log(Σ销量)</a:t>
            </a:r>
          </a:p>
          <a:p>
            <a:pPr>
              <a:defRPr sz="27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      + λ · mean[(0.95 − R̃ᵢ)₊²] + 0.2 NLL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BEB69ECB-9621-4577-BCAD-53E6008A6186}"/>
              </a:ext>
            </a:extLst>
          </p:cNvPr>
          <p:cNvGraphicFramePr/>
          <p:nvPr/>
        </p:nvGraphicFramePr>
        <p:xfrm>
          <a:off x="609600" y="3524250"/>
          <a:ext cx="10972800" cy="2514600"/>
        </p:xfrm>
        <a:graphic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5029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实现要点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期真实库存滚动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内层只见预测场景，外层见训练真实需求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首阶近似展开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保留状态路径，未求精确隐式梯度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平滑 Ready 代理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训练有梯度，评价用严格正库存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 NLL 消融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控制更多训练步数带来的作用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ns3:creationId val="798271429"/>
      </p:ext>
    </p:extLst>
  </p:cSld>
  <p:transition spd="fast" advClick="1">
    <p:fade/>
  </p:transition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="0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slide-title">
            <a:extLst>
              <a:ext uri="{FF2B5EF4-FFF2-40B4-BE49-F238E27FC236}">
                <ns2:creationId id="{6F0354F6-C387-4C79-8D5C-F390FBDB689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2C3C"/>
                </a:solidFill>
                <a:latin typeface="Microsoft YaHei"/>
                <a:ea typeface="Microsoft YaHei"/>
                <a:cs typeface="Microsoft YaHei"/>
              </a:rPr>
              <a:t>备用 A8：代码、结果与作品入口</a:t>
            </a:r>
          </a:p>
        </p:txBody>
      </p:sp>
      <p:sp>
        <p:nvSpPr>
          <p:cNvPr id="2" name="slide-number">
            <a:extLst>
              <a:ext uri="{FF2B5EF4-FFF2-40B4-BE49-F238E27FC236}">
                <ns2:creationId id="{6527F192-90E2-44FB-8A96-CA8479EC2FB7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D6F78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8A6E2389-6C54-4F87-A24A-A19700930E91}"/>
              </a:ext>
            </a:extLst>
          </p:cNvPr>
          <p:cNvGraphicFramePr/>
          <p:nvPr/>
        </p:nvGraphicFramePr>
        <p:xfrm>
          <a:off x="609600" y="1819275"/>
          <a:ext cx="10972800" cy="3067050"/>
        </p:xfrm>
        <a:graphic>
          <a:graphicData uri="http://schemas.openxmlformats.org/drawingml/2006/table">
            <a:tbl>
              <a:tblPr/>
              <a:tblGrid>
                <a:gridCol w="6286500"/>
                <a:gridCol w="4686300"/>
              </a:tblGrid>
              <a:tr h="5111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33350" marR="133350" marT="95250" marB="95250" anchor="ctr">
                    <a:solidFill>
                      <a:srgbClr val="142C3C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experiments/rolling_dro_v3/model_v2.py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预测、DRO、库存模拟核心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outputs_v4/summary.csv 与 detail_*.csv.gz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聚合结果与逐 SKU 轨迹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yuan/models 与 yuan/docs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个模型实现和对应说明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yuan/results/variants.json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 项历史参数与来源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本地补货动画 Demo / 完整结果看板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2C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离线现场展示</a:t>
                      </a:r>
                    </a:p>
                  </a:txBody>
                  <a:tcPr marL="133350" marR="133350" marT="95250" marB="95250" anchor="ctr">
                    <a:solidFill>
                      <a:srgbClr val="F6F5F0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>
              <a:ext uri="{FF2B5EF4-FFF2-40B4-BE49-F238E27FC236}">
                <ns2:creationId id="{8745B1F7-6610-4CBB-ADBE-E85344D545DC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1076325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python experiments/rolling_dro_v3/run_v3.py</a:t>
            </a:r>
          </a:p>
          <a:p>
            <a:pPr>
              <a:defRPr sz="1800" b="0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cd yuan；python -m models.lightgbm（默认读取历史结果）</a:t>
            </a:r>
          </a:p>
        </p:txBody>
      </p:sp>
    </p:spTree>
    <p:extLst>
      <p:ext uri="{BB962C8B-B14F-4D97-AF65-F5344CB8AC3E}">
        <ns3:creationId val="42579846"/>
      </p:ext>
    </p:extLst>
  </p:cSld>
  <p:transition spd="fast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2026-10-12T13:04:03.1390000Z</dcterms:created>
  <dcterms:modified xsi:type="dcterms:W3CDTF">2026-10-12T13:04:03.1390000Z</dcterms:modified>
</coreProperties>
</file>